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78166"/>
          </a:solidFill>
          <a:ln w="12700">
            <a:solidFill>
              <a:srgbClr val="F78166"/>
            </a:solidFill>
            <a:prstDash val="solid"/>
          </a:ln>
        </p:spPr>
      </p:sp>
      <p:sp>
        <p:nvSpPr>
          <p:cNvPr id="3" name="Text 1"/>
          <p:cNvSpPr/>
          <p:nvPr/>
        </p:nvSpPr>
        <p:spPr>
          <a:xfrm>
            <a:off x="548640" y="457200"/>
            <a:ext cx="8046720" cy="822960"/>
          </a:xfrm>
          <a:prstGeom prst="rect">
            <a:avLst/>
          </a:prstGeom>
          <a:noFill/>
          <a:ln/>
        </p:spPr>
        <p:txBody>
          <a:bodyPr wrap="square" lIns="0" tIns="0" rIns="0" bIns="0" rtlCol="0" anchor="ctr"/>
          <a:lstStyle/>
          <a:p>
            <a:pPr indent="0" marL="0">
              <a:buNone/>
            </a:pPr>
            <a:r>
              <a:rPr lang="en-US" sz="5200" b="1" dirty="0">
                <a:solidFill>
                  <a:srgbClr val="F78166"/>
                </a:solidFill>
                <a:latin typeface="Calibri" pitchFamily="34" charset="0"/>
                <a:ea typeface="Calibri" pitchFamily="34" charset="-122"/>
                <a:cs typeface="Calibri" pitchFamily="34" charset="-120"/>
              </a:rPr>
              <a:t>ICS-344</a:t>
            </a:r>
            <a:endParaRPr lang="en-US" sz="5200" dirty="0"/>
          </a:p>
        </p:txBody>
      </p:sp>
      <p:sp>
        <p:nvSpPr>
          <p:cNvPr id="4" name="Text 2"/>
          <p:cNvSpPr/>
          <p:nvPr/>
        </p:nvSpPr>
        <p:spPr>
          <a:xfrm>
            <a:off x="548640" y="1234440"/>
            <a:ext cx="8046720" cy="594360"/>
          </a:xfrm>
          <a:prstGeom prst="rect">
            <a:avLst/>
          </a:prstGeom>
          <a:noFill/>
          <a:ln/>
        </p:spPr>
        <p:txBody>
          <a:bodyPr wrap="square" lIns="0" tIns="0" rIns="0" bIns="0" rtlCol="0" anchor="ctr"/>
          <a:lstStyle/>
          <a:p>
            <a:pPr indent="0" marL="0">
              <a:buNone/>
            </a:pPr>
            <a:r>
              <a:rPr lang="en-US" sz="2200" dirty="0">
                <a:solidFill>
                  <a:srgbClr val="E6EDF3"/>
                </a:solidFill>
                <a:latin typeface="Calibri" pitchFamily="34" charset="0"/>
                <a:ea typeface="Calibri" pitchFamily="34" charset="-122"/>
                <a:cs typeface="Calibri" pitchFamily="34" charset="-120"/>
              </a:rPr>
              <a:t>DVSA Vulnerability Discovery &amp; Remediation</a:t>
            </a:r>
            <a:endParaRPr lang="en-US" sz="2200" dirty="0"/>
          </a:p>
        </p:txBody>
      </p:sp>
      <p:sp>
        <p:nvSpPr>
          <p:cNvPr id="5" name="Shape 3"/>
          <p:cNvSpPr/>
          <p:nvPr/>
        </p:nvSpPr>
        <p:spPr>
          <a:xfrm>
            <a:off x="548640" y="1920240"/>
            <a:ext cx="2743200" cy="36576"/>
          </a:xfrm>
          <a:prstGeom prst="rect">
            <a:avLst/>
          </a:prstGeom>
          <a:solidFill>
            <a:srgbClr val="58A6FF"/>
          </a:solidFill>
          <a:ln w="12700">
            <a:solidFill>
              <a:srgbClr val="58A6FF"/>
            </a:solidFill>
            <a:prstDash val="solid"/>
          </a:ln>
        </p:spPr>
      </p:sp>
      <p:sp>
        <p:nvSpPr>
          <p:cNvPr id="6" name="Text 4"/>
          <p:cNvSpPr/>
          <p:nvPr/>
        </p:nvSpPr>
        <p:spPr>
          <a:xfrm>
            <a:off x="548640" y="2103120"/>
            <a:ext cx="8046720" cy="320040"/>
          </a:xfrm>
          <a:prstGeom prst="rect">
            <a:avLst/>
          </a:prstGeom>
          <a:noFill/>
          <a:ln/>
        </p:spPr>
        <p:txBody>
          <a:bodyPr wrap="square" lIns="0" tIns="0" rIns="0" bIns="0" rtlCol="0" anchor="ctr"/>
          <a:lstStyle/>
          <a:p>
            <a:pPr indent="0" marL="0">
              <a:buNone/>
            </a:pPr>
            <a:r>
              <a:rPr lang="en-US" sz="1300" dirty="0">
                <a:solidFill>
                  <a:srgbClr val="8B949E"/>
                </a:solidFill>
                <a:latin typeface="Calibri" pitchFamily="34" charset="0"/>
                <a:ea typeface="Calibri" pitchFamily="34" charset="-122"/>
                <a:cs typeface="Calibri" pitchFamily="34" charset="-120"/>
              </a:rPr>
              <a:t>10 Official Vulnerabilities  ·  AWS Serverless Security  ·  KFUPM — ICS-344 Term 252</a:t>
            </a:r>
            <a:endParaRPr lang="en-US" sz="1300" dirty="0"/>
          </a:p>
        </p:txBody>
      </p:sp>
      <p:sp>
        <p:nvSpPr>
          <p:cNvPr id="7" name="Shape 5"/>
          <p:cNvSpPr/>
          <p:nvPr/>
        </p:nvSpPr>
        <p:spPr>
          <a:xfrm>
            <a:off x="548640" y="2697480"/>
            <a:ext cx="2468880" cy="1188720"/>
          </a:xfrm>
          <a:prstGeom prst="rect">
            <a:avLst/>
          </a:prstGeom>
          <a:solidFill>
            <a:srgbClr val="161B22"/>
          </a:solidFill>
          <a:ln w="12700">
            <a:solidFill>
              <a:srgbClr val="30363D"/>
            </a:solidFill>
            <a:prstDash val="solid"/>
          </a:ln>
        </p:spPr>
      </p:sp>
      <p:sp>
        <p:nvSpPr>
          <p:cNvPr id="8" name="Text 6"/>
          <p:cNvSpPr/>
          <p:nvPr/>
        </p:nvSpPr>
        <p:spPr>
          <a:xfrm>
            <a:off x="548640" y="2743200"/>
            <a:ext cx="2468880" cy="640080"/>
          </a:xfrm>
          <a:prstGeom prst="rect">
            <a:avLst/>
          </a:prstGeom>
          <a:noFill/>
          <a:ln/>
        </p:spPr>
        <p:txBody>
          <a:bodyPr wrap="square" lIns="0" tIns="0" rIns="0" bIns="0" rtlCol="0" anchor="ctr"/>
          <a:lstStyle/>
          <a:p>
            <a:pPr algn="ctr" indent="0" marL="0">
              <a:buNone/>
            </a:pPr>
            <a:r>
              <a:rPr lang="en-US" sz="3600" b="1" dirty="0">
                <a:solidFill>
                  <a:srgbClr val="58A6FF"/>
                </a:solidFill>
                <a:latin typeface="Calibri" pitchFamily="34" charset="0"/>
                <a:ea typeface="Calibri" pitchFamily="34" charset="-122"/>
                <a:cs typeface="Calibri" pitchFamily="34" charset="-120"/>
              </a:rPr>
              <a:t>10</a:t>
            </a:r>
            <a:endParaRPr lang="en-US" sz="3600" dirty="0"/>
          </a:p>
        </p:txBody>
      </p:sp>
      <p:sp>
        <p:nvSpPr>
          <p:cNvPr id="9" name="Text 7"/>
          <p:cNvSpPr/>
          <p:nvPr/>
        </p:nvSpPr>
        <p:spPr>
          <a:xfrm>
            <a:off x="548640" y="3401568"/>
            <a:ext cx="2468880" cy="365760"/>
          </a:xfrm>
          <a:prstGeom prst="rect">
            <a:avLst/>
          </a:prstGeom>
          <a:noFill/>
          <a:ln/>
        </p:spPr>
        <p:txBody>
          <a:bodyPr wrap="square" lIns="0" tIns="0" rIns="0" bIns="0" rtlCol="0" anchor="ctr"/>
          <a:lstStyle/>
          <a:p>
            <a:pPr algn="ctr" indent="0" marL="0">
              <a:buNone/>
            </a:pPr>
            <a:r>
              <a:rPr lang="en-US" sz="1300" dirty="0">
                <a:solidFill>
                  <a:srgbClr val="8B949E"/>
                </a:solidFill>
                <a:latin typeface="Calibri" pitchFamily="34" charset="0"/>
                <a:ea typeface="Calibri" pitchFamily="34" charset="-122"/>
                <a:cs typeface="Calibri" pitchFamily="34" charset="-120"/>
              </a:rPr>
              <a:t>Vulnerabilities</a:t>
            </a:r>
            <a:endParaRPr lang="en-US" sz="1300" dirty="0"/>
          </a:p>
        </p:txBody>
      </p:sp>
      <p:sp>
        <p:nvSpPr>
          <p:cNvPr id="10" name="Shape 8"/>
          <p:cNvSpPr/>
          <p:nvPr/>
        </p:nvSpPr>
        <p:spPr>
          <a:xfrm>
            <a:off x="3383280" y="2697480"/>
            <a:ext cx="2468880" cy="1188720"/>
          </a:xfrm>
          <a:prstGeom prst="rect">
            <a:avLst/>
          </a:prstGeom>
          <a:solidFill>
            <a:srgbClr val="161B22"/>
          </a:solidFill>
          <a:ln w="12700">
            <a:solidFill>
              <a:srgbClr val="30363D"/>
            </a:solidFill>
            <a:prstDash val="solid"/>
          </a:ln>
        </p:spPr>
      </p:sp>
      <p:sp>
        <p:nvSpPr>
          <p:cNvPr id="11" name="Text 9"/>
          <p:cNvSpPr/>
          <p:nvPr/>
        </p:nvSpPr>
        <p:spPr>
          <a:xfrm>
            <a:off x="3383280" y="2743200"/>
            <a:ext cx="2468880" cy="640080"/>
          </a:xfrm>
          <a:prstGeom prst="rect">
            <a:avLst/>
          </a:prstGeom>
          <a:noFill/>
          <a:ln/>
        </p:spPr>
        <p:txBody>
          <a:bodyPr wrap="square" lIns="0" tIns="0" rIns="0" bIns="0" rtlCol="0" anchor="ctr"/>
          <a:lstStyle/>
          <a:p>
            <a:pPr algn="ctr" indent="0" marL="0">
              <a:buNone/>
            </a:pPr>
            <a:r>
              <a:rPr lang="en-US" sz="3600" b="1" dirty="0">
                <a:solidFill>
                  <a:srgbClr val="58A6FF"/>
                </a:solidFill>
                <a:latin typeface="Calibri" pitchFamily="34" charset="0"/>
                <a:ea typeface="Calibri" pitchFamily="34" charset="-122"/>
                <a:cs typeface="Calibri" pitchFamily="34" charset="-120"/>
              </a:rPr>
              <a:t>8</a:t>
            </a:r>
            <a:endParaRPr lang="en-US" sz="3600" dirty="0"/>
          </a:p>
        </p:txBody>
      </p:sp>
      <p:sp>
        <p:nvSpPr>
          <p:cNvPr id="12" name="Text 10"/>
          <p:cNvSpPr/>
          <p:nvPr/>
        </p:nvSpPr>
        <p:spPr>
          <a:xfrm>
            <a:off x="3383280" y="3401568"/>
            <a:ext cx="2468880" cy="365760"/>
          </a:xfrm>
          <a:prstGeom prst="rect">
            <a:avLst/>
          </a:prstGeom>
          <a:noFill/>
          <a:ln/>
        </p:spPr>
        <p:txBody>
          <a:bodyPr wrap="square" lIns="0" tIns="0" rIns="0" bIns="0" rtlCol="0" anchor="ctr"/>
          <a:lstStyle/>
          <a:p>
            <a:pPr algn="ctr" indent="0" marL="0">
              <a:buNone/>
            </a:pPr>
            <a:r>
              <a:rPr lang="en-US" sz="1300" dirty="0">
                <a:solidFill>
                  <a:srgbClr val="8B949E"/>
                </a:solidFill>
                <a:latin typeface="Calibri" pitchFamily="34" charset="0"/>
                <a:ea typeface="Calibri" pitchFamily="34" charset="-122"/>
                <a:cs typeface="Calibri" pitchFamily="34" charset="-120"/>
              </a:rPr>
              <a:t>AWS Services</a:t>
            </a:r>
            <a:endParaRPr lang="en-US" sz="1300" dirty="0"/>
          </a:p>
        </p:txBody>
      </p:sp>
      <p:sp>
        <p:nvSpPr>
          <p:cNvPr id="13" name="Shape 11"/>
          <p:cNvSpPr/>
          <p:nvPr/>
        </p:nvSpPr>
        <p:spPr>
          <a:xfrm>
            <a:off x="6217920" y="2697480"/>
            <a:ext cx="2468880" cy="1188720"/>
          </a:xfrm>
          <a:prstGeom prst="rect">
            <a:avLst/>
          </a:prstGeom>
          <a:solidFill>
            <a:srgbClr val="161B22"/>
          </a:solidFill>
          <a:ln w="12700">
            <a:solidFill>
              <a:srgbClr val="30363D"/>
            </a:solidFill>
            <a:prstDash val="solid"/>
          </a:ln>
        </p:spPr>
      </p:sp>
      <p:sp>
        <p:nvSpPr>
          <p:cNvPr id="14" name="Text 12"/>
          <p:cNvSpPr/>
          <p:nvPr/>
        </p:nvSpPr>
        <p:spPr>
          <a:xfrm>
            <a:off x="6217920" y="2743200"/>
            <a:ext cx="2468880" cy="640080"/>
          </a:xfrm>
          <a:prstGeom prst="rect">
            <a:avLst/>
          </a:prstGeom>
          <a:noFill/>
          <a:ln/>
        </p:spPr>
        <p:txBody>
          <a:bodyPr wrap="square" lIns="0" tIns="0" rIns="0" bIns="0" rtlCol="0" anchor="ctr"/>
          <a:lstStyle/>
          <a:p>
            <a:pPr algn="ctr" indent="0" marL="0">
              <a:buNone/>
            </a:pPr>
            <a:r>
              <a:rPr lang="en-US" sz="3600" b="1" dirty="0">
                <a:solidFill>
                  <a:srgbClr val="58A6FF"/>
                </a:solidFill>
                <a:latin typeface="Calibri" pitchFamily="34" charset="0"/>
                <a:ea typeface="Calibri" pitchFamily="34" charset="-122"/>
                <a:cs typeface="Calibri" pitchFamily="34" charset="-120"/>
              </a:rPr>
              <a:t>100%</a:t>
            </a:r>
            <a:endParaRPr lang="en-US" sz="3600" dirty="0"/>
          </a:p>
        </p:txBody>
      </p:sp>
      <p:sp>
        <p:nvSpPr>
          <p:cNvPr id="15" name="Text 13"/>
          <p:cNvSpPr/>
          <p:nvPr/>
        </p:nvSpPr>
        <p:spPr>
          <a:xfrm>
            <a:off x="6217920" y="3401568"/>
            <a:ext cx="2468880" cy="365760"/>
          </a:xfrm>
          <a:prstGeom prst="rect">
            <a:avLst/>
          </a:prstGeom>
          <a:noFill/>
          <a:ln/>
        </p:spPr>
        <p:txBody>
          <a:bodyPr wrap="square" lIns="0" tIns="0" rIns="0" bIns="0" rtlCol="0" anchor="ctr"/>
          <a:lstStyle/>
          <a:p>
            <a:pPr algn="ctr" indent="0" marL="0">
              <a:buNone/>
            </a:pPr>
            <a:r>
              <a:rPr lang="en-US" sz="1300" dirty="0">
                <a:solidFill>
                  <a:srgbClr val="8B949E"/>
                </a:solidFill>
                <a:latin typeface="Calibri" pitchFamily="34" charset="0"/>
                <a:ea typeface="Calibri" pitchFamily="34" charset="-122"/>
                <a:cs typeface="Calibri" pitchFamily="34" charset="-120"/>
              </a:rPr>
              <a:t>Fixed &amp; Verified</a:t>
            </a:r>
            <a:endParaRPr lang="en-US" sz="1300" dirty="0"/>
          </a:p>
        </p:txBody>
      </p:sp>
      <p:sp>
        <p:nvSpPr>
          <p:cNvPr id="16" name="Text 14"/>
          <p:cNvSpPr/>
          <p:nvPr/>
        </p:nvSpPr>
        <p:spPr>
          <a:xfrm>
            <a:off x="548640" y="4480560"/>
            <a:ext cx="8046720" cy="320040"/>
          </a:xfrm>
          <a:prstGeom prst="rect">
            <a:avLst/>
          </a:prstGeom>
          <a:noFill/>
          <a:ln/>
        </p:spPr>
        <p:txBody>
          <a:bodyPr wrap="square" lIns="0" tIns="0" rIns="0" bIns="0" rtlCol="0" anchor="ctr"/>
          <a:lstStyle/>
          <a:p>
            <a:pPr indent="0" marL="0">
              <a:buNone/>
            </a:pPr>
            <a:r>
              <a:rPr lang="en-US" sz="1100" i="1" dirty="0">
                <a:solidFill>
                  <a:srgbClr val="8B949E"/>
                </a:solidFill>
                <a:latin typeface="Calibri" pitchFamily="34" charset="0"/>
                <a:ea typeface="Calibri" pitchFamily="34" charset="-122"/>
                <a:cs typeface="Calibri" pitchFamily="34" charset="-120"/>
              </a:rPr>
              <a:t>Damn Vulnerable Serverless Application (DVSA) — OWASP</a:t>
            </a:r>
            <a:endParaRPr lang="en-US" sz="1100" dirty="0"/>
          </a:p>
        </p:txBody>
      </p:sp>
      <p:sp>
        <p:nvSpPr>
          <p:cNvPr id="17" name="Shape 15"/>
          <p:cNvSpPr/>
          <p:nvPr/>
        </p:nvSpPr>
        <p:spPr>
          <a:xfrm>
            <a:off x="0" y="5097780"/>
            <a:ext cx="9144000" cy="45720"/>
          </a:xfrm>
          <a:prstGeom prst="rect">
            <a:avLst/>
          </a:prstGeom>
          <a:solidFill>
            <a:srgbClr val="F78166"/>
          </a:solidFill>
          <a:ln w="12700">
            <a:solidFill>
              <a:srgbClr val="F78166"/>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8A6FF"/>
          </a:solidFill>
          <a:ln w="12700">
            <a:solidFill>
              <a:srgbClr val="58A6FF"/>
            </a:solidFill>
            <a:prstDash val="solid"/>
          </a:ln>
        </p:spPr>
      </p:sp>
      <p:sp>
        <p:nvSpPr>
          <p:cNvPr id="3" name="Text 1"/>
          <p:cNvSpPr/>
          <p:nvPr/>
        </p:nvSpPr>
        <p:spPr>
          <a:xfrm>
            <a:off x="457200" y="164592"/>
            <a:ext cx="8229600" cy="502920"/>
          </a:xfrm>
          <a:prstGeom prst="rect">
            <a:avLst/>
          </a:prstGeom>
          <a:noFill/>
          <a:ln/>
        </p:spPr>
        <p:txBody>
          <a:bodyPr wrap="square" lIns="0" tIns="0" rIns="0" bIns="0" rtlCol="0" anchor="ctr"/>
          <a:lstStyle/>
          <a:p>
            <a:pPr indent="0" marL="0">
              <a:buNone/>
            </a:pPr>
            <a:r>
              <a:rPr lang="en-US" sz="2600" b="1" dirty="0">
                <a:solidFill>
                  <a:srgbClr val="E6EDF3"/>
                </a:solidFill>
                <a:latin typeface="Calibri" pitchFamily="34" charset="0"/>
                <a:ea typeface="Calibri" pitchFamily="34" charset="-122"/>
                <a:cs typeface="Calibri" pitchFamily="34" charset="-120"/>
              </a:rPr>
              <a:t>Serverless Architecture Overview</a:t>
            </a:r>
            <a:endParaRPr lang="en-US" sz="2600" dirty="0"/>
          </a:p>
        </p:txBody>
      </p:sp>
      <p:sp>
        <p:nvSpPr>
          <p:cNvPr id="4" name="Shape 2"/>
          <p:cNvSpPr/>
          <p:nvPr/>
        </p:nvSpPr>
        <p:spPr>
          <a:xfrm>
            <a:off x="228600" y="822960"/>
            <a:ext cx="1463040" cy="1005840"/>
          </a:xfrm>
          <a:prstGeom prst="rect">
            <a:avLst/>
          </a:prstGeom>
          <a:solidFill>
            <a:srgbClr val="F78166"/>
          </a:solidFill>
          <a:ln w="12700">
            <a:solidFill>
              <a:srgbClr val="F78166"/>
            </a:solidFill>
            <a:prstDash val="solid"/>
          </a:ln>
        </p:spPr>
      </p:sp>
      <p:sp>
        <p:nvSpPr>
          <p:cNvPr id="5" name="Text 3"/>
          <p:cNvSpPr/>
          <p:nvPr/>
        </p:nvSpPr>
        <p:spPr>
          <a:xfrm>
            <a:off x="228600" y="841248"/>
            <a:ext cx="1463040" cy="96926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Client</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Browser</a:t>
            </a:r>
            <a:endParaRPr lang="en-US" sz="1200" dirty="0"/>
          </a:p>
        </p:txBody>
      </p:sp>
      <p:sp>
        <p:nvSpPr>
          <p:cNvPr id="6" name="Shape 4"/>
          <p:cNvSpPr/>
          <p:nvPr/>
        </p:nvSpPr>
        <p:spPr>
          <a:xfrm>
            <a:off x="1709928" y="1316736"/>
            <a:ext cx="237744" cy="0"/>
          </a:xfrm>
          <a:prstGeom prst="line">
            <a:avLst/>
          </a:prstGeom>
          <a:noFill/>
          <a:ln w="25400">
            <a:solidFill>
              <a:srgbClr val="8B949E"/>
            </a:solidFill>
            <a:prstDash val="solid"/>
          </a:ln>
        </p:spPr>
      </p:sp>
      <p:sp>
        <p:nvSpPr>
          <p:cNvPr id="7" name="Shape 5"/>
          <p:cNvSpPr/>
          <p:nvPr/>
        </p:nvSpPr>
        <p:spPr>
          <a:xfrm>
            <a:off x="1965960" y="822960"/>
            <a:ext cx="1463040" cy="1005840"/>
          </a:xfrm>
          <a:prstGeom prst="rect">
            <a:avLst/>
          </a:prstGeom>
          <a:solidFill>
            <a:srgbClr val="D29922"/>
          </a:solidFill>
          <a:ln w="12700">
            <a:solidFill>
              <a:srgbClr val="D29922"/>
            </a:solidFill>
            <a:prstDash val="solid"/>
          </a:ln>
        </p:spPr>
      </p:sp>
      <p:sp>
        <p:nvSpPr>
          <p:cNvPr id="8" name="Text 6"/>
          <p:cNvSpPr/>
          <p:nvPr/>
        </p:nvSpPr>
        <p:spPr>
          <a:xfrm>
            <a:off x="1965960" y="841248"/>
            <a:ext cx="1463040" cy="96926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Amazon</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Cognito</a:t>
            </a:r>
            <a:endParaRPr lang="en-US" sz="1200" dirty="0"/>
          </a:p>
        </p:txBody>
      </p:sp>
      <p:sp>
        <p:nvSpPr>
          <p:cNvPr id="9" name="Shape 7"/>
          <p:cNvSpPr/>
          <p:nvPr/>
        </p:nvSpPr>
        <p:spPr>
          <a:xfrm>
            <a:off x="3447288" y="1316736"/>
            <a:ext cx="237744" cy="0"/>
          </a:xfrm>
          <a:prstGeom prst="line">
            <a:avLst/>
          </a:prstGeom>
          <a:noFill/>
          <a:ln w="25400">
            <a:solidFill>
              <a:srgbClr val="8B949E"/>
            </a:solidFill>
            <a:prstDash val="solid"/>
          </a:ln>
        </p:spPr>
      </p:sp>
      <p:sp>
        <p:nvSpPr>
          <p:cNvPr id="10" name="Shape 8"/>
          <p:cNvSpPr/>
          <p:nvPr/>
        </p:nvSpPr>
        <p:spPr>
          <a:xfrm>
            <a:off x="3703320" y="822960"/>
            <a:ext cx="1463040" cy="1005840"/>
          </a:xfrm>
          <a:prstGeom prst="rect">
            <a:avLst/>
          </a:prstGeom>
          <a:solidFill>
            <a:srgbClr val="58A6FF"/>
          </a:solidFill>
          <a:ln w="12700">
            <a:solidFill>
              <a:srgbClr val="58A6FF"/>
            </a:solidFill>
            <a:prstDash val="solid"/>
          </a:ln>
        </p:spPr>
      </p:sp>
      <p:sp>
        <p:nvSpPr>
          <p:cNvPr id="11" name="Text 9"/>
          <p:cNvSpPr/>
          <p:nvPr/>
        </p:nvSpPr>
        <p:spPr>
          <a:xfrm>
            <a:off x="3703320" y="841248"/>
            <a:ext cx="1463040" cy="96926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API</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Gateway</a:t>
            </a:r>
            <a:endParaRPr lang="en-US" sz="1200" dirty="0"/>
          </a:p>
        </p:txBody>
      </p:sp>
      <p:sp>
        <p:nvSpPr>
          <p:cNvPr id="12" name="Shape 10"/>
          <p:cNvSpPr/>
          <p:nvPr/>
        </p:nvSpPr>
        <p:spPr>
          <a:xfrm>
            <a:off x="5184648" y="1316736"/>
            <a:ext cx="237744" cy="0"/>
          </a:xfrm>
          <a:prstGeom prst="line">
            <a:avLst/>
          </a:prstGeom>
          <a:noFill/>
          <a:ln w="25400">
            <a:solidFill>
              <a:srgbClr val="8B949E"/>
            </a:solidFill>
            <a:prstDash val="solid"/>
          </a:ln>
        </p:spPr>
      </p:sp>
      <p:sp>
        <p:nvSpPr>
          <p:cNvPr id="13" name="Shape 11"/>
          <p:cNvSpPr/>
          <p:nvPr/>
        </p:nvSpPr>
        <p:spPr>
          <a:xfrm>
            <a:off x="5440680" y="822960"/>
            <a:ext cx="1463040" cy="1005840"/>
          </a:xfrm>
          <a:prstGeom prst="rect">
            <a:avLst/>
          </a:prstGeom>
          <a:solidFill>
            <a:srgbClr val="3FB950"/>
          </a:solidFill>
          <a:ln w="12700">
            <a:solidFill>
              <a:srgbClr val="3FB950"/>
            </a:solidFill>
            <a:prstDash val="solid"/>
          </a:ln>
        </p:spPr>
      </p:sp>
      <p:sp>
        <p:nvSpPr>
          <p:cNvPr id="14" name="Text 12"/>
          <p:cNvSpPr/>
          <p:nvPr/>
        </p:nvSpPr>
        <p:spPr>
          <a:xfrm>
            <a:off x="5440680" y="841248"/>
            <a:ext cx="1463040" cy="96926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AWS</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Lambda</a:t>
            </a:r>
            <a:endParaRPr lang="en-US" sz="1200" dirty="0"/>
          </a:p>
        </p:txBody>
      </p:sp>
      <p:sp>
        <p:nvSpPr>
          <p:cNvPr id="15" name="Shape 13"/>
          <p:cNvSpPr/>
          <p:nvPr/>
        </p:nvSpPr>
        <p:spPr>
          <a:xfrm>
            <a:off x="6922008" y="1316736"/>
            <a:ext cx="237744" cy="0"/>
          </a:xfrm>
          <a:prstGeom prst="line">
            <a:avLst/>
          </a:prstGeom>
          <a:noFill/>
          <a:ln w="25400">
            <a:solidFill>
              <a:srgbClr val="8B949E"/>
            </a:solidFill>
            <a:prstDash val="solid"/>
          </a:ln>
        </p:spPr>
      </p:sp>
      <p:sp>
        <p:nvSpPr>
          <p:cNvPr id="16" name="Shape 14"/>
          <p:cNvSpPr/>
          <p:nvPr/>
        </p:nvSpPr>
        <p:spPr>
          <a:xfrm>
            <a:off x="7178040" y="822960"/>
            <a:ext cx="1463040" cy="1005840"/>
          </a:xfrm>
          <a:prstGeom prst="rect">
            <a:avLst/>
          </a:prstGeom>
          <a:solidFill>
            <a:srgbClr val="9B59B6"/>
          </a:solidFill>
          <a:ln w="12700">
            <a:solidFill>
              <a:srgbClr val="9B59B6"/>
            </a:solidFill>
            <a:prstDash val="solid"/>
          </a:ln>
        </p:spPr>
      </p:sp>
      <p:sp>
        <p:nvSpPr>
          <p:cNvPr id="17" name="Text 15"/>
          <p:cNvSpPr/>
          <p:nvPr/>
        </p:nvSpPr>
        <p:spPr>
          <a:xfrm>
            <a:off x="7178040" y="841248"/>
            <a:ext cx="1463040" cy="96926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DynamoDB</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 S3 / SQS</a:t>
            </a:r>
            <a:endParaRPr lang="en-US" sz="1200" dirty="0"/>
          </a:p>
        </p:txBody>
      </p:sp>
      <p:sp>
        <p:nvSpPr>
          <p:cNvPr id="18" name="Text 16"/>
          <p:cNvSpPr/>
          <p:nvPr/>
        </p:nvSpPr>
        <p:spPr>
          <a:xfrm>
            <a:off x="457200" y="2029968"/>
            <a:ext cx="8229600" cy="347472"/>
          </a:xfrm>
          <a:prstGeom prst="rect">
            <a:avLst/>
          </a:prstGeom>
          <a:noFill/>
          <a:ln/>
        </p:spPr>
        <p:txBody>
          <a:bodyPr wrap="square" lIns="0" tIns="0" rIns="0" bIns="0" rtlCol="0" anchor="ctr"/>
          <a:lstStyle/>
          <a:p>
            <a:pPr indent="0" marL="0">
              <a:buNone/>
            </a:pPr>
            <a:r>
              <a:rPr lang="en-US" sz="1600" b="1" dirty="0">
                <a:solidFill>
                  <a:srgbClr val="F78166"/>
                </a:solidFill>
                <a:latin typeface="Calibri" pitchFamily="34" charset="0"/>
                <a:ea typeface="Calibri" pitchFamily="34" charset="-122"/>
                <a:cs typeface="Calibri" pitchFamily="34" charset="-120"/>
              </a:rPr>
              <a:t>Key AWS Services Involved</a:t>
            </a:r>
            <a:endParaRPr lang="en-US" sz="1600" dirty="0"/>
          </a:p>
        </p:txBody>
      </p:sp>
      <p:sp>
        <p:nvSpPr>
          <p:cNvPr id="19" name="Shape 17"/>
          <p:cNvSpPr/>
          <p:nvPr/>
        </p:nvSpPr>
        <p:spPr>
          <a:xfrm>
            <a:off x="457200" y="2487168"/>
            <a:ext cx="4114800" cy="502920"/>
          </a:xfrm>
          <a:prstGeom prst="rect">
            <a:avLst/>
          </a:prstGeom>
          <a:solidFill>
            <a:srgbClr val="161B22"/>
          </a:solidFill>
          <a:ln w="12700">
            <a:solidFill>
              <a:srgbClr val="30363D"/>
            </a:solidFill>
            <a:prstDash val="solid"/>
          </a:ln>
        </p:spPr>
      </p:sp>
      <p:sp>
        <p:nvSpPr>
          <p:cNvPr id="20" name="Text 18"/>
          <p:cNvSpPr/>
          <p:nvPr/>
        </p:nvSpPr>
        <p:spPr>
          <a:xfrm>
            <a:off x="548640" y="2487168"/>
            <a:ext cx="1371600" cy="502920"/>
          </a:xfrm>
          <a:prstGeom prst="rect">
            <a:avLst/>
          </a:prstGeom>
          <a:noFill/>
          <a:ln/>
        </p:spPr>
        <p:txBody>
          <a:bodyPr wrap="square" lIns="0" tIns="0" rIns="0" bIns="0" rtlCol="0" anchor="ctr"/>
          <a:lstStyle/>
          <a:p>
            <a:pPr indent="0" marL="0">
              <a:buNone/>
            </a:pPr>
            <a:r>
              <a:rPr lang="en-US" sz="1200" b="1" dirty="0">
                <a:solidFill>
                  <a:srgbClr val="58A6FF"/>
                </a:solidFill>
                <a:latin typeface="Calibri" pitchFamily="34" charset="0"/>
                <a:ea typeface="Calibri" pitchFamily="34" charset="-122"/>
                <a:cs typeface="Calibri" pitchFamily="34" charset="-120"/>
              </a:rPr>
              <a:t>API Gateway</a:t>
            </a:r>
            <a:endParaRPr lang="en-US" sz="1200" dirty="0"/>
          </a:p>
        </p:txBody>
      </p:sp>
      <p:sp>
        <p:nvSpPr>
          <p:cNvPr id="21" name="Text 19"/>
          <p:cNvSpPr/>
          <p:nvPr/>
        </p:nvSpPr>
        <p:spPr>
          <a:xfrm>
            <a:off x="1920240" y="2487168"/>
            <a:ext cx="2560320" cy="5029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Public entry point — routes requests to Lambda</a:t>
            </a:r>
            <a:endParaRPr lang="en-US" sz="1100" dirty="0"/>
          </a:p>
        </p:txBody>
      </p:sp>
      <p:sp>
        <p:nvSpPr>
          <p:cNvPr id="22" name="Shape 20"/>
          <p:cNvSpPr/>
          <p:nvPr/>
        </p:nvSpPr>
        <p:spPr>
          <a:xfrm>
            <a:off x="457200" y="3081528"/>
            <a:ext cx="4114800" cy="502920"/>
          </a:xfrm>
          <a:prstGeom prst="rect">
            <a:avLst/>
          </a:prstGeom>
          <a:solidFill>
            <a:srgbClr val="161B22"/>
          </a:solidFill>
          <a:ln w="12700">
            <a:solidFill>
              <a:srgbClr val="30363D"/>
            </a:solidFill>
            <a:prstDash val="solid"/>
          </a:ln>
        </p:spPr>
      </p:sp>
      <p:sp>
        <p:nvSpPr>
          <p:cNvPr id="23" name="Text 21"/>
          <p:cNvSpPr/>
          <p:nvPr/>
        </p:nvSpPr>
        <p:spPr>
          <a:xfrm>
            <a:off x="548640" y="3081528"/>
            <a:ext cx="1371600" cy="502920"/>
          </a:xfrm>
          <a:prstGeom prst="rect">
            <a:avLst/>
          </a:prstGeom>
          <a:noFill/>
          <a:ln/>
        </p:spPr>
        <p:txBody>
          <a:bodyPr wrap="square" lIns="0" tIns="0" rIns="0" bIns="0" rtlCol="0" anchor="ctr"/>
          <a:lstStyle/>
          <a:p>
            <a:pPr indent="0" marL="0">
              <a:buNone/>
            </a:pPr>
            <a:r>
              <a:rPr lang="en-US" sz="1200" b="1" dirty="0">
                <a:solidFill>
                  <a:srgbClr val="58A6FF"/>
                </a:solidFill>
                <a:latin typeface="Calibri" pitchFamily="34" charset="0"/>
                <a:ea typeface="Calibri" pitchFamily="34" charset="-122"/>
                <a:cs typeface="Calibri" pitchFamily="34" charset="-120"/>
              </a:rPr>
              <a:t>AWS Lambda</a:t>
            </a:r>
            <a:endParaRPr lang="en-US" sz="1200" dirty="0"/>
          </a:p>
        </p:txBody>
      </p:sp>
      <p:sp>
        <p:nvSpPr>
          <p:cNvPr id="24" name="Text 22"/>
          <p:cNvSpPr/>
          <p:nvPr/>
        </p:nvSpPr>
        <p:spPr>
          <a:xfrm>
            <a:off x="1920240" y="3081528"/>
            <a:ext cx="2560320" cy="5029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Serverless compute — executes business logic</a:t>
            </a:r>
            <a:endParaRPr lang="en-US" sz="1100" dirty="0"/>
          </a:p>
        </p:txBody>
      </p:sp>
      <p:sp>
        <p:nvSpPr>
          <p:cNvPr id="25" name="Shape 23"/>
          <p:cNvSpPr/>
          <p:nvPr/>
        </p:nvSpPr>
        <p:spPr>
          <a:xfrm>
            <a:off x="457200" y="3675888"/>
            <a:ext cx="4114800" cy="502920"/>
          </a:xfrm>
          <a:prstGeom prst="rect">
            <a:avLst/>
          </a:prstGeom>
          <a:solidFill>
            <a:srgbClr val="161B22"/>
          </a:solidFill>
          <a:ln w="12700">
            <a:solidFill>
              <a:srgbClr val="30363D"/>
            </a:solidFill>
            <a:prstDash val="solid"/>
          </a:ln>
        </p:spPr>
      </p:sp>
      <p:sp>
        <p:nvSpPr>
          <p:cNvPr id="26" name="Text 24"/>
          <p:cNvSpPr/>
          <p:nvPr/>
        </p:nvSpPr>
        <p:spPr>
          <a:xfrm>
            <a:off x="548640" y="3675888"/>
            <a:ext cx="1371600" cy="502920"/>
          </a:xfrm>
          <a:prstGeom prst="rect">
            <a:avLst/>
          </a:prstGeom>
          <a:noFill/>
          <a:ln/>
        </p:spPr>
        <p:txBody>
          <a:bodyPr wrap="square" lIns="0" tIns="0" rIns="0" bIns="0" rtlCol="0" anchor="ctr"/>
          <a:lstStyle/>
          <a:p>
            <a:pPr indent="0" marL="0">
              <a:buNone/>
            </a:pPr>
            <a:r>
              <a:rPr lang="en-US" sz="1200" b="1" dirty="0">
                <a:solidFill>
                  <a:srgbClr val="58A6FF"/>
                </a:solidFill>
                <a:latin typeface="Calibri" pitchFamily="34" charset="0"/>
                <a:ea typeface="Calibri" pitchFamily="34" charset="-122"/>
                <a:cs typeface="Calibri" pitchFamily="34" charset="-120"/>
              </a:rPr>
              <a:t>Amazon Cognito</a:t>
            </a:r>
            <a:endParaRPr lang="en-US" sz="1200" dirty="0"/>
          </a:p>
        </p:txBody>
      </p:sp>
      <p:sp>
        <p:nvSpPr>
          <p:cNvPr id="27" name="Text 25"/>
          <p:cNvSpPr/>
          <p:nvPr/>
        </p:nvSpPr>
        <p:spPr>
          <a:xfrm>
            <a:off x="1920240" y="3675888"/>
            <a:ext cx="2560320" cy="5029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User authentication &amp; JWT token issuance</a:t>
            </a:r>
            <a:endParaRPr lang="en-US" sz="1100" dirty="0"/>
          </a:p>
        </p:txBody>
      </p:sp>
      <p:sp>
        <p:nvSpPr>
          <p:cNvPr id="28" name="Shape 26"/>
          <p:cNvSpPr/>
          <p:nvPr/>
        </p:nvSpPr>
        <p:spPr>
          <a:xfrm>
            <a:off x="457200" y="4270248"/>
            <a:ext cx="4114800" cy="502920"/>
          </a:xfrm>
          <a:prstGeom prst="rect">
            <a:avLst/>
          </a:prstGeom>
          <a:solidFill>
            <a:srgbClr val="161B22"/>
          </a:solidFill>
          <a:ln w="12700">
            <a:solidFill>
              <a:srgbClr val="30363D"/>
            </a:solidFill>
            <a:prstDash val="solid"/>
          </a:ln>
        </p:spPr>
      </p:sp>
      <p:sp>
        <p:nvSpPr>
          <p:cNvPr id="29" name="Text 27"/>
          <p:cNvSpPr/>
          <p:nvPr/>
        </p:nvSpPr>
        <p:spPr>
          <a:xfrm>
            <a:off x="548640" y="4270248"/>
            <a:ext cx="1371600" cy="502920"/>
          </a:xfrm>
          <a:prstGeom prst="rect">
            <a:avLst/>
          </a:prstGeom>
          <a:noFill/>
          <a:ln/>
        </p:spPr>
        <p:txBody>
          <a:bodyPr wrap="square" lIns="0" tIns="0" rIns="0" bIns="0" rtlCol="0" anchor="ctr"/>
          <a:lstStyle/>
          <a:p>
            <a:pPr indent="0" marL="0">
              <a:buNone/>
            </a:pPr>
            <a:r>
              <a:rPr lang="en-US" sz="1200" b="1" dirty="0">
                <a:solidFill>
                  <a:srgbClr val="58A6FF"/>
                </a:solidFill>
                <a:latin typeface="Calibri" pitchFamily="34" charset="0"/>
                <a:ea typeface="Calibri" pitchFamily="34" charset="-122"/>
                <a:cs typeface="Calibri" pitchFamily="34" charset="-120"/>
              </a:rPr>
              <a:t>Amazon DynamoDB</a:t>
            </a:r>
            <a:endParaRPr lang="en-US" sz="1200" dirty="0"/>
          </a:p>
        </p:txBody>
      </p:sp>
      <p:sp>
        <p:nvSpPr>
          <p:cNvPr id="30" name="Text 28"/>
          <p:cNvSpPr/>
          <p:nvPr/>
        </p:nvSpPr>
        <p:spPr>
          <a:xfrm>
            <a:off x="1920240" y="4270248"/>
            <a:ext cx="2560320" cy="5029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NoSQL persistent storage for orders/users</a:t>
            </a:r>
            <a:endParaRPr lang="en-US" sz="1100" dirty="0"/>
          </a:p>
        </p:txBody>
      </p:sp>
      <p:sp>
        <p:nvSpPr>
          <p:cNvPr id="31" name="Shape 29"/>
          <p:cNvSpPr/>
          <p:nvPr/>
        </p:nvSpPr>
        <p:spPr>
          <a:xfrm>
            <a:off x="4846320" y="2487168"/>
            <a:ext cx="4114800" cy="502920"/>
          </a:xfrm>
          <a:prstGeom prst="rect">
            <a:avLst/>
          </a:prstGeom>
          <a:solidFill>
            <a:srgbClr val="161B22"/>
          </a:solidFill>
          <a:ln w="12700">
            <a:solidFill>
              <a:srgbClr val="30363D"/>
            </a:solidFill>
            <a:prstDash val="solid"/>
          </a:ln>
        </p:spPr>
      </p:sp>
      <p:sp>
        <p:nvSpPr>
          <p:cNvPr id="32" name="Text 30"/>
          <p:cNvSpPr/>
          <p:nvPr/>
        </p:nvSpPr>
        <p:spPr>
          <a:xfrm>
            <a:off x="4937760" y="2487168"/>
            <a:ext cx="1371600" cy="502920"/>
          </a:xfrm>
          <a:prstGeom prst="rect">
            <a:avLst/>
          </a:prstGeom>
          <a:noFill/>
          <a:ln/>
        </p:spPr>
        <p:txBody>
          <a:bodyPr wrap="square" lIns="0" tIns="0" rIns="0" bIns="0" rtlCol="0" anchor="ctr"/>
          <a:lstStyle/>
          <a:p>
            <a:pPr indent="0" marL="0">
              <a:buNone/>
            </a:pPr>
            <a:r>
              <a:rPr lang="en-US" sz="1200" b="1" dirty="0">
                <a:solidFill>
                  <a:srgbClr val="58A6FF"/>
                </a:solidFill>
                <a:latin typeface="Calibri" pitchFamily="34" charset="0"/>
                <a:ea typeface="Calibri" pitchFamily="34" charset="-122"/>
                <a:cs typeface="Calibri" pitchFamily="34" charset="-120"/>
              </a:rPr>
              <a:t>Amazon S3</a:t>
            </a:r>
            <a:endParaRPr lang="en-US" sz="1200" dirty="0"/>
          </a:p>
        </p:txBody>
      </p:sp>
      <p:sp>
        <p:nvSpPr>
          <p:cNvPr id="33" name="Text 31"/>
          <p:cNvSpPr/>
          <p:nvPr/>
        </p:nvSpPr>
        <p:spPr>
          <a:xfrm>
            <a:off x="6309360" y="2487168"/>
            <a:ext cx="2560320" cy="5029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Static frontend &amp; order receipt storage</a:t>
            </a:r>
            <a:endParaRPr lang="en-US" sz="1100" dirty="0"/>
          </a:p>
        </p:txBody>
      </p:sp>
      <p:sp>
        <p:nvSpPr>
          <p:cNvPr id="34" name="Shape 32"/>
          <p:cNvSpPr/>
          <p:nvPr/>
        </p:nvSpPr>
        <p:spPr>
          <a:xfrm>
            <a:off x="4846320" y="3081528"/>
            <a:ext cx="4114800" cy="502920"/>
          </a:xfrm>
          <a:prstGeom prst="rect">
            <a:avLst/>
          </a:prstGeom>
          <a:solidFill>
            <a:srgbClr val="161B22"/>
          </a:solidFill>
          <a:ln w="12700">
            <a:solidFill>
              <a:srgbClr val="30363D"/>
            </a:solidFill>
            <a:prstDash val="solid"/>
          </a:ln>
        </p:spPr>
      </p:sp>
      <p:sp>
        <p:nvSpPr>
          <p:cNvPr id="35" name="Text 33"/>
          <p:cNvSpPr/>
          <p:nvPr/>
        </p:nvSpPr>
        <p:spPr>
          <a:xfrm>
            <a:off x="4937760" y="3081528"/>
            <a:ext cx="1371600" cy="502920"/>
          </a:xfrm>
          <a:prstGeom prst="rect">
            <a:avLst/>
          </a:prstGeom>
          <a:noFill/>
          <a:ln/>
        </p:spPr>
        <p:txBody>
          <a:bodyPr wrap="square" lIns="0" tIns="0" rIns="0" bIns="0" rtlCol="0" anchor="ctr"/>
          <a:lstStyle/>
          <a:p>
            <a:pPr indent="0" marL="0">
              <a:buNone/>
            </a:pPr>
            <a:r>
              <a:rPr lang="en-US" sz="1200" b="1" dirty="0">
                <a:solidFill>
                  <a:srgbClr val="58A6FF"/>
                </a:solidFill>
                <a:latin typeface="Calibri" pitchFamily="34" charset="0"/>
                <a:ea typeface="Calibri" pitchFamily="34" charset="-122"/>
                <a:cs typeface="Calibri" pitchFamily="34" charset="-120"/>
              </a:rPr>
              <a:t>IAM Roles</a:t>
            </a:r>
            <a:endParaRPr lang="en-US" sz="1200" dirty="0"/>
          </a:p>
        </p:txBody>
      </p:sp>
      <p:sp>
        <p:nvSpPr>
          <p:cNvPr id="36" name="Text 34"/>
          <p:cNvSpPr/>
          <p:nvPr/>
        </p:nvSpPr>
        <p:spPr>
          <a:xfrm>
            <a:off x="6309360" y="3081528"/>
            <a:ext cx="2560320" cy="5029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Execution permissions for Lambda functions</a:t>
            </a:r>
            <a:endParaRPr lang="en-US" sz="1100" dirty="0"/>
          </a:p>
        </p:txBody>
      </p:sp>
      <p:sp>
        <p:nvSpPr>
          <p:cNvPr id="37" name="Shape 35"/>
          <p:cNvSpPr/>
          <p:nvPr/>
        </p:nvSpPr>
        <p:spPr>
          <a:xfrm>
            <a:off x="4846320" y="3675888"/>
            <a:ext cx="4114800" cy="502920"/>
          </a:xfrm>
          <a:prstGeom prst="rect">
            <a:avLst/>
          </a:prstGeom>
          <a:solidFill>
            <a:srgbClr val="161B22"/>
          </a:solidFill>
          <a:ln w="12700">
            <a:solidFill>
              <a:srgbClr val="30363D"/>
            </a:solidFill>
            <a:prstDash val="solid"/>
          </a:ln>
        </p:spPr>
      </p:sp>
      <p:sp>
        <p:nvSpPr>
          <p:cNvPr id="38" name="Text 36"/>
          <p:cNvSpPr/>
          <p:nvPr/>
        </p:nvSpPr>
        <p:spPr>
          <a:xfrm>
            <a:off x="4937760" y="3675888"/>
            <a:ext cx="1371600" cy="502920"/>
          </a:xfrm>
          <a:prstGeom prst="rect">
            <a:avLst/>
          </a:prstGeom>
          <a:noFill/>
          <a:ln/>
        </p:spPr>
        <p:txBody>
          <a:bodyPr wrap="square" lIns="0" tIns="0" rIns="0" bIns="0" rtlCol="0" anchor="ctr"/>
          <a:lstStyle/>
          <a:p>
            <a:pPr indent="0" marL="0">
              <a:buNone/>
            </a:pPr>
            <a:r>
              <a:rPr lang="en-US" sz="1200" b="1" dirty="0">
                <a:solidFill>
                  <a:srgbClr val="58A6FF"/>
                </a:solidFill>
                <a:latin typeface="Calibri" pitchFamily="34" charset="0"/>
                <a:ea typeface="Calibri" pitchFamily="34" charset="-122"/>
                <a:cs typeface="Calibri" pitchFamily="34" charset="-120"/>
              </a:rPr>
              <a:t>CloudWatch</a:t>
            </a:r>
            <a:endParaRPr lang="en-US" sz="1200" dirty="0"/>
          </a:p>
        </p:txBody>
      </p:sp>
      <p:sp>
        <p:nvSpPr>
          <p:cNvPr id="39" name="Text 37"/>
          <p:cNvSpPr/>
          <p:nvPr/>
        </p:nvSpPr>
        <p:spPr>
          <a:xfrm>
            <a:off x="6309360" y="3675888"/>
            <a:ext cx="2560320" cy="5029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Monitoring, logging &amp; exploit verification</a:t>
            </a:r>
            <a:endParaRPr lang="en-US" sz="1100" dirty="0"/>
          </a:p>
        </p:txBody>
      </p:sp>
      <p:sp>
        <p:nvSpPr>
          <p:cNvPr id="40" name="Shape 38"/>
          <p:cNvSpPr/>
          <p:nvPr/>
        </p:nvSpPr>
        <p:spPr>
          <a:xfrm>
            <a:off x="4846320" y="4270248"/>
            <a:ext cx="4114800" cy="502920"/>
          </a:xfrm>
          <a:prstGeom prst="rect">
            <a:avLst/>
          </a:prstGeom>
          <a:solidFill>
            <a:srgbClr val="161B22"/>
          </a:solidFill>
          <a:ln w="12700">
            <a:solidFill>
              <a:srgbClr val="30363D"/>
            </a:solidFill>
            <a:prstDash val="solid"/>
          </a:ln>
        </p:spPr>
      </p:sp>
      <p:sp>
        <p:nvSpPr>
          <p:cNvPr id="41" name="Text 39"/>
          <p:cNvSpPr/>
          <p:nvPr/>
        </p:nvSpPr>
        <p:spPr>
          <a:xfrm>
            <a:off x="4937760" y="4270248"/>
            <a:ext cx="1371600" cy="502920"/>
          </a:xfrm>
          <a:prstGeom prst="rect">
            <a:avLst/>
          </a:prstGeom>
          <a:noFill/>
          <a:ln/>
        </p:spPr>
        <p:txBody>
          <a:bodyPr wrap="square" lIns="0" tIns="0" rIns="0" bIns="0" rtlCol="0" anchor="ctr"/>
          <a:lstStyle/>
          <a:p>
            <a:pPr indent="0" marL="0">
              <a:buNone/>
            </a:pPr>
            <a:r>
              <a:rPr lang="en-US" sz="1200" b="1" dirty="0">
                <a:solidFill>
                  <a:srgbClr val="58A6FF"/>
                </a:solidFill>
                <a:latin typeface="Calibri" pitchFamily="34" charset="0"/>
                <a:ea typeface="Calibri" pitchFamily="34" charset="-122"/>
                <a:cs typeface="Calibri" pitchFamily="34" charset="-120"/>
              </a:rPr>
              <a:t>SQS</a:t>
            </a:r>
            <a:endParaRPr lang="en-US" sz="1200" dirty="0"/>
          </a:p>
        </p:txBody>
      </p:sp>
      <p:sp>
        <p:nvSpPr>
          <p:cNvPr id="42" name="Text 40"/>
          <p:cNvSpPr/>
          <p:nvPr/>
        </p:nvSpPr>
        <p:spPr>
          <a:xfrm>
            <a:off x="6309360" y="4270248"/>
            <a:ext cx="2560320" cy="5029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Message queue for async order processing</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78166"/>
          </a:solidFill>
          <a:ln w="12700">
            <a:solidFill>
              <a:srgbClr val="F78166"/>
            </a:solidFill>
            <a:prstDash val="solid"/>
          </a:ln>
        </p:spPr>
      </p:sp>
      <p:sp>
        <p:nvSpPr>
          <p:cNvPr id="3" name="Text 1"/>
          <p:cNvSpPr/>
          <p:nvPr/>
        </p:nvSpPr>
        <p:spPr>
          <a:xfrm>
            <a:off x="457200" y="164592"/>
            <a:ext cx="8229600" cy="502920"/>
          </a:xfrm>
          <a:prstGeom prst="rect">
            <a:avLst/>
          </a:prstGeom>
          <a:noFill/>
          <a:ln/>
        </p:spPr>
        <p:txBody>
          <a:bodyPr wrap="square" lIns="0" tIns="0" rIns="0" bIns="0" rtlCol="0" anchor="ctr"/>
          <a:lstStyle/>
          <a:p>
            <a:pPr indent="0" marL="0">
              <a:buNone/>
            </a:pPr>
            <a:r>
              <a:rPr lang="en-US" sz="2600" b="1" dirty="0">
                <a:solidFill>
                  <a:srgbClr val="E6EDF3"/>
                </a:solidFill>
                <a:latin typeface="Calibri" pitchFamily="34" charset="0"/>
                <a:ea typeface="Calibri" pitchFamily="34" charset="-122"/>
                <a:cs typeface="Calibri" pitchFamily="34" charset="-120"/>
              </a:rPr>
              <a:t>10 Official Vulnerabilities — At a Glance</a:t>
            </a:r>
            <a:endParaRPr lang="en-US" sz="2600" dirty="0"/>
          </a:p>
        </p:txBody>
      </p:sp>
      <p:sp>
        <p:nvSpPr>
          <p:cNvPr id="4" name="Shape 2"/>
          <p:cNvSpPr/>
          <p:nvPr/>
        </p:nvSpPr>
        <p:spPr>
          <a:xfrm>
            <a:off x="365760" y="841248"/>
            <a:ext cx="4114800" cy="713232"/>
          </a:xfrm>
          <a:prstGeom prst="rect">
            <a:avLst/>
          </a:prstGeom>
          <a:solidFill>
            <a:srgbClr val="161B22"/>
          </a:solidFill>
          <a:ln w="12700">
            <a:solidFill>
              <a:srgbClr val="F78166"/>
            </a:solidFill>
            <a:prstDash val="solid"/>
          </a:ln>
        </p:spPr>
      </p:sp>
      <p:sp>
        <p:nvSpPr>
          <p:cNvPr id="5" name="Shape 3"/>
          <p:cNvSpPr/>
          <p:nvPr/>
        </p:nvSpPr>
        <p:spPr>
          <a:xfrm>
            <a:off x="365760" y="841248"/>
            <a:ext cx="457200" cy="713232"/>
          </a:xfrm>
          <a:prstGeom prst="rect">
            <a:avLst/>
          </a:prstGeom>
          <a:solidFill>
            <a:srgbClr val="F78166"/>
          </a:solidFill>
          <a:ln w="12700">
            <a:solidFill>
              <a:srgbClr val="F78166"/>
            </a:solidFill>
            <a:prstDash val="solid"/>
          </a:ln>
        </p:spPr>
      </p:sp>
      <p:sp>
        <p:nvSpPr>
          <p:cNvPr id="6" name="Text 4"/>
          <p:cNvSpPr/>
          <p:nvPr/>
        </p:nvSpPr>
        <p:spPr>
          <a:xfrm>
            <a:off x="365760" y="841248"/>
            <a:ext cx="457200" cy="7132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V1</a:t>
            </a:r>
            <a:endParaRPr lang="en-US" sz="1000" dirty="0"/>
          </a:p>
        </p:txBody>
      </p:sp>
      <p:sp>
        <p:nvSpPr>
          <p:cNvPr id="7" name="Text 5"/>
          <p:cNvSpPr/>
          <p:nvPr/>
        </p:nvSpPr>
        <p:spPr>
          <a:xfrm>
            <a:off x="896112" y="841248"/>
            <a:ext cx="2468880" cy="713232"/>
          </a:xfrm>
          <a:prstGeom prst="rect">
            <a:avLst/>
          </a:prstGeom>
          <a:noFill/>
          <a:ln/>
        </p:spPr>
        <p:txBody>
          <a:bodyPr wrap="square" lIns="0" tIns="0" rIns="0" bIns="0" rtlCol="0" anchor="ctr"/>
          <a:lstStyle/>
          <a:p>
            <a:pPr indent="0" marL="0">
              <a:buNone/>
            </a:pPr>
            <a:r>
              <a:rPr lang="en-US" sz="1300" b="1" dirty="0">
                <a:solidFill>
                  <a:srgbClr val="E6EDF3"/>
                </a:solidFill>
                <a:latin typeface="Calibri" pitchFamily="34" charset="0"/>
                <a:ea typeface="Calibri" pitchFamily="34" charset="-122"/>
                <a:cs typeface="Calibri" pitchFamily="34" charset="-120"/>
              </a:rPr>
              <a:t>Event Injection</a:t>
            </a:r>
            <a:endParaRPr lang="en-US" sz="1300" dirty="0"/>
          </a:p>
        </p:txBody>
      </p:sp>
      <p:sp>
        <p:nvSpPr>
          <p:cNvPr id="8" name="Shape 6"/>
          <p:cNvSpPr/>
          <p:nvPr/>
        </p:nvSpPr>
        <p:spPr>
          <a:xfrm>
            <a:off x="3429000" y="1005840"/>
            <a:ext cx="914400" cy="384048"/>
          </a:xfrm>
          <a:prstGeom prst="rect">
            <a:avLst/>
          </a:prstGeom>
          <a:solidFill>
            <a:srgbClr val="000000"/>
          </a:solidFill>
          <a:ln w="12700">
            <a:solidFill>
              <a:srgbClr val="F78166"/>
            </a:solidFill>
            <a:prstDash val="solid"/>
          </a:ln>
        </p:spPr>
      </p:sp>
      <p:sp>
        <p:nvSpPr>
          <p:cNvPr id="9" name="Text 7"/>
          <p:cNvSpPr/>
          <p:nvPr/>
        </p:nvSpPr>
        <p:spPr>
          <a:xfrm>
            <a:off x="3429000" y="1005840"/>
            <a:ext cx="914400" cy="384048"/>
          </a:xfrm>
          <a:prstGeom prst="rect">
            <a:avLst/>
          </a:prstGeom>
          <a:noFill/>
          <a:ln/>
        </p:spPr>
        <p:txBody>
          <a:bodyPr wrap="square" lIns="0" tIns="0" rIns="0" bIns="0" rtlCol="0" anchor="ctr"/>
          <a:lstStyle/>
          <a:p>
            <a:pPr algn="ctr" indent="0" marL="0">
              <a:buNone/>
            </a:pPr>
            <a:r>
              <a:rPr lang="en-US" sz="1000" b="1" dirty="0">
                <a:solidFill>
                  <a:srgbClr val="F78166"/>
                </a:solidFill>
                <a:latin typeface="Calibri" pitchFamily="34" charset="0"/>
                <a:ea typeface="Calibri" pitchFamily="34" charset="-122"/>
                <a:cs typeface="Calibri" pitchFamily="34" charset="-120"/>
              </a:rPr>
              <a:t>RCE</a:t>
            </a:r>
            <a:endParaRPr lang="en-US" sz="1000" dirty="0"/>
          </a:p>
        </p:txBody>
      </p:sp>
      <p:sp>
        <p:nvSpPr>
          <p:cNvPr id="10" name="Shape 8"/>
          <p:cNvSpPr/>
          <p:nvPr/>
        </p:nvSpPr>
        <p:spPr>
          <a:xfrm>
            <a:off x="4846320" y="841248"/>
            <a:ext cx="4114800" cy="713232"/>
          </a:xfrm>
          <a:prstGeom prst="rect">
            <a:avLst/>
          </a:prstGeom>
          <a:solidFill>
            <a:srgbClr val="161B22"/>
          </a:solidFill>
          <a:ln w="12700">
            <a:solidFill>
              <a:srgbClr val="F78166"/>
            </a:solidFill>
            <a:prstDash val="solid"/>
          </a:ln>
        </p:spPr>
      </p:sp>
      <p:sp>
        <p:nvSpPr>
          <p:cNvPr id="11" name="Shape 9"/>
          <p:cNvSpPr/>
          <p:nvPr/>
        </p:nvSpPr>
        <p:spPr>
          <a:xfrm>
            <a:off x="4846320" y="841248"/>
            <a:ext cx="457200" cy="713232"/>
          </a:xfrm>
          <a:prstGeom prst="rect">
            <a:avLst/>
          </a:prstGeom>
          <a:solidFill>
            <a:srgbClr val="F78166"/>
          </a:solidFill>
          <a:ln w="12700">
            <a:solidFill>
              <a:srgbClr val="F78166"/>
            </a:solidFill>
            <a:prstDash val="solid"/>
          </a:ln>
        </p:spPr>
      </p:sp>
      <p:sp>
        <p:nvSpPr>
          <p:cNvPr id="12" name="Text 10"/>
          <p:cNvSpPr/>
          <p:nvPr/>
        </p:nvSpPr>
        <p:spPr>
          <a:xfrm>
            <a:off x="4846320" y="841248"/>
            <a:ext cx="457200" cy="7132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V2</a:t>
            </a:r>
            <a:endParaRPr lang="en-US" sz="1000" dirty="0"/>
          </a:p>
        </p:txBody>
      </p:sp>
      <p:sp>
        <p:nvSpPr>
          <p:cNvPr id="13" name="Text 11"/>
          <p:cNvSpPr/>
          <p:nvPr/>
        </p:nvSpPr>
        <p:spPr>
          <a:xfrm>
            <a:off x="5376672" y="841248"/>
            <a:ext cx="2468880" cy="713232"/>
          </a:xfrm>
          <a:prstGeom prst="rect">
            <a:avLst/>
          </a:prstGeom>
          <a:noFill/>
          <a:ln/>
        </p:spPr>
        <p:txBody>
          <a:bodyPr wrap="square" lIns="0" tIns="0" rIns="0" bIns="0" rtlCol="0" anchor="ctr"/>
          <a:lstStyle/>
          <a:p>
            <a:pPr indent="0" marL="0">
              <a:buNone/>
            </a:pPr>
            <a:r>
              <a:rPr lang="en-US" sz="1300" b="1" dirty="0">
                <a:solidFill>
                  <a:srgbClr val="E6EDF3"/>
                </a:solidFill>
                <a:latin typeface="Calibri" pitchFamily="34" charset="0"/>
                <a:ea typeface="Calibri" pitchFamily="34" charset="-122"/>
                <a:cs typeface="Calibri" pitchFamily="34" charset="-120"/>
              </a:rPr>
              <a:t>Broken Authentication</a:t>
            </a:r>
            <a:endParaRPr lang="en-US" sz="1300" dirty="0"/>
          </a:p>
        </p:txBody>
      </p:sp>
      <p:sp>
        <p:nvSpPr>
          <p:cNvPr id="14" name="Shape 12"/>
          <p:cNvSpPr/>
          <p:nvPr/>
        </p:nvSpPr>
        <p:spPr>
          <a:xfrm>
            <a:off x="7909560" y="1005840"/>
            <a:ext cx="914400" cy="384048"/>
          </a:xfrm>
          <a:prstGeom prst="rect">
            <a:avLst/>
          </a:prstGeom>
          <a:solidFill>
            <a:srgbClr val="000000"/>
          </a:solidFill>
          <a:ln w="12700">
            <a:solidFill>
              <a:srgbClr val="F78166"/>
            </a:solidFill>
            <a:prstDash val="solid"/>
          </a:ln>
        </p:spPr>
      </p:sp>
      <p:sp>
        <p:nvSpPr>
          <p:cNvPr id="15" name="Text 13"/>
          <p:cNvSpPr/>
          <p:nvPr/>
        </p:nvSpPr>
        <p:spPr>
          <a:xfrm>
            <a:off x="7909560" y="1005840"/>
            <a:ext cx="914400" cy="384048"/>
          </a:xfrm>
          <a:prstGeom prst="rect">
            <a:avLst/>
          </a:prstGeom>
          <a:noFill/>
          <a:ln/>
        </p:spPr>
        <p:txBody>
          <a:bodyPr wrap="square" lIns="0" tIns="0" rIns="0" bIns="0" rtlCol="0" anchor="ctr"/>
          <a:lstStyle/>
          <a:p>
            <a:pPr algn="ctr" indent="0" marL="0">
              <a:buNone/>
            </a:pPr>
            <a:r>
              <a:rPr lang="en-US" sz="1000" b="1" dirty="0">
                <a:solidFill>
                  <a:srgbClr val="F78166"/>
                </a:solidFill>
                <a:latin typeface="Calibri" pitchFamily="34" charset="0"/>
                <a:ea typeface="Calibri" pitchFamily="34" charset="-122"/>
                <a:cs typeface="Calibri" pitchFamily="34" charset="-120"/>
              </a:rPr>
              <a:t>Auth</a:t>
            </a:r>
            <a:endParaRPr lang="en-US" sz="1000" dirty="0"/>
          </a:p>
        </p:txBody>
      </p:sp>
      <p:sp>
        <p:nvSpPr>
          <p:cNvPr id="16" name="Shape 14"/>
          <p:cNvSpPr/>
          <p:nvPr/>
        </p:nvSpPr>
        <p:spPr>
          <a:xfrm>
            <a:off x="365760" y="1682496"/>
            <a:ext cx="4114800" cy="713232"/>
          </a:xfrm>
          <a:prstGeom prst="rect">
            <a:avLst/>
          </a:prstGeom>
          <a:solidFill>
            <a:srgbClr val="161B22"/>
          </a:solidFill>
          <a:ln w="12700">
            <a:solidFill>
              <a:srgbClr val="D29922"/>
            </a:solidFill>
            <a:prstDash val="solid"/>
          </a:ln>
        </p:spPr>
      </p:sp>
      <p:sp>
        <p:nvSpPr>
          <p:cNvPr id="17" name="Shape 15"/>
          <p:cNvSpPr/>
          <p:nvPr/>
        </p:nvSpPr>
        <p:spPr>
          <a:xfrm>
            <a:off x="365760" y="1682496"/>
            <a:ext cx="457200" cy="713232"/>
          </a:xfrm>
          <a:prstGeom prst="rect">
            <a:avLst/>
          </a:prstGeom>
          <a:solidFill>
            <a:srgbClr val="D29922"/>
          </a:solidFill>
          <a:ln w="12700">
            <a:solidFill>
              <a:srgbClr val="D29922"/>
            </a:solidFill>
            <a:prstDash val="solid"/>
          </a:ln>
        </p:spPr>
      </p:sp>
      <p:sp>
        <p:nvSpPr>
          <p:cNvPr id="18" name="Text 16"/>
          <p:cNvSpPr/>
          <p:nvPr/>
        </p:nvSpPr>
        <p:spPr>
          <a:xfrm>
            <a:off x="365760" y="1682496"/>
            <a:ext cx="457200" cy="7132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V3</a:t>
            </a:r>
            <a:endParaRPr lang="en-US" sz="1000" dirty="0"/>
          </a:p>
        </p:txBody>
      </p:sp>
      <p:sp>
        <p:nvSpPr>
          <p:cNvPr id="19" name="Text 17"/>
          <p:cNvSpPr/>
          <p:nvPr/>
        </p:nvSpPr>
        <p:spPr>
          <a:xfrm>
            <a:off x="896112" y="1682496"/>
            <a:ext cx="2468880" cy="713232"/>
          </a:xfrm>
          <a:prstGeom prst="rect">
            <a:avLst/>
          </a:prstGeom>
          <a:noFill/>
          <a:ln/>
        </p:spPr>
        <p:txBody>
          <a:bodyPr wrap="square" lIns="0" tIns="0" rIns="0" bIns="0" rtlCol="0" anchor="ctr"/>
          <a:lstStyle/>
          <a:p>
            <a:pPr indent="0" marL="0">
              <a:buNone/>
            </a:pPr>
            <a:r>
              <a:rPr lang="en-US" sz="1300" b="1" dirty="0">
                <a:solidFill>
                  <a:srgbClr val="E6EDF3"/>
                </a:solidFill>
                <a:latin typeface="Calibri" pitchFamily="34" charset="0"/>
                <a:ea typeface="Calibri" pitchFamily="34" charset="-122"/>
                <a:cs typeface="Calibri" pitchFamily="34" charset="-120"/>
              </a:rPr>
              <a:t>Sensitive Info Disclosure</a:t>
            </a:r>
            <a:endParaRPr lang="en-US" sz="1300" dirty="0"/>
          </a:p>
        </p:txBody>
      </p:sp>
      <p:sp>
        <p:nvSpPr>
          <p:cNvPr id="20" name="Shape 18"/>
          <p:cNvSpPr/>
          <p:nvPr/>
        </p:nvSpPr>
        <p:spPr>
          <a:xfrm>
            <a:off x="3429000" y="1847088"/>
            <a:ext cx="914400" cy="384048"/>
          </a:xfrm>
          <a:prstGeom prst="rect">
            <a:avLst/>
          </a:prstGeom>
          <a:solidFill>
            <a:srgbClr val="000000"/>
          </a:solidFill>
          <a:ln w="12700">
            <a:solidFill>
              <a:srgbClr val="D29922"/>
            </a:solidFill>
            <a:prstDash val="solid"/>
          </a:ln>
        </p:spPr>
      </p:sp>
      <p:sp>
        <p:nvSpPr>
          <p:cNvPr id="21" name="Text 19"/>
          <p:cNvSpPr/>
          <p:nvPr/>
        </p:nvSpPr>
        <p:spPr>
          <a:xfrm>
            <a:off x="3429000" y="1847088"/>
            <a:ext cx="914400" cy="384048"/>
          </a:xfrm>
          <a:prstGeom prst="rect">
            <a:avLst/>
          </a:prstGeom>
          <a:noFill/>
          <a:ln/>
        </p:spPr>
        <p:txBody>
          <a:bodyPr wrap="square" lIns="0" tIns="0" rIns="0" bIns="0" rtlCol="0" anchor="ctr"/>
          <a:lstStyle/>
          <a:p>
            <a:pPr algn="ctr" indent="0" marL="0">
              <a:buNone/>
            </a:pPr>
            <a:r>
              <a:rPr lang="en-US" sz="1000" b="1" dirty="0">
                <a:solidFill>
                  <a:srgbClr val="D29922"/>
                </a:solidFill>
                <a:latin typeface="Calibri" pitchFamily="34" charset="0"/>
                <a:ea typeface="Calibri" pitchFamily="34" charset="-122"/>
                <a:cs typeface="Calibri" pitchFamily="34" charset="-120"/>
              </a:rPr>
              <a:t>Access</a:t>
            </a:r>
            <a:endParaRPr lang="en-US" sz="1000" dirty="0"/>
          </a:p>
        </p:txBody>
      </p:sp>
      <p:sp>
        <p:nvSpPr>
          <p:cNvPr id="22" name="Shape 20"/>
          <p:cNvSpPr/>
          <p:nvPr/>
        </p:nvSpPr>
        <p:spPr>
          <a:xfrm>
            <a:off x="4846320" y="1682496"/>
            <a:ext cx="4114800" cy="713232"/>
          </a:xfrm>
          <a:prstGeom prst="rect">
            <a:avLst/>
          </a:prstGeom>
          <a:solidFill>
            <a:srgbClr val="161B22"/>
          </a:solidFill>
          <a:ln w="12700">
            <a:solidFill>
              <a:srgbClr val="D29922"/>
            </a:solidFill>
            <a:prstDash val="solid"/>
          </a:ln>
        </p:spPr>
      </p:sp>
      <p:sp>
        <p:nvSpPr>
          <p:cNvPr id="23" name="Shape 21"/>
          <p:cNvSpPr/>
          <p:nvPr/>
        </p:nvSpPr>
        <p:spPr>
          <a:xfrm>
            <a:off x="4846320" y="1682496"/>
            <a:ext cx="457200" cy="713232"/>
          </a:xfrm>
          <a:prstGeom prst="rect">
            <a:avLst/>
          </a:prstGeom>
          <a:solidFill>
            <a:srgbClr val="D29922"/>
          </a:solidFill>
          <a:ln w="12700">
            <a:solidFill>
              <a:srgbClr val="D29922"/>
            </a:solidFill>
            <a:prstDash val="solid"/>
          </a:ln>
        </p:spPr>
      </p:sp>
      <p:sp>
        <p:nvSpPr>
          <p:cNvPr id="24" name="Text 22"/>
          <p:cNvSpPr/>
          <p:nvPr/>
        </p:nvSpPr>
        <p:spPr>
          <a:xfrm>
            <a:off x="4846320" y="1682496"/>
            <a:ext cx="457200" cy="7132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V4</a:t>
            </a:r>
            <a:endParaRPr lang="en-US" sz="1000" dirty="0"/>
          </a:p>
        </p:txBody>
      </p:sp>
      <p:sp>
        <p:nvSpPr>
          <p:cNvPr id="25" name="Text 23"/>
          <p:cNvSpPr/>
          <p:nvPr/>
        </p:nvSpPr>
        <p:spPr>
          <a:xfrm>
            <a:off x="5376672" y="1682496"/>
            <a:ext cx="2468880" cy="713232"/>
          </a:xfrm>
          <a:prstGeom prst="rect">
            <a:avLst/>
          </a:prstGeom>
          <a:noFill/>
          <a:ln/>
        </p:spPr>
        <p:txBody>
          <a:bodyPr wrap="square" lIns="0" tIns="0" rIns="0" bIns="0" rtlCol="0" anchor="ctr"/>
          <a:lstStyle/>
          <a:p>
            <a:pPr indent="0" marL="0">
              <a:buNone/>
            </a:pPr>
            <a:r>
              <a:rPr lang="en-US" sz="1300" b="1" dirty="0">
                <a:solidFill>
                  <a:srgbClr val="E6EDF3"/>
                </a:solidFill>
                <a:latin typeface="Calibri" pitchFamily="34" charset="0"/>
                <a:ea typeface="Calibri" pitchFamily="34" charset="-122"/>
                <a:cs typeface="Calibri" pitchFamily="34" charset="-120"/>
              </a:rPr>
              <a:t>Insecure Cloud Config</a:t>
            </a:r>
            <a:endParaRPr lang="en-US" sz="1300" dirty="0"/>
          </a:p>
        </p:txBody>
      </p:sp>
      <p:sp>
        <p:nvSpPr>
          <p:cNvPr id="26" name="Shape 24"/>
          <p:cNvSpPr/>
          <p:nvPr/>
        </p:nvSpPr>
        <p:spPr>
          <a:xfrm>
            <a:off x="7909560" y="1847088"/>
            <a:ext cx="914400" cy="384048"/>
          </a:xfrm>
          <a:prstGeom prst="rect">
            <a:avLst/>
          </a:prstGeom>
          <a:solidFill>
            <a:srgbClr val="000000"/>
          </a:solidFill>
          <a:ln w="12700">
            <a:solidFill>
              <a:srgbClr val="D29922"/>
            </a:solidFill>
            <a:prstDash val="solid"/>
          </a:ln>
        </p:spPr>
      </p:sp>
      <p:sp>
        <p:nvSpPr>
          <p:cNvPr id="27" name="Text 25"/>
          <p:cNvSpPr/>
          <p:nvPr/>
        </p:nvSpPr>
        <p:spPr>
          <a:xfrm>
            <a:off x="7909560" y="1847088"/>
            <a:ext cx="914400" cy="384048"/>
          </a:xfrm>
          <a:prstGeom prst="rect">
            <a:avLst/>
          </a:prstGeom>
          <a:noFill/>
          <a:ln/>
        </p:spPr>
        <p:txBody>
          <a:bodyPr wrap="square" lIns="0" tIns="0" rIns="0" bIns="0" rtlCol="0" anchor="ctr"/>
          <a:lstStyle/>
          <a:p>
            <a:pPr algn="ctr" indent="0" marL="0">
              <a:buNone/>
            </a:pPr>
            <a:r>
              <a:rPr lang="en-US" sz="1000" b="1" dirty="0">
                <a:solidFill>
                  <a:srgbClr val="D29922"/>
                </a:solidFill>
                <a:latin typeface="Calibri" pitchFamily="34" charset="0"/>
                <a:ea typeface="Calibri" pitchFamily="34" charset="-122"/>
                <a:cs typeface="Calibri" pitchFamily="34" charset="-120"/>
              </a:rPr>
              <a:t>Config</a:t>
            </a:r>
            <a:endParaRPr lang="en-US" sz="1000" dirty="0"/>
          </a:p>
        </p:txBody>
      </p:sp>
      <p:sp>
        <p:nvSpPr>
          <p:cNvPr id="28" name="Shape 26"/>
          <p:cNvSpPr/>
          <p:nvPr/>
        </p:nvSpPr>
        <p:spPr>
          <a:xfrm>
            <a:off x="365760" y="2523744"/>
            <a:ext cx="4114800" cy="713232"/>
          </a:xfrm>
          <a:prstGeom prst="rect">
            <a:avLst/>
          </a:prstGeom>
          <a:solidFill>
            <a:srgbClr val="161B22"/>
          </a:solidFill>
          <a:ln w="12700">
            <a:solidFill>
              <a:srgbClr val="F78166"/>
            </a:solidFill>
            <a:prstDash val="solid"/>
          </a:ln>
        </p:spPr>
      </p:sp>
      <p:sp>
        <p:nvSpPr>
          <p:cNvPr id="29" name="Shape 27"/>
          <p:cNvSpPr/>
          <p:nvPr/>
        </p:nvSpPr>
        <p:spPr>
          <a:xfrm>
            <a:off x="365760" y="2523744"/>
            <a:ext cx="457200" cy="713232"/>
          </a:xfrm>
          <a:prstGeom prst="rect">
            <a:avLst/>
          </a:prstGeom>
          <a:solidFill>
            <a:srgbClr val="F78166"/>
          </a:solidFill>
          <a:ln w="12700">
            <a:solidFill>
              <a:srgbClr val="F78166"/>
            </a:solidFill>
            <a:prstDash val="solid"/>
          </a:ln>
        </p:spPr>
      </p:sp>
      <p:sp>
        <p:nvSpPr>
          <p:cNvPr id="30" name="Text 28"/>
          <p:cNvSpPr/>
          <p:nvPr/>
        </p:nvSpPr>
        <p:spPr>
          <a:xfrm>
            <a:off x="365760" y="2523744"/>
            <a:ext cx="457200" cy="7132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V5</a:t>
            </a:r>
            <a:endParaRPr lang="en-US" sz="1000" dirty="0"/>
          </a:p>
        </p:txBody>
      </p:sp>
      <p:sp>
        <p:nvSpPr>
          <p:cNvPr id="31" name="Text 29"/>
          <p:cNvSpPr/>
          <p:nvPr/>
        </p:nvSpPr>
        <p:spPr>
          <a:xfrm>
            <a:off x="896112" y="2523744"/>
            <a:ext cx="2468880" cy="713232"/>
          </a:xfrm>
          <a:prstGeom prst="rect">
            <a:avLst/>
          </a:prstGeom>
          <a:noFill/>
          <a:ln/>
        </p:spPr>
        <p:txBody>
          <a:bodyPr wrap="square" lIns="0" tIns="0" rIns="0" bIns="0" rtlCol="0" anchor="ctr"/>
          <a:lstStyle/>
          <a:p>
            <a:pPr indent="0" marL="0">
              <a:buNone/>
            </a:pPr>
            <a:r>
              <a:rPr lang="en-US" sz="1300" b="1" dirty="0">
                <a:solidFill>
                  <a:srgbClr val="E6EDF3"/>
                </a:solidFill>
                <a:latin typeface="Calibri" pitchFamily="34" charset="0"/>
                <a:ea typeface="Calibri" pitchFamily="34" charset="-122"/>
                <a:cs typeface="Calibri" pitchFamily="34" charset="-120"/>
              </a:rPr>
              <a:t>Broken Access Control</a:t>
            </a:r>
            <a:endParaRPr lang="en-US" sz="1300" dirty="0"/>
          </a:p>
        </p:txBody>
      </p:sp>
      <p:sp>
        <p:nvSpPr>
          <p:cNvPr id="32" name="Shape 30"/>
          <p:cNvSpPr/>
          <p:nvPr/>
        </p:nvSpPr>
        <p:spPr>
          <a:xfrm>
            <a:off x="3429000" y="2688336"/>
            <a:ext cx="914400" cy="384048"/>
          </a:xfrm>
          <a:prstGeom prst="rect">
            <a:avLst/>
          </a:prstGeom>
          <a:solidFill>
            <a:srgbClr val="000000"/>
          </a:solidFill>
          <a:ln w="12700">
            <a:solidFill>
              <a:srgbClr val="F78166"/>
            </a:solidFill>
            <a:prstDash val="solid"/>
          </a:ln>
        </p:spPr>
      </p:sp>
      <p:sp>
        <p:nvSpPr>
          <p:cNvPr id="33" name="Text 31"/>
          <p:cNvSpPr/>
          <p:nvPr/>
        </p:nvSpPr>
        <p:spPr>
          <a:xfrm>
            <a:off x="3429000" y="2688336"/>
            <a:ext cx="914400" cy="384048"/>
          </a:xfrm>
          <a:prstGeom prst="rect">
            <a:avLst/>
          </a:prstGeom>
          <a:noFill/>
          <a:ln/>
        </p:spPr>
        <p:txBody>
          <a:bodyPr wrap="square" lIns="0" tIns="0" rIns="0" bIns="0" rtlCol="0" anchor="ctr"/>
          <a:lstStyle/>
          <a:p>
            <a:pPr algn="ctr" indent="0" marL="0">
              <a:buNone/>
            </a:pPr>
            <a:r>
              <a:rPr lang="en-US" sz="1000" b="1" dirty="0">
                <a:solidFill>
                  <a:srgbClr val="F78166"/>
                </a:solidFill>
                <a:latin typeface="Calibri" pitchFamily="34" charset="0"/>
                <a:ea typeface="Calibri" pitchFamily="34" charset="-122"/>
                <a:cs typeface="Calibri" pitchFamily="34" charset="-120"/>
              </a:rPr>
              <a:t>Access</a:t>
            </a:r>
            <a:endParaRPr lang="en-US" sz="1000" dirty="0"/>
          </a:p>
        </p:txBody>
      </p:sp>
      <p:sp>
        <p:nvSpPr>
          <p:cNvPr id="34" name="Shape 32"/>
          <p:cNvSpPr/>
          <p:nvPr/>
        </p:nvSpPr>
        <p:spPr>
          <a:xfrm>
            <a:off x="4846320" y="2523744"/>
            <a:ext cx="4114800" cy="713232"/>
          </a:xfrm>
          <a:prstGeom prst="rect">
            <a:avLst/>
          </a:prstGeom>
          <a:solidFill>
            <a:srgbClr val="161B22"/>
          </a:solidFill>
          <a:ln w="12700">
            <a:solidFill>
              <a:srgbClr val="9B59B6"/>
            </a:solidFill>
            <a:prstDash val="solid"/>
          </a:ln>
        </p:spPr>
      </p:sp>
      <p:sp>
        <p:nvSpPr>
          <p:cNvPr id="35" name="Shape 33"/>
          <p:cNvSpPr/>
          <p:nvPr/>
        </p:nvSpPr>
        <p:spPr>
          <a:xfrm>
            <a:off x="4846320" y="2523744"/>
            <a:ext cx="457200" cy="713232"/>
          </a:xfrm>
          <a:prstGeom prst="rect">
            <a:avLst/>
          </a:prstGeom>
          <a:solidFill>
            <a:srgbClr val="9B59B6"/>
          </a:solidFill>
          <a:ln w="12700">
            <a:solidFill>
              <a:srgbClr val="9B59B6"/>
            </a:solidFill>
            <a:prstDash val="solid"/>
          </a:ln>
        </p:spPr>
      </p:sp>
      <p:sp>
        <p:nvSpPr>
          <p:cNvPr id="36" name="Text 34"/>
          <p:cNvSpPr/>
          <p:nvPr/>
        </p:nvSpPr>
        <p:spPr>
          <a:xfrm>
            <a:off x="4846320" y="2523744"/>
            <a:ext cx="457200" cy="7132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V6</a:t>
            </a:r>
            <a:endParaRPr lang="en-US" sz="1000" dirty="0"/>
          </a:p>
        </p:txBody>
      </p:sp>
      <p:sp>
        <p:nvSpPr>
          <p:cNvPr id="37" name="Text 35"/>
          <p:cNvSpPr/>
          <p:nvPr/>
        </p:nvSpPr>
        <p:spPr>
          <a:xfrm>
            <a:off x="5376672" y="2523744"/>
            <a:ext cx="2468880" cy="713232"/>
          </a:xfrm>
          <a:prstGeom prst="rect">
            <a:avLst/>
          </a:prstGeom>
          <a:noFill/>
          <a:ln/>
        </p:spPr>
        <p:txBody>
          <a:bodyPr wrap="square" lIns="0" tIns="0" rIns="0" bIns="0" rtlCol="0" anchor="ctr"/>
          <a:lstStyle/>
          <a:p>
            <a:pPr indent="0" marL="0">
              <a:buNone/>
            </a:pPr>
            <a:r>
              <a:rPr lang="en-US" sz="1300" b="1" dirty="0">
                <a:solidFill>
                  <a:srgbClr val="E6EDF3"/>
                </a:solidFill>
                <a:latin typeface="Calibri" pitchFamily="34" charset="0"/>
                <a:ea typeface="Calibri" pitchFamily="34" charset="-122"/>
                <a:cs typeface="Calibri" pitchFamily="34" charset="-120"/>
              </a:rPr>
              <a:t>Denial of Service</a:t>
            </a:r>
            <a:endParaRPr lang="en-US" sz="1300" dirty="0"/>
          </a:p>
        </p:txBody>
      </p:sp>
      <p:sp>
        <p:nvSpPr>
          <p:cNvPr id="38" name="Shape 36"/>
          <p:cNvSpPr/>
          <p:nvPr/>
        </p:nvSpPr>
        <p:spPr>
          <a:xfrm>
            <a:off x="7909560" y="2688336"/>
            <a:ext cx="914400" cy="384048"/>
          </a:xfrm>
          <a:prstGeom prst="rect">
            <a:avLst/>
          </a:prstGeom>
          <a:solidFill>
            <a:srgbClr val="000000"/>
          </a:solidFill>
          <a:ln w="12700">
            <a:solidFill>
              <a:srgbClr val="9B59B6"/>
            </a:solidFill>
            <a:prstDash val="solid"/>
          </a:ln>
        </p:spPr>
      </p:sp>
      <p:sp>
        <p:nvSpPr>
          <p:cNvPr id="39" name="Text 37"/>
          <p:cNvSpPr/>
          <p:nvPr/>
        </p:nvSpPr>
        <p:spPr>
          <a:xfrm>
            <a:off x="7909560" y="2688336"/>
            <a:ext cx="914400" cy="384048"/>
          </a:xfrm>
          <a:prstGeom prst="rect">
            <a:avLst/>
          </a:prstGeom>
          <a:noFill/>
          <a:ln/>
        </p:spPr>
        <p:txBody>
          <a:bodyPr wrap="square" lIns="0" tIns="0" rIns="0" bIns="0" rtlCol="0" anchor="ctr"/>
          <a:lstStyle/>
          <a:p>
            <a:pPr algn="ctr" indent="0" marL="0">
              <a:buNone/>
            </a:pPr>
            <a:r>
              <a:rPr lang="en-US" sz="1000" b="1" dirty="0">
                <a:solidFill>
                  <a:srgbClr val="9B59B6"/>
                </a:solidFill>
                <a:latin typeface="Calibri" pitchFamily="34" charset="0"/>
                <a:ea typeface="Calibri" pitchFamily="34" charset="-122"/>
                <a:cs typeface="Calibri" pitchFamily="34" charset="-120"/>
              </a:rPr>
              <a:t>Avail.</a:t>
            </a:r>
            <a:endParaRPr lang="en-US" sz="1000" dirty="0"/>
          </a:p>
        </p:txBody>
      </p:sp>
      <p:sp>
        <p:nvSpPr>
          <p:cNvPr id="40" name="Shape 38"/>
          <p:cNvSpPr/>
          <p:nvPr/>
        </p:nvSpPr>
        <p:spPr>
          <a:xfrm>
            <a:off x="365760" y="3364992"/>
            <a:ext cx="4114800" cy="713232"/>
          </a:xfrm>
          <a:prstGeom prst="rect">
            <a:avLst/>
          </a:prstGeom>
          <a:solidFill>
            <a:srgbClr val="161B22"/>
          </a:solidFill>
          <a:ln w="12700">
            <a:solidFill>
              <a:srgbClr val="D29922"/>
            </a:solidFill>
            <a:prstDash val="solid"/>
          </a:ln>
        </p:spPr>
      </p:sp>
      <p:sp>
        <p:nvSpPr>
          <p:cNvPr id="41" name="Shape 39"/>
          <p:cNvSpPr/>
          <p:nvPr/>
        </p:nvSpPr>
        <p:spPr>
          <a:xfrm>
            <a:off x="365760" y="3364992"/>
            <a:ext cx="457200" cy="713232"/>
          </a:xfrm>
          <a:prstGeom prst="rect">
            <a:avLst/>
          </a:prstGeom>
          <a:solidFill>
            <a:srgbClr val="D29922"/>
          </a:solidFill>
          <a:ln w="12700">
            <a:solidFill>
              <a:srgbClr val="D29922"/>
            </a:solidFill>
            <a:prstDash val="solid"/>
          </a:ln>
        </p:spPr>
      </p:sp>
      <p:sp>
        <p:nvSpPr>
          <p:cNvPr id="42" name="Text 40"/>
          <p:cNvSpPr/>
          <p:nvPr/>
        </p:nvSpPr>
        <p:spPr>
          <a:xfrm>
            <a:off x="365760" y="3364992"/>
            <a:ext cx="457200" cy="7132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V7</a:t>
            </a:r>
            <a:endParaRPr lang="en-US" sz="1000" dirty="0"/>
          </a:p>
        </p:txBody>
      </p:sp>
      <p:sp>
        <p:nvSpPr>
          <p:cNvPr id="43" name="Text 41"/>
          <p:cNvSpPr/>
          <p:nvPr/>
        </p:nvSpPr>
        <p:spPr>
          <a:xfrm>
            <a:off x="896112" y="3364992"/>
            <a:ext cx="2468880" cy="713232"/>
          </a:xfrm>
          <a:prstGeom prst="rect">
            <a:avLst/>
          </a:prstGeom>
          <a:noFill/>
          <a:ln/>
        </p:spPr>
        <p:txBody>
          <a:bodyPr wrap="square" lIns="0" tIns="0" rIns="0" bIns="0" rtlCol="0" anchor="ctr"/>
          <a:lstStyle/>
          <a:p>
            <a:pPr indent="0" marL="0">
              <a:buNone/>
            </a:pPr>
            <a:r>
              <a:rPr lang="en-US" sz="1300" b="1" dirty="0">
                <a:solidFill>
                  <a:srgbClr val="E6EDF3"/>
                </a:solidFill>
                <a:latin typeface="Calibri" pitchFamily="34" charset="0"/>
                <a:ea typeface="Calibri" pitchFamily="34" charset="-122"/>
                <a:cs typeface="Calibri" pitchFamily="34" charset="-120"/>
              </a:rPr>
              <a:t>Over-Privileged Function</a:t>
            </a:r>
            <a:endParaRPr lang="en-US" sz="1300" dirty="0"/>
          </a:p>
        </p:txBody>
      </p:sp>
      <p:sp>
        <p:nvSpPr>
          <p:cNvPr id="44" name="Shape 42"/>
          <p:cNvSpPr/>
          <p:nvPr/>
        </p:nvSpPr>
        <p:spPr>
          <a:xfrm>
            <a:off x="3429000" y="3529584"/>
            <a:ext cx="914400" cy="384048"/>
          </a:xfrm>
          <a:prstGeom prst="rect">
            <a:avLst/>
          </a:prstGeom>
          <a:solidFill>
            <a:srgbClr val="000000"/>
          </a:solidFill>
          <a:ln w="12700">
            <a:solidFill>
              <a:srgbClr val="D29922"/>
            </a:solidFill>
            <a:prstDash val="solid"/>
          </a:ln>
        </p:spPr>
      </p:sp>
      <p:sp>
        <p:nvSpPr>
          <p:cNvPr id="45" name="Text 43"/>
          <p:cNvSpPr/>
          <p:nvPr/>
        </p:nvSpPr>
        <p:spPr>
          <a:xfrm>
            <a:off x="3429000" y="3529584"/>
            <a:ext cx="914400" cy="384048"/>
          </a:xfrm>
          <a:prstGeom prst="rect">
            <a:avLst/>
          </a:prstGeom>
          <a:noFill/>
          <a:ln/>
        </p:spPr>
        <p:txBody>
          <a:bodyPr wrap="square" lIns="0" tIns="0" rIns="0" bIns="0" rtlCol="0" anchor="ctr"/>
          <a:lstStyle/>
          <a:p>
            <a:pPr algn="ctr" indent="0" marL="0">
              <a:buNone/>
            </a:pPr>
            <a:r>
              <a:rPr lang="en-US" sz="1000" b="1" dirty="0">
                <a:solidFill>
                  <a:srgbClr val="D29922"/>
                </a:solidFill>
                <a:latin typeface="Calibri" pitchFamily="34" charset="0"/>
                <a:ea typeface="Calibri" pitchFamily="34" charset="-122"/>
                <a:cs typeface="Calibri" pitchFamily="34" charset="-120"/>
              </a:rPr>
              <a:t>IAM</a:t>
            </a:r>
            <a:endParaRPr lang="en-US" sz="1000" dirty="0"/>
          </a:p>
        </p:txBody>
      </p:sp>
      <p:sp>
        <p:nvSpPr>
          <p:cNvPr id="46" name="Shape 44"/>
          <p:cNvSpPr/>
          <p:nvPr/>
        </p:nvSpPr>
        <p:spPr>
          <a:xfrm>
            <a:off x="4846320" y="3364992"/>
            <a:ext cx="4114800" cy="713232"/>
          </a:xfrm>
          <a:prstGeom prst="rect">
            <a:avLst/>
          </a:prstGeom>
          <a:solidFill>
            <a:srgbClr val="161B22"/>
          </a:solidFill>
          <a:ln w="12700">
            <a:solidFill>
              <a:srgbClr val="58A6FF"/>
            </a:solidFill>
            <a:prstDash val="solid"/>
          </a:ln>
        </p:spPr>
      </p:sp>
      <p:sp>
        <p:nvSpPr>
          <p:cNvPr id="47" name="Shape 45"/>
          <p:cNvSpPr/>
          <p:nvPr/>
        </p:nvSpPr>
        <p:spPr>
          <a:xfrm>
            <a:off x="4846320" y="3364992"/>
            <a:ext cx="457200" cy="713232"/>
          </a:xfrm>
          <a:prstGeom prst="rect">
            <a:avLst/>
          </a:prstGeom>
          <a:solidFill>
            <a:srgbClr val="58A6FF"/>
          </a:solidFill>
          <a:ln w="12700">
            <a:solidFill>
              <a:srgbClr val="58A6FF"/>
            </a:solidFill>
            <a:prstDash val="solid"/>
          </a:ln>
        </p:spPr>
      </p:sp>
      <p:sp>
        <p:nvSpPr>
          <p:cNvPr id="48" name="Text 46"/>
          <p:cNvSpPr/>
          <p:nvPr/>
        </p:nvSpPr>
        <p:spPr>
          <a:xfrm>
            <a:off x="4846320" y="3364992"/>
            <a:ext cx="457200" cy="7132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V8</a:t>
            </a:r>
            <a:endParaRPr lang="en-US" sz="1000" dirty="0"/>
          </a:p>
        </p:txBody>
      </p:sp>
      <p:sp>
        <p:nvSpPr>
          <p:cNvPr id="49" name="Text 47"/>
          <p:cNvSpPr/>
          <p:nvPr/>
        </p:nvSpPr>
        <p:spPr>
          <a:xfrm>
            <a:off x="5376672" y="3364992"/>
            <a:ext cx="2468880" cy="713232"/>
          </a:xfrm>
          <a:prstGeom prst="rect">
            <a:avLst/>
          </a:prstGeom>
          <a:noFill/>
          <a:ln/>
        </p:spPr>
        <p:txBody>
          <a:bodyPr wrap="square" lIns="0" tIns="0" rIns="0" bIns="0" rtlCol="0" anchor="ctr"/>
          <a:lstStyle/>
          <a:p>
            <a:pPr indent="0" marL="0">
              <a:buNone/>
            </a:pPr>
            <a:r>
              <a:rPr lang="en-US" sz="1300" b="1" dirty="0">
                <a:solidFill>
                  <a:srgbClr val="E6EDF3"/>
                </a:solidFill>
                <a:latin typeface="Calibri" pitchFamily="34" charset="0"/>
                <a:ea typeface="Calibri" pitchFamily="34" charset="-122"/>
                <a:cs typeface="Calibri" pitchFamily="34" charset="-120"/>
              </a:rPr>
              <a:t>Logic Vulnerability</a:t>
            </a:r>
            <a:endParaRPr lang="en-US" sz="1300" dirty="0"/>
          </a:p>
        </p:txBody>
      </p:sp>
      <p:sp>
        <p:nvSpPr>
          <p:cNvPr id="50" name="Shape 48"/>
          <p:cNvSpPr/>
          <p:nvPr/>
        </p:nvSpPr>
        <p:spPr>
          <a:xfrm>
            <a:off x="7909560" y="3529584"/>
            <a:ext cx="914400" cy="384048"/>
          </a:xfrm>
          <a:prstGeom prst="rect">
            <a:avLst/>
          </a:prstGeom>
          <a:solidFill>
            <a:srgbClr val="000000"/>
          </a:solidFill>
          <a:ln w="12700">
            <a:solidFill>
              <a:srgbClr val="58A6FF"/>
            </a:solidFill>
            <a:prstDash val="solid"/>
          </a:ln>
        </p:spPr>
      </p:sp>
      <p:sp>
        <p:nvSpPr>
          <p:cNvPr id="51" name="Text 49"/>
          <p:cNvSpPr/>
          <p:nvPr/>
        </p:nvSpPr>
        <p:spPr>
          <a:xfrm>
            <a:off x="7909560" y="3529584"/>
            <a:ext cx="914400" cy="384048"/>
          </a:xfrm>
          <a:prstGeom prst="rect">
            <a:avLst/>
          </a:prstGeom>
          <a:noFill/>
          <a:ln/>
        </p:spPr>
        <p:txBody>
          <a:bodyPr wrap="square" lIns="0" tIns="0" rIns="0" bIns="0" rtlCol="0" anchor="ctr"/>
          <a:lstStyle/>
          <a:p>
            <a:pPr algn="ctr" indent="0" marL="0">
              <a:buNone/>
            </a:pPr>
            <a:r>
              <a:rPr lang="en-US" sz="1000" b="1" dirty="0">
                <a:solidFill>
                  <a:srgbClr val="58A6FF"/>
                </a:solidFill>
                <a:latin typeface="Calibri" pitchFamily="34" charset="0"/>
                <a:ea typeface="Calibri" pitchFamily="34" charset="-122"/>
                <a:cs typeface="Calibri" pitchFamily="34" charset="-120"/>
              </a:rPr>
              <a:t>Logic</a:t>
            </a:r>
            <a:endParaRPr lang="en-US" sz="1000" dirty="0"/>
          </a:p>
        </p:txBody>
      </p:sp>
      <p:sp>
        <p:nvSpPr>
          <p:cNvPr id="52" name="Shape 50"/>
          <p:cNvSpPr/>
          <p:nvPr/>
        </p:nvSpPr>
        <p:spPr>
          <a:xfrm>
            <a:off x="365760" y="4206240"/>
            <a:ext cx="4114800" cy="713232"/>
          </a:xfrm>
          <a:prstGeom prst="rect">
            <a:avLst/>
          </a:prstGeom>
          <a:solidFill>
            <a:srgbClr val="161B22"/>
          </a:solidFill>
          <a:ln w="12700">
            <a:solidFill>
              <a:srgbClr val="F78166"/>
            </a:solidFill>
            <a:prstDash val="solid"/>
          </a:ln>
        </p:spPr>
      </p:sp>
      <p:sp>
        <p:nvSpPr>
          <p:cNvPr id="53" name="Shape 51"/>
          <p:cNvSpPr/>
          <p:nvPr/>
        </p:nvSpPr>
        <p:spPr>
          <a:xfrm>
            <a:off x="365760" y="4206240"/>
            <a:ext cx="457200" cy="713232"/>
          </a:xfrm>
          <a:prstGeom prst="rect">
            <a:avLst/>
          </a:prstGeom>
          <a:solidFill>
            <a:srgbClr val="F78166"/>
          </a:solidFill>
          <a:ln w="12700">
            <a:solidFill>
              <a:srgbClr val="F78166"/>
            </a:solidFill>
            <a:prstDash val="solid"/>
          </a:ln>
        </p:spPr>
      </p:sp>
      <p:sp>
        <p:nvSpPr>
          <p:cNvPr id="54" name="Text 52"/>
          <p:cNvSpPr/>
          <p:nvPr/>
        </p:nvSpPr>
        <p:spPr>
          <a:xfrm>
            <a:off x="365760" y="4206240"/>
            <a:ext cx="457200" cy="7132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V9</a:t>
            </a:r>
            <a:endParaRPr lang="en-US" sz="1000" dirty="0"/>
          </a:p>
        </p:txBody>
      </p:sp>
      <p:sp>
        <p:nvSpPr>
          <p:cNvPr id="55" name="Text 53"/>
          <p:cNvSpPr/>
          <p:nvPr/>
        </p:nvSpPr>
        <p:spPr>
          <a:xfrm>
            <a:off x="896112" y="4206240"/>
            <a:ext cx="2468880" cy="713232"/>
          </a:xfrm>
          <a:prstGeom prst="rect">
            <a:avLst/>
          </a:prstGeom>
          <a:noFill/>
          <a:ln/>
        </p:spPr>
        <p:txBody>
          <a:bodyPr wrap="square" lIns="0" tIns="0" rIns="0" bIns="0" rtlCol="0" anchor="ctr"/>
          <a:lstStyle/>
          <a:p>
            <a:pPr indent="0" marL="0">
              <a:buNone/>
            </a:pPr>
            <a:r>
              <a:rPr lang="en-US" sz="1300" b="1" dirty="0">
                <a:solidFill>
                  <a:srgbClr val="E6EDF3"/>
                </a:solidFill>
                <a:latin typeface="Calibri" pitchFamily="34" charset="0"/>
                <a:ea typeface="Calibri" pitchFamily="34" charset="-122"/>
                <a:cs typeface="Calibri" pitchFamily="34" charset="-120"/>
              </a:rPr>
              <a:t>Vulnerable Dependencies</a:t>
            </a:r>
            <a:endParaRPr lang="en-US" sz="1300" dirty="0"/>
          </a:p>
        </p:txBody>
      </p:sp>
      <p:sp>
        <p:nvSpPr>
          <p:cNvPr id="56" name="Shape 54"/>
          <p:cNvSpPr/>
          <p:nvPr/>
        </p:nvSpPr>
        <p:spPr>
          <a:xfrm>
            <a:off x="3429000" y="4370832"/>
            <a:ext cx="914400" cy="384048"/>
          </a:xfrm>
          <a:prstGeom prst="rect">
            <a:avLst/>
          </a:prstGeom>
          <a:solidFill>
            <a:srgbClr val="000000"/>
          </a:solidFill>
          <a:ln w="12700">
            <a:solidFill>
              <a:srgbClr val="F78166"/>
            </a:solidFill>
            <a:prstDash val="solid"/>
          </a:ln>
        </p:spPr>
      </p:sp>
      <p:sp>
        <p:nvSpPr>
          <p:cNvPr id="57" name="Text 55"/>
          <p:cNvSpPr/>
          <p:nvPr/>
        </p:nvSpPr>
        <p:spPr>
          <a:xfrm>
            <a:off x="3429000" y="4370832"/>
            <a:ext cx="914400" cy="384048"/>
          </a:xfrm>
          <a:prstGeom prst="rect">
            <a:avLst/>
          </a:prstGeom>
          <a:noFill/>
          <a:ln/>
        </p:spPr>
        <p:txBody>
          <a:bodyPr wrap="square" lIns="0" tIns="0" rIns="0" bIns="0" rtlCol="0" anchor="ctr"/>
          <a:lstStyle/>
          <a:p>
            <a:pPr algn="ctr" indent="0" marL="0">
              <a:buNone/>
            </a:pPr>
            <a:r>
              <a:rPr lang="en-US" sz="1000" b="1" dirty="0">
                <a:solidFill>
                  <a:srgbClr val="F78166"/>
                </a:solidFill>
                <a:latin typeface="Calibri" pitchFamily="34" charset="0"/>
                <a:ea typeface="Calibri" pitchFamily="34" charset="-122"/>
                <a:cs typeface="Calibri" pitchFamily="34" charset="-120"/>
              </a:rPr>
              <a:t>RCE</a:t>
            </a:r>
            <a:endParaRPr lang="en-US" sz="1000" dirty="0"/>
          </a:p>
        </p:txBody>
      </p:sp>
      <p:sp>
        <p:nvSpPr>
          <p:cNvPr id="58" name="Shape 56"/>
          <p:cNvSpPr/>
          <p:nvPr/>
        </p:nvSpPr>
        <p:spPr>
          <a:xfrm>
            <a:off x="4846320" y="4206240"/>
            <a:ext cx="4114800" cy="713232"/>
          </a:xfrm>
          <a:prstGeom prst="rect">
            <a:avLst/>
          </a:prstGeom>
          <a:solidFill>
            <a:srgbClr val="161B22"/>
          </a:solidFill>
          <a:ln w="12700">
            <a:solidFill>
              <a:srgbClr val="58A6FF"/>
            </a:solidFill>
            <a:prstDash val="solid"/>
          </a:ln>
        </p:spPr>
      </p:sp>
      <p:sp>
        <p:nvSpPr>
          <p:cNvPr id="59" name="Shape 57"/>
          <p:cNvSpPr/>
          <p:nvPr/>
        </p:nvSpPr>
        <p:spPr>
          <a:xfrm>
            <a:off x="4846320" y="4206240"/>
            <a:ext cx="457200" cy="713232"/>
          </a:xfrm>
          <a:prstGeom prst="rect">
            <a:avLst/>
          </a:prstGeom>
          <a:solidFill>
            <a:srgbClr val="58A6FF"/>
          </a:solidFill>
          <a:ln w="12700">
            <a:solidFill>
              <a:srgbClr val="58A6FF"/>
            </a:solidFill>
            <a:prstDash val="solid"/>
          </a:ln>
        </p:spPr>
      </p:sp>
      <p:sp>
        <p:nvSpPr>
          <p:cNvPr id="60" name="Text 58"/>
          <p:cNvSpPr/>
          <p:nvPr/>
        </p:nvSpPr>
        <p:spPr>
          <a:xfrm>
            <a:off x="4846320" y="4206240"/>
            <a:ext cx="457200" cy="7132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V10</a:t>
            </a:r>
            <a:endParaRPr lang="en-US" sz="1000" dirty="0"/>
          </a:p>
        </p:txBody>
      </p:sp>
      <p:sp>
        <p:nvSpPr>
          <p:cNvPr id="61" name="Text 59"/>
          <p:cNvSpPr/>
          <p:nvPr/>
        </p:nvSpPr>
        <p:spPr>
          <a:xfrm>
            <a:off x="5376672" y="4206240"/>
            <a:ext cx="2468880" cy="713232"/>
          </a:xfrm>
          <a:prstGeom prst="rect">
            <a:avLst/>
          </a:prstGeom>
          <a:noFill/>
          <a:ln/>
        </p:spPr>
        <p:txBody>
          <a:bodyPr wrap="square" lIns="0" tIns="0" rIns="0" bIns="0" rtlCol="0" anchor="ctr"/>
          <a:lstStyle/>
          <a:p>
            <a:pPr indent="0" marL="0">
              <a:buNone/>
            </a:pPr>
            <a:r>
              <a:rPr lang="en-US" sz="1300" b="1" dirty="0">
                <a:solidFill>
                  <a:srgbClr val="E6EDF3"/>
                </a:solidFill>
                <a:latin typeface="Calibri" pitchFamily="34" charset="0"/>
                <a:ea typeface="Calibri" pitchFamily="34" charset="-122"/>
                <a:cs typeface="Calibri" pitchFamily="34" charset="-120"/>
              </a:rPr>
              <a:t>Unhandled Exceptions</a:t>
            </a:r>
            <a:endParaRPr lang="en-US" sz="1300" dirty="0"/>
          </a:p>
        </p:txBody>
      </p:sp>
      <p:sp>
        <p:nvSpPr>
          <p:cNvPr id="62" name="Shape 60"/>
          <p:cNvSpPr/>
          <p:nvPr/>
        </p:nvSpPr>
        <p:spPr>
          <a:xfrm>
            <a:off x="7909560" y="4370832"/>
            <a:ext cx="914400" cy="384048"/>
          </a:xfrm>
          <a:prstGeom prst="rect">
            <a:avLst/>
          </a:prstGeom>
          <a:solidFill>
            <a:srgbClr val="000000"/>
          </a:solidFill>
          <a:ln w="12700">
            <a:solidFill>
              <a:srgbClr val="58A6FF"/>
            </a:solidFill>
            <a:prstDash val="solid"/>
          </a:ln>
        </p:spPr>
      </p:sp>
      <p:sp>
        <p:nvSpPr>
          <p:cNvPr id="63" name="Text 61"/>
          <p:cNvSpPr/>
          <p:nvPr/>
        </p:nvSpPr>
        <p:spPr>
          <a:xfrm>
            <a:off x="7909560" y="4370832"/>
            <a:ext cx="914400" cy="384048"/>
          </a:xfrm>
          <a:prstGeom prst="rect">
            <a:avLst/>
          </a:prstGeom>
          <a:noFill/>
          <a:ln/>
        </p:spPr>
        <p:txBody>
          <a:bodyPr wrap="square" lIns="0" tIns="0" rIns="0" bIns="0" rtlCol="0" anchor="ctr"/>
          <a:lstStyle/>
          <a:p>
            <a:pPr algn="ctr" indent="0" marL="0">
              <a:buNone/>
            </a:pPr>
            <a:r>
              <a:rPr lang="en-US" sz="1000" b="1" dirty="0">
                <a:solidFill>
                  <a:srgbClr val="58A6FF"/>
                </a:solidFill>
                <a:latin typeface="Calibri" pitchFamily="34" charset="0"/>
                <a:ea typeface="Calibri" pitchFamily="34" charset="-122"/>
                <a:cs typeface="Calibri" pitchFamily="34" charset="-120"/>
              </a:rPr>
              <a:t>Info Leak</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78166"/>
          </a:solidFill>
          <a:ln w="12700">
            <a:solidFill>
              <a:srgbClr val="F78166"/>
            </a:solidFill>
            <a:prstDash val="solid"/>
          </a:ln>
        </p:spPr>
      </p:sp>
      <p:sp>
        <p:nvSpPr>
          <p:cNvPr id="3" name="Shape 1"/>
          <p:cNvSpPr/>
          <p:nvPr/>
        </p:nvSpPr>
        <p:spPr>
          <a:xfrm>
            <a:off x="457200" y="137160"/>
            <a:ext cx="658368" cy="475488"/>
          </a:xfrm>
          <a:prstGeom prst="rect">
            <a:avLst/>
          </a:prstGeom>
          <a:solidFill>
            <a:srgbClr val="F78166"/>
          </a:solidFill>
          <a:ln w="12700">
            <a:solidFill>
              <a:srgbClr val="F78166"/>
            </a:solidFill>
            <a:prstDash val="solid"/>
          </a:ln>
        </p:spPr>
      </p:sp>
      <p:sp>
        <p:nvSpPr>
          <p:cNvPr id="4" name="Text 2"/>
          <p:cNvSpPr/>
          <p:nvPr/>
        </p:nvSpPr>
        <p:spPr>
          <a:xfrm>
            <a:off x="457200" y="137160"/>
            <a:ext cx="65836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V1</a:t>
            </a:r>
            <a:endParaRPr lang="en-US" sz="1400" dirty="0"/>
          </a:p>
        </p:txBody>
      </p:sp>
      <p:sp>
        <p:nvSpPr>
          <p:cNvPr id="5" name="Text 3"/>
          <p:cNvSpPr/>
          <p:nvPr/>
        </p:nvSpPr>
        <p:spPr>
          <a:xfrm>
            <a:off x="1188720" y="137160"/>
            <a:ext cx="7498080" cy="475488"/>
          </a:xfrm>
          <a:prstGeom prst="rect">
            <a:avLst/>
          </a:prstGeom>
          <a:noFill/>
          <a:ln/>
        </p:spPr>
        <p:txBody>
          <a:bodyPr wrap="square" lIns="0" tIns="0" rIns="0" bIns="0" rtlCol="0" anchor="ctr"/>
          <a:lstStyle/>
          <a:p>
            <a:pPr indent="0" marL="0">
              <a:buNone/>
            </a:pPr>
            <a:r>
              <a:rPr lang="en-US" sz="2200" b="1" dirty="0">
                <a:solidFill>
                  <a:srgbClr val="E6EDF3"/>
                </a:solidFill>
                <a:latin typeface="Calibri" pitchFamily="34" charset="0"/>
                <a:ea typeface="Calibri" pitchFamily="34" charset="-122"/>
                <a:cs typeface="Calibri" pitchFamily="34" charset="-120"/>
              </a:rPr>
              <a:t>Event Injection / Code Injection</a:t>
            </a:r>
            <a:endParaRPr lang="en-US" sz="2200" dirty="0"/>
          </a:p>
        </p:txBody>
      </p:sp>
      <p:sp>
        <p:nvSpPr>
          <p:cNvPr id="6" name="Shape 4"/>
          <p:cNvSpPr/>
          <p:nvPr/>
        </p:nvSpPr>
        <p:spPr>
          <a:xfrm>
            <a:off x="457200" y="749808"/>
            <a:ext cx="4114800" cy="256032"/>
          </a:xfrm>
          <a:prstGeom prst="rect">
            <a:avLst/>
          </a:prstGeom>
          <a:solidFill>
            <a:srgbClr val="F78166">
              <a:alpha val="15000"/>
            </a:srgbClr>
          </a:solidFill>
          <a:ln w="12700">
            <a:solidFill>
              <a:srgbClr val="F78166"/>
            </a:solidFill>
            <a:prstDash val="solid"/>
          </a:ln>
        </p:spPr>
      </p:sp>
      <p:sp>
        <p:nvSpPr>
          <p:cNvPr id="7" name="Text 5"/>
          <p:cNvSpPr/>
          <p:nvPr/>
        </p:nvSpPr>
        <p:spPr>
          <a:xfrm>
            <a:off x="530352" y="749808"/>
            <a:ext cx="4114800" cy="256032"/>
          </a:xfrm>
          <a:prstGeom prst="rect">
            <a:avLst/>
          </a:prstGeom>
          <a:noFill/>
          <a:ln/>
        </p:spPr>
        <p:txBody>
          <a:bodyPr wrap="square" lIns="0" tIns="0" rIns="0" bIns="0" rtlCol="0" anchor="ctr"/>
          <a:lstStyle/>
          <a:p>
            <a:pPr indent="0" marL="0">
              <a:buNone/>
            </a:pPr>
            <a:r>
              <a:rPr lang="en-US" sz="1100" b="1" dirty="0">
                <a:solidFill>
                  <a:srgbClr val="F78166"/>
                </a:solidFill>
                <a:latin typeface="Calibri" pitchFamily="34" charset="0"/>
                <a:ea typeface="Calibri" pitchFamily="34" charset="-122"/>
                <a:cs typeface="Calibri" pitchFamily="34" charset="-120"/>
              </a:rPr>
              <a:t>Summary</a:t>
            </a:r>
            <a:endParaRPr lang="en-US" sz="1100" dirty="0"/>
          </a:p>
        </p:txBody>
      </p:sp>
      <p:sp>
        <p:nvSpPr>
          <p:cNvPr id="8" name="Shape 6"/>
          <p:cNvSpPr/>
          <p:nvPr/>
        </p:nvSpPr>
        <p:spPr>
          <a:xfrm>
            <a:off x="457200" y="1005840"/>
            <a:ext cx="4114800" cy="1005840"/>
          </a:xfrm>
          <a:prstGeom prst="rect">
            <a:avLst/>
          </a:prstGeom>
          <a:solidFill>
            <a:srgbClr val="161B22"/>
          </a:solidFill>
          <a:ln w="12700">
            <a:solidFill>
              <a:srgbClr val="30363D"/>
            </a:solidFill>
            <a:prstDash val="solid"/>
          </a:ln>
        </p:spPr>
      </p:sp>
      <p:sp>
        <p:nvSpPr>
          <p:cNvPr id="9" name="Text 7"/>
          <p:cNvSpPr/>
          <p:nvPr/>
        </p:nvSpPr>
        <p:spPr>
          <a:xfrm>
            <a:off x="548640" y="1024128"/>
            <a:ext cx="3931920" cy="969264"/>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A normal user can inject JavaScript code into the request body. The DVSA-ORDER-MANAGER Lambda uses node-serialize for deserialization, causing attacker-controlled input to execute inside the function.</a:t>
            </a:r>
            <a:endParaRPr lang="en-US" sz="1100" dirty="0"/>
          </a:p>
        </p:txBody>
      </p:sp>
      <p:sp>
        <p:nvSpPr>
          <p:cNvPr id="10" name="Shape 8"/>
          <p:cNvSpPr/>
          <p:nvPr/>
        </p:nvSpPr>
        <p:spPr>
          <a:xfrm>
            <a:off x="457200" y="2103120"/>
            <a:ext cx="4114800" cy="256032"/>
          </a:xfrm>
          <a:prstGeom prst="rect">
            <a:avLst/>
          </a:prstGeom>
          <a:solidFill>
            <a:srgbClr val="D29922">
              <a:alpha val="15000"/>
            </a:srgbClr>
          </a:solidFill>
          <a:ln w="12700">
            <a:solidFill>
              <a:srgbClr val="D29922"/>
            </a:solidFill>
            <a:prstDash val="solid"/>
          </a:ln>
        </p:spPr>
      </p:sp>
      <p:sp>
        <p:nvSpPr>
          <p:cNvPr id="11" name="Text 9"/>
          <p:cNvSpPr/>
          <p:nvPr/>
        </p:nvSpPr>
        <p:spPr>
          <a:xfrm>
            <a:off x="530352" y="2103120"/>
            <a:ext cx="4114800" cy="256032"/>
          </a:xfrm>
          <a:prstGeom prst="rect">
            <a:avLst/>
          </a:prstGeom>
          <a:noFill/>
          <a:ln/>
        </p:spPr>
        <p:txBody>
          <a:bodyPr wrap="square" lIns="0" tIns="0" rIns="0" bIns="0" rtlCol="0" anchor="ctr"/>
          <a:lstStyle/>
          <a:p>
            <a:pPr indent="0" marL="0">
              <a:buNone/>
            </a:pPr>
            <a:r>
              <a:rPr lang="en-US" sz="1100" b="1" dirty="0">
                <a:solidFill>
                  <a:srgbClr val="D29922"/>
                </a:solidFill>
                <a:latin typeface="Calibri" pitchFamily="34" charset="0"/>
                <a:ea typeface="Calibri" pitchFamily="34" charset="-122"/>
                <a:cs typeface="Calibri" pitchFamily="34" charset="-120"/>
              </a:rPr>
              <a:t>Root Cause</a:t>
            </a:r>
            <a:endParaRPr lang="en-US" sz="1100" dirty="0"/>
          </a:p>
        </p:txBody>
      </p:sp>
      <p:sp>
        <p:nvSpPr>
          <p:cNvPr id="12" name="Shape 10"/>
          <p:cNvSpPr/>
          <p:nvPr/>
        </p:nvSpPr>
        <p:spPr>
          <a:xfrm>
            <a:off x="457200" y="2359152"/>
            <a:ext cx="4114800" cy="777240"/>
          </a:xfrm>
          <a:prstGeom prst="rect">
            <a:avLst/>
          </a:prstGeom>
          <a:solidFill>
            <a:srgbClr val="161B22"/>
          </a:solidFill>
          <a:ln w="12700">
            <a:solidFill>
              <a:srgbClr val="30363D"/>
            </a:solidFill>
            <a:prstDash val="solid"/>
          </a:ln>
        </p:spPr>
      </p:sp>
      <p:sp>
        <p:nvSpPr>
          <p:cNvPr id="13" name="Text 11"/>
          <p:cNvSpPr/>
          <p:nvPr/>
        </p:nvSpPr>
        <p:spPr>
          <a:xfrm>
            <a:off x="548640" y="2377440"/>
            <a:ext cx="3931920" cy="740664"/>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node-serialize supports a $$ND_FUNC$$ marker that automatically evaluates embedded functions. The backend called serialize.unserialize(event.body) directly on untrusted input — treating data as executable code.</a:t>
            </a:r>
            <a:endParaRPr lang="en-US" sz="1100" dirty="0"/>
          </a:p>
        </p:txBody>
      </p:sp>
      <p:sp>
        <p:nvSpPr>
          <p:cNvPr id="14" name="Shape 12"/>
          <p:cNvSpPr/>
          <p:nvPr/>
        </p:nvSpPr>
        <p:spPr>
          <a:xfrm>
            <a:off x="457200" y="3218688"/>
            <a:ext cx="4114800" cy="256032"/>
          </a:xfrm>
          <a:prstGeom prst="rect">
            <a:avLst/>
          </a:prstGeom>
          <a:solidFill>
            <a:srgbClr val="58A6FF">
              <a:alpha val="15000"/>
            </a:srgbClr>
          </a:solidFill>
          <a:ln w="12700">
            <a:solidFill>
              <a:srgbClr val="58A6FF"/>
            </a:solidFill>
            <a:prstDash val="solid"/>
          </a:ln>
        </p:spPr>
      </p:sp>
      <p:sp>
        <p:nvSpPr>
          <p:cNvPr id="15" name="Text 13"/>
          <p:cNvSpPr/>
          <p:nvPr/>
        </p:nvSpPr>
        <p:spPr>
          <a:xfrm>
            <a:off x="530352" y="3218688"/>
            <a:ext cx="4114800" cy="256032"/>
          </a:xfrm>
          <a:prstGeom prst="rect">
            <a:avLst/>
          </a:prstGeom>
          <a:noFill/>
          <a:ln/>
        </p:spPr>
        <p:txBody>
          <a:bodyPr wrap="square" lIns="0" tIns="0" rIns="0" bIns="0" rtlCol="0" anchor="ctr"/>
          <a:lstStyle/>
          <a:p>
            <a:pPr indent="0" marL="0">
              <a:buNone/>
            </a:pPr>
            <a:r>
              <a:rPr lang="en-US" sz="1100" b="1" dirty="0">
                <a:solidFill>
                  <a:srgbClr val="58A6FF"/>
                </a:solidFill>
                <a:latin typeface="Calibri" pitchFamily="34" charset="0"/>
                <a:ea typeface="Calibri" pitchFamily="34" charset="-122"/>
                <a:cs typeface="Calibri" pitchFamily="34" charset="-120"/>
              </a:rPr>
              <a:t>Deviation Class</a:t>
            </a:r>
            <a:endParaRPr lang="en-US" sz="1100" dirty="0"/>
          </a:p>
        </p:txBody>
      </p:sp>
      <p:sp>
        <p:nvSpPr>
          <p:cNvPr id="16" name="Shape 14"/>
          <p:cNvSpPr/>
          <p:nvPr/>
        </p:nvSpPr>
        <p:spPr>
          <a:xfrm>
            <a:off x="457200" y="3474720"/>
            <a:ext cx="4114800" cy="457200"/>
          </a:xfrm>
          <a:prstGeom prst="rect">
            <a:avLst/>
          </a:prstGeom>
          <a:solidFill>
            <a:srgbClr val="161B22"/>
          </a:solidFill>
          <a:ln w="12700">
            <a:solidFill>
              <a:srgbClr val="30363D"/>
            </a:solidFill>
            <a:prstDash val="solid"/>
          </a:ln>
        </p:spPr>
      </p:sp>
      <p:sp>
        <p:nvSpPr>
          <p:cNvPr id="17" name="Text 15"/>
          <p:cNvSpPr/>
          <p:nvPr/>
        </p:nvSpPr>
        <p:spPr>
          <a:xfrm>
            <a:off x="548640" y="3493008"/>
            <a:ext cx="3931920" cy="420624"/>
          </a:xfrm>
          <a:prstGeom prst="rect">
            <a:avLst/>
          </a:prstGeom>
          <a:noFill/>
          <a:ln/>
        </p:spPr>
        <p:txBody>
          <a:bodyPr wrap="square" lIns="0" tIns="0" rIns="0" bIns="0" rtlCol="0" anchor="ctr"/>
          <a:lstStyle/>
          <a:p>
            <a:pPr indent="0" marL="0">
              <a:buNone/>
            </a:pPr>
            <a:r>
              <a:rPr lang="en-US" sz="1100" b="1" dirty="0">
                <a:solidFill>
                  <a:srgbClr val="58A6FF"/>
                </a:solidFill>
                <a:latin typeface="Calibri" pitchFamily="34" charset="0"/>
                <a:ea typeface="Calibri" pitchFamily="34" charset="-122"/>
                <a:cs typeface="Calibri" pitchFamily="34" charset="-120"/>
              </a:rPr>
              <a:t>Intentional misuse / Unsafe deserialization / RCE</a:t>
            </a:r>
            <a:endParaRPr lang="en-US" sz="1100" dirty="0"/>
          </a:p>
        </p:txBody>
      </p:sp>
      <p:sp>
        <p:nvSpPr>
          <p:cNvPr id="18" name="Shape 16"/>
          <p:cNvSpPr/>
          <p:nvPr/>
        </p:nvSpPr>
        <p:spPr>
          <a:xfrm>
            <a:off x="4754880" y="749808"/>
            <a:ext cx="4114800" cy="256032"/>
          </a:xfrm>
          <a:prstGeom prst="rect">
            <a:avLst/>
          </a:prstGeom>
          <a:solidFill>
            <a:srgbClr val="000000"/>
          </a:solidFill>
          <a:ln w="12700">
            <a:solidFill>
              <a:srgbClr val="3FB950"/>
            </a:solidFill>
            <a:prstDash val="solid"/>
          </a:ln>
        </p:spPr>
      </p:sp>
      <p:sp>
        <p:nvSpPr>
          <p:cNvPr id="19" name="Text 17"/>
          <p:cNvSpPr/>
          <p:nvPr/>
        </p:nvSpPr>
        <p:spPr>
          <a:xfrm>
            <a:off x="4828032" y="749808"/>
            <a:ext cx="4114800" cy="256032"/>
          </a:xfrm>
          <a:prstGeom prst="rect">
            <a:avLst/>
          </a:prstGeom>
          <a:noFill/>
          <a:ln/>
        </p:spPr>
        <p:txBody>
          <a:bodyPr wrap="square" lIns="0" tIns="0" rIns="0" bIns="0" rtlCol="0" anchor="ctr"/>
          <a:lstStyle/>
          <a:p>
            <a:pPr indent="0" marL="0">
              <a:buNone/>
            </a:pPr>
            <a:r>
              <a:rPr lang="en-US" sz="1100" b="1" dirty="0">
                <a:solidFill>
                  <a:srgbClr val="3FB950"/>
                </a:solidFill>
                <a:latin typeface="Calibri" pitchFamily="34" charset="0"/>
                <a:ea typeface="Calibri" pitchFamily="34" charset="-122"/>
                <a:cs typeface="Calibri" pitchFamily="34" charset="-120"/>
              </a:rPr>
              <a:t>Fix Applied</a:t>
            </a:r>
            <a:endParaRPr lang="en-US" sz="1100" dirty="0"/>
          </a:p>
        </p:txBody>
      </p:sp>
      <p:sp>
        <p:nvSpPr>
          <p:cNvPr id="20" name="Shape 18"/>
          <p:cNvSpPr/>
          <p:nvPr/>
        </p:nvSpPr>
        <p:spPr>
          <a:xfrm>
            <a:off x="4754880" y="1005840"/>
            <a:ext cx="4114800" cy="868680"/>
          </a:xfrm>
          <a:prstGeom prst="rect">
            <a:avLst/>
          </a:prstGeom>
          <a:solidFill>
            <a:srgbClr val="161B22"/>
          </a:solidFill>
          <a:ln w="12700">
            <a:solidFill>
              <a:srgbClr val="30363D"/>
            </a:solidFill>
            <a:prstDash val="solid"/>
          </a:ln>
        </p:spPr>
      </p:sp>
      <p:sp>
        <p:nvSpPr>
          <p:cNvPr id="21" name="Text 19"/>
          <p:cNvSpPr/>
          <p:nvPr/>
        </p:nvSpPr>
        <p:spPr>
          <a:xfrm>
            <a:off x="4846320" y="1024128"/>
            <a:ext cx="3931920" cy="832104"/>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Removed node-serialize entirely. Replaced with JSON.parse(event.body). Added an allowlist validation for the 'action' field. Wrapped parsing in try/catch. Raw headers accessed via event.headers directly.</a:t>
            </a:r>
            <a:endParaRPr lang="en-US" sz="1100" dirty="0"/>
          </a:p>
        </p:txBody>
      </p:sp>
      <p:sp>
        <p:nvSpPr>
          <p:cNvPr id="22" name="Shape 20"/>
          <p:cNvSpPr/>
          <p:nvPr/>
        </p:nvSpPr>
        <p:spPr>
          <a:xfrm>
            <a:off x="4754880" y="1947672"/>
            <a:ext cx="4114800" cy="256032"/>
          </a:xfrm>
          <a:prstGeom prst="rect">
            <a:avLst/>
          </a:prstGeom>
          <a:solidFill>
            <a:srgbClr val="3FB950">
              <a:alpha val="15000"/>
            </a:srgbClr>
          </a:solidFill>
          <a:ln w="12700">
            <a:solidFill>
              <a:srgbClr val="3FB950"/>
            </a:solidFill>
            <a:prstDash val="solid"/>
          </a:ln>
        </p:spPr>
      </p:sp>
      <p:sp>
        <p:nvSpPr>
          <p:cNvPr id="23" name="Text 21"/>
          <p:cNvSpPr/>
          <p:nvPr/>
        </p:nvSpPr>
        <p:spPr>
          <a:xfrm>
            <a:off x="4828032" y="1947672"/>
            <a:ext cx="4114800" cy="256032"/>
          </a:xfrm>
          <a:prstGeom prst="rect">
            <a:avLst/>
          </a:prstGeom>
          <a:noFill/>
          <a:ln/>
        </p:spPr>
        <p:txBody>
          <a:bodyPr wrap="square" lIns="0" tIns="0" rIns="0" bIns="0" rtlCol="0" anchor="ctr"/>
          <a:lstStyle/>
          <a:p>
            <a:pPr indent="0" marL="0">
              <a:buNone/>
            </a:pPr>
            <a:r>
              <a:rPr lang="en-US" sz="1100" b="1" dirty="0">
                <a:solidFill>
                  <a:srgbClr val="3FB950"/>
                </a:solidFill>
                <a:latin typeface="Calibri" pitchFamily="34" charset="0"/>
                <a:ea typeface="Calibri" pitchFamily="34" charset="-122"/>
                <a:cs typeface="Calibri" pitchFamily="34" charset="-120"/>
              </a:rPr>
              <a:t>Code / Config Change</a:t>
            </a:r>
            <a:endParaRPr lang="en-US" sz="1100" dirty="0"/>
          </a:p>
        </p:txBody>
      </p:sp>
      <p:sp>
        <p:nvSpPr>
          <p:cNvPr id="24" name="Shape 22"/>
          <p:cNvSpPr/>
          <p:nvPr/>
        </p:nvSpPr>
        <p:spPr>
          <a:xfrm>
            <a:off x="4754880" y="2203704"/>
            <a:ext cx="4114800" cy="1097280"/>
          </a:xfrm>
          <a:prstGeom prst="rect">
            <a:avLst/>
          </a:prstGeom>
          <a:solidFill>
            <a:srgbClr val="0D1117"/>
          </a:solidFill>
          <a:ln w="12700">
            <a:solidFill>
              <a:srgbClr val="30363D"/>
            </a:solidFill>
            <a:prstDash val="solid"/>
          </a:ln>
        </p:spPr>
      </p:sp>
      <p:sp>
        <p:nvSpPr>
          <p:cNvPr id="25" name="Text 23"/>
          <p:cNvSpPr/>
          <p:nvPr/>
        </p:nvSpPr>
        <p:spPr>
          <a:xfrm>
            <a:off x="4846320" y="2221992"/>
            <a:ext cx="3931920" cy="1060704"/>
          </a:xfrm>
          <a:prstGeom prst="rect">
            <a:avLst/>
          </a:prstGeom>
          <a:noFill/>
          <a:ln/>
        </p:spPr>
        <p:txBody>
          <a:bodyPr wrap="square" lIns="0" tIns="0" rIns="0" bIns="0" rtlCol="0" anchor="t"/>
          <a:lstStyle/>
          <a:p>
            <a:pPr indent="0" marL="0">
              <a:buNone/>
            </a:pPr>
            <a:r>
              <a:rPr lang="en-US" sz="950" dirty="0">
                <a:solidFill>
                  <a:srgbClr val="3FB950"/>
                </a:solidFill>
                <a:latin typeface="Consolas" pitchFamily="34" charset="0"/>
                <a:ea typeface="Consolas" pitchFamily="34" charset="-122"/>
                <a:cs typeface="Consolas" pitchFamily="34" charset="-120"/>
              </a:rPr>
              <a:t>BEFORE: serialize.unserialize(event.body)</a:t>
            </a:r>
            <a:endParaRPr lang="en-US" sz="950" dirty="0"/>
          </a:p>
          <a:p>
            <a:pPr indent="0" marL="0">
              <a:buNone/>
            </a:pP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AFTER:</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req = JSON.parse(event.body)</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 + allowlist check on req.action</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if (!allowedActions.includes(action))</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  return 403 Unauthorized action</a:t>
            </a:r>
            <a:endParaRPr lang="en-US" sz="950" dirty="0"/>
          </a:p>
        </p:txBody>
      </p:sp>
      <p:sp>
        <p:nvSpPr>
          <p:cNvPr id="26" name="Shape 24"/>
          <p:cNvSpPr/>
          <p:nvPr/>
        </p:nvSpPr>
        <p:spPr>
          <a:xfrm>
            <a:off x="4754880" y="3383280"/>
            <a:ext cx="4114800" cy="256032"/>
          </a:xfrm>
          <a:prstGeom prst="rect">
            <a:avLst/>
          </a:prstGeom>
          <a:solidFill>
            <a:srgbClr val="58A6FF">
              <a:alpha val="15000"/>
            </a:srgbClr>
          </a:solidFill>
          <a:ln w="12700">
            <a:solidFill>
              <a:srgbClr val="58A6FF"/>
            </a:solidFill>
            <a:prstDash val="solid"/>
          </a:ln>
        </p:spPr>
      </p:sp>
      <p:sp>
        <p:nvSpPr>
          <p:cNvPr id="27" name="Text 25"/>
          <p:cNvSpPr/>
          <p:nvPr/>
        </p:nvSpPr>
        <p:spPr>
          <a:xfrm>
            <a:off x="4828032" y="3383280"/>
            <a:ext cx="4114800" cy="256032"/>
          </a:xfrm>
          <a:prstGeom prst="rect">
            <a:avLst/>
          </a:prstGeom>
          <a:noFill/>
          <a:ln/>
        </p:spPr>
        <p:txBody>
          <a:bodyPr wrap="square" lIns="0" tIns="0" rIns="0" bIns="0" rtlCol="0" anchor="ctr"/>
          <a:lstStyle/>
          <a:p>
            <a:pPr indent="0" marL="0">
              <a:buNone/>
            </a:pPr>
            <a:r>
              <a:rPr lang="en-US" sz="1100" b="1" dirty="0">
                <a:solidFill>
                  <a:srgbClr val="58A6FF"/>
                </a:solidFill>
                <a:latin typeface="Calibri" pitchFamily="34" charset="0"/>
                <a:ea typeface="Calibri" pitchFamily="34" charset="-122"/>
                <a:cs typeface="Calibri" pitchFamily="34" charset="-120"/>
              </a:rPr>
              <a:t>Post-Fix Verification</a:t>
            </a:r>
            <a:endParaRPr lang="en-US" sz="1100" dirty="0"/>
          </a:p>
        </p:txBody>
      </p:sp>
      <p:sp>
        <p:nvSpPr>
          <p:cNvPr id="28" name="Shape 26"/>
          <p:cNvSpPr/>
          <p:nvPr/>
        </p:nvSpPr>
        <p:spPr>
          <a:xfrm>
            <a:off x="4754880" y="3639312"/>
            <a:ext cx="4114800" cy="566928"/>
          </a:xfrm>
          <a:prstGeom prst="rect">
            <a:avLst/>
          </a:prstGeom>
          <a:solidFill>
            <a:srgbClr val="161B22"/>
          </a:solidFill>
          <a:ln w="12700">
            <a:solidFill>
              <a:srgbClr val="30363D"/>
            </a:solidFill>
            <a:prstDash val="solid"/>
          </a:ln>
        </p:spPr>
      </p:sp>
      <p:sp>
        <p:nvSpPr>
          <p:cNvPr id="29" name="Text 27"/>
          <p:cNvSpPr/>
          <p:nvPr/>
        </p:nvSpPr>
        <p:spPr>
          <a:xfrm>
            <a:off x="4846320" y="3657600"/>
            <a:ext cx="3931920" cy="530352"/>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Same malicious $$ND_FUNC$$ payload now returns {status:'err', msg:'Unauthorized action'}. CloudWatch shows no injected error — confirming code execution is fully blocked.</a:t>
            </a:r>
            <a:endParaRPr lang="en-US" sz="1100" dirty="0"/>
          </a:p>
        </p:txBody>
      </p:sp>
      <p:sp>
        <p:nvSpPr>
          <p:cNvPr id="30" name="Shape 28"/>
          <p:cNvSpPr/>
          <p:nvPr/>
        </p:nvSpPr>
        <p:spPr>
          <a:xfrm>
            <a:off x="0" y="5097780"/>
            <a:ext cx="9144000" cy="45720"/>
          </a:xfrm>
          <a:prstGeom prst="rect">
            <a:avLst/>
          </a:prstGeom>
          <a:solidFill>
            <a:srgbClr val="161B22"/>
          </a:solidFill>
          <a:ln w="12700">
            <a:solidFill>
              <a:srgbClr val="161B22"/>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78166"/>
          </a:solidFill>
          <a:ln w="12700">
            <a:solidFill>
              <a:srgbClr val="F78166"/>
            </a:solidFill>
            <a:prstDash val="solid"/>
          </a:ln>
        </p:spPr>
      </p:sp>
      <p:sp>
        <p:nvSpPr>
          <p:cNvPr id="3" name="Shape 1"/>
          <p:cNvSpPr/>
          <p:nvPr/>
        </p:nvSpPr>
        <p:spPr>
          <a:xfrm>
            <a:off x="457200" y="137160"/>
            <a:ext cx="658368" cy="475488"/>
          </a:xfrm>
          <a:prstGeom prst="rect">
            <a:avLst/>
          </a:prstGeom>
          <a:solidFill>
            <a:srgbClr val="F78166"/>
          </a:solidFill>
          <a:ln w="12700">
            <a:solidFill>
              <a:srgbClr val="F78166"/>
            </a:solidFill>
            <a:prstDash val="solid"/>
          </a:ln>
        </p:spPr>
      </p:sp>
      <p:sp>
        <p:nvSpPr>
          <p:cNvPr id="4" name="Text 2"/>
          <p:cNvSpPr/>
          <p:nvPr/>
        </p:nvSpPr>
        <p:spPr>
          <a:xfrm>
            <a:off x="457200" y="137160"/>
            <a:ext cx="65836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V2</a:t>
            </a:r>
            <a:endParaRPr lang="en-US" sz="1400" dirty="0"/>
          </a:p>
        </p:txBody>
      </p:sp>
      <p:sp>
        <p:nvSpPr>
          <p:cNvPr id="5" name="Text 3"/>
          <p:cNvSpPr/>
          <p:nvPr/>
        </p:nvSpPr>
        <p:spPr>
          <a:xfrm>
            <a:off x="1188720" y="137160"/>
            <a:ext cx="7498080" cy="475488"/>
          </a:xfrm>
          <a:prstGeom prst="rect">
            <a:avLst/>
          </a:prstGeom>
          <a:noFill/>
          <a:ln/>
        </p:spPr>
        <p:txBody>
          <a:bodyPr wrap="square" lIns="0" tIns="0" rIns="0" bIns="0" rtlCol="0" anchor="ctr"/>
          <a:lstStyle/>
          <a:p>
            <a:pPr indent="0" marL="0">
              <a:buNone/>
            </a:pPr>
            <a:r>
              <a:rPr lang="en-US" sz="2200" b="1" dirty="0">
                <a:solidFill>
                  <a:srgbClr val="E6EDF3"/>
                </a:solidFill>
                <a:latin typeface="Calibri" pitchFamily="34" charset="0"/>
                <a:ea typeface="Calibri" pitchFamily="34" charset="-122"/>
                <a:cs typeface="Calibri" pitchFamily="34" charset="-120"/>
              </a:rPr>
              <a:t>Broken Authentication</a:t>
            </a:r>
            <a:endParaRPr lang="en-US" sz="2200" dirty="0"/>
          </a:p>
        </p:txBody>
      </p:sp>
      <p:sp>
        <p:nvSpPr>
          <p:cNvPr id="6" name="Shape 4"/>
          <p:cNvSpPr/>
          <p:nvPr/>
        </p:nvSpPr>
        <p:spPr>
          <a:xfrm>
            <a:off x="457200" y="749808"/>
            <a:ext cx="4114800" cy="256032"/>
          </a:xfrm>
          <a:prstGeom prst="rect">
            <a:avLst/>
          </a:prstGeom>
          <a:solidFill>
            <a:srgbClr val="F78166">
              <a:alpha val="15000"/>
            </a:srgbClr>
          </a:solidFill>
          <a:ln w="12700">
            <a:solidFill>
              <a:srgbClr val="F78166"/>
            </a:solidFill>
            <a:prstDash val="solid"/>
          </a:ln>
        </p:spPr>
      </p:sp>
      <p:sp>
        <p:nvSpPr>
          <p:cNvPr id="7" name="Text 5"/>
          <p:cNvSpPr/>
          <p:nvPr/>
        </p:nvSpPr>
        <p:spPr>
          <a:xfrm>
            <a:off x="530352" y="749808"/>
            <a:ext cx="4114800" cy="256032"/>
          </a:xfrm>
          <a:prstGeom prst="rect">
            <a:avLst/>
          </a:prstGeom>
          <a:noFill/>
          <a:ln/>
        </p:spPr>
        <p:txBody>
          <a:bodyPr wrap="square" lIns="0" tIns="0" rIns="0" bIns="0" rtlCol="0" anchor="ctr"/>
          <a:lstStyle/>
          <a:p>
            <a:pPr indent="0" marL="0">
              <a:buNone/>
            </a:pPr>
            <a:r>
              <a:rPr lang="en-US" sz="1100" b="1" dirty="0">
                <a:solidFill>
                  <a:srgbClr val="F78166"/>
                </a:solidFill>
                <a:latin typeface="Calibri" pitchFamily="34" charset="0"/>
                <a:ea typeface="Calibri" pitchFamily="34" charset="-122"/>
                <a:cs typeface="Calibri" pitchFamily="34" charset="-120"/>
              </a:rPr>
              <a:t>Summary</a:t>
            </a:r>
            <a:endParaRPr lang="en-US" sz="1100" dirty="0"/>
          </a:p>
        </p:txBody>
      </p:sp>
      <p:sp>
        <p:nvSpPr>
          <p:cNvPr id="8" name="Shape 6"/>
          <p:cNvSpPr/>
          <p:nvPr/>
        </p:nvSpPr>
        <p:spPr>
          <a:xfrm>
            <a:off x="457200" y="1005840"/>
            <a:ext cx="4114800" cy="1005840"/>
          </a:xfrm>
          <a:prstGeom prst="rect">
            <a:avLst/>
          </a:prstGeom>
          <a:solidFill>
            <a:srgbClr val="161B22"/>
          </a:solidFill>
          <a:ln w="12700">
            <a:solidFill>
              <a:srgbClr val="30363D"/>
            </a:solidFill>
            <a:prstDash val="solid"/>
          </a:ln>
        </p:spPr>
      </p:sp>
      <p:sp>
        <p:nvSpPr>
          <p:cNvPr id="9" name="Text 7"/>
          <p:cNvSpPr/>
          <p:nvPr/>
        </p:nvSpPr>
        <p:spPr>
          <a:xfrm>
            <a:off x="548640" y="1024128"/>
            <a:ext cx="3931920" cy="969264"/>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A normal user (User B) can modify their JWT payload to replace username/sub with another user's identity (User C). The backend trusted the decoded payload without verifying the cryptographic signature.</a:t>
            </a:r>
            <a:endParaRPr lang="en-US" sz="1100" dirty="0"/>
          </a:p>
        </p:txBody>
      </p:sp>
      <p:sp>
        <p:nvSpPr>
          <p:cNvPr id="10" name="Shape 8"/>
          <p:cNvSpPr/>
          <p:nvPr/>
        </p:nvSpPr>
        <p:spPr>
          <a:xfrm>
            <a:off x="457200" y="2103120"/>
            <a:ext cx="4114800" cy="256032"/>
          </a:xfrm>
          <a:prstGeom prst="rect">
            <a:avLst/>
          </a:prstGeom>
          <a:solidFill>
            <a:srgbClr val="D29922">
              <a:alpha val="15000"/>
            </a:srgbClr>
          </a:solidFill>
          <a:ln w="12700">
            <a:solidFill>
              <a:srgbClr val="D29922"/>
            </a:solidFill>
            <a:prstDash val="solid"/>
          </a:ln>
        </p:spPr>
      </p:sp>
      <p:sp>
        <p:nvSpPr>
          <p:cNvPr id="11" name="Text 9"/>
          <p:cNvSpPr/>
          <p:nvPr/>
        </p:nvSpPr>
        <p:spPr>
          <a:xfrm>
            <a:off x="530352" y="2103120"/>
            <a:ext cx="4114800" cy="256032"/>
          </a:xfrm>
          <a:prstGeom prst="rect">
            <a:avLst/>
          </a:prstGeom>
          <a:noFill/>
          <a:ln/>
        </p:spPr>
        <p:txBody>
          <a:bodyPr wrap="square" lIns="0" tIns="0" rIns="0" bIns="0" rtlCol="0" anchor="ctr"/>
          <a:lstStyle/>
          <a:p>
            <a:pPr indent="0" marL="0">
              <a:buNone/>
            </a:pPr>
            <a:r>
              <a:rPr lang="en-US" sz="1100" b="1" dirty="0">
                <a:solidFill>
                  <a:srgbClr val="D29922"/>
                </a:solidFill>
                <a:latin typeface="Calibri" pitchFamily="34" charset="0"/>
                <a:ea typeface="Calibri" pitchFamily="34" charset="-122"/>
                <a:cs typeface="Calibri" pitchFamily="34" charset="-120"/>
              </a:rPr>
              <a:t>Root Cause</a:t>
            </a:r>
            <a:endParaRPr lang="en-US" sz="1100" dirty="0"/>
          </a:p>
        </p:txBody>
      </p:sp>
      <p:sp>
        <p:nvSpPr>
          <p:cNvPr id="12" name="Shape 10"/>
          <p:cNvSpPr/>
          <p:nvPr/>
        </p:nvSpPr>
        <p:spPr>
          <a:xfrm>
            <a:off x="457200" y="2359152"/>
            <a:ext cx="4114800" cy="777240"/>
          </a:xfrm>
          <a:prstGeom prst="rect">
            <a:avLst/>
          </a:prstGeom>
          <a:solidFill>
            <a:srgbClr val="161B22"/>
          </a:solidFill>
          <a:ln w="12700">
            <a:solidFill>
              <a:srgbClr val="30363D"/>
            </a:solidFill>
            <a:prstDash val="solid"/>
          </a:ln>
        </p:spPr>
      </p:sp>
      <p:sp>
        <p:nvSpPr>
          <p:cNvPr id="13" name="Text 11"/>
          <p:cNvSpPr/>
          <p:nvPr/>
        </p:nvSpPr>
        <p:spPr>
          <a:xfrm>
            <a:off x="548640" y="2377440"/>
            <a:ext cx="3931920" cy="740664"/>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The backend decoded the JWT payload using base64 and used token.username directly — without verifying the signature. Decoding is NOT the same as verifying. Any attacker can alter payload claims freely.</a:t>
            </a:r>
            <a:endParaRPr lang="en-US" sz="1100" dirty="0"/>
          </a:p>
        </p:txBody>
      </p:sp>
      <p:sp>
        <p:nvSpPr>
          <p:cNvPr id="14" name="Shape 12"/>
          <p:cNvSpPr/>
          <p:nvPr/>
        </p:nvSpPr>
        <p:spPr>
          <a:xfrm>
            <a:off x="457200" y="3218688"/>
            <a:ext cx="4114800" cy="256032"/>
          </a:xfrm>
          <a:prstGeom prst="rect">
            <a:avLst/>
          </a:prstGeom>
          <a:solidFill>
            <a:srgbClr val="58A6FF">
              <a:alpha val="15000"/>
            </a:srgbClr>
          </a:solidFill>
          <a:ln w="12700">
            <a:solidFill>
              <a:srgbClr val="58A6FF"/>
            </a:solidFill>
            <a:prstDash val="solid"/>
          </a:ln>
        </p:spPr>
      </p:sp>
      <p:sp>
        <p:nvSpPr>
          <p:cNvPr id="15" name="Text 13"/>
          <p:cNvSpPr/>
          <p:nvPr/>
        </p:nvSpPr>
        <p:spPr>
          <a:xfrm>
            <a:off x="530352" y="3218688"/>
            <a:ext cx="4114800" cy="256032"/>
          </a:xfrm>
          <a:prstGeom prst="rect">
            <a:avLst/>
          </a:prstGeom>
          <a:noFill/>
          <a:ln/>
        </p:spPr>
        <p:txBody>
          <a:bodyPr wrap="square" lIns="0" tIns="0" rIns="0" bIns="0" rtlCol="0" anchor="ctr"/>
          <a:lstStyle/>
          <a:p>
            <a:pPr indent="0" marL="0">
              <a:buNone/>
            </a:pPr>
            <a:r>
              <a:rPr lang="en-US" sz="1100" b="1" dirty="0">
                <a:solidFill>
                  <a:srgbClr val="58A6FF"/>
                </a:solidFill>
                <a:latin typeface="Calibri" pitchFamily="34" charset="0"/>
                <a:ea typeface="Calibri" pitchFamily="34" charset="-122"/>
                <a:cs typeface="Calibri" pitchFamily="34" charset="-120"/>
              </a:rPr>
              <a:t>Deviation Class</a:t>
            </a:r>
            <a:endParaRPr lang="en-US" sz="1100" dirty="0"/>
          </a:p>
        </p:txBody>
      </p:sp>
      <p:sp>
        <p:nvSpPr>
          <p:cNvPr id="16" name="Shape 14"/>
          <p:cNvSpPr/>
          <p:nvPr/>
        </p:nvSpPr>
        <p:spPr>
          <a:xfrm>
            <a:off x="457200" y="3474720"/>
            <a:ext cx="4114800" cy="457200"/>
          </a:xfrm>
          <a:prstGeom prst="rect">
            <a:avLst/>
          </a:prstGeom>
          <a:solidFill>
            <a:srgbClr val="161B22"/>
          </a:solidFill>
          <a:ln w="12700">
            <a:solidFill>
              <a:srgbClr val="30363D"/>
            </a:solidFill>
            <a:prstDash val="solid"/>
          </a:ln>
        </p:spPr>
      </p:sp>
      <p:sp>
        <p:nvSpPr>
          <p:cNvPr id="17" name="Text 15"/>
          <p:cNvSpPr/>
          <p:nvPr/>
        </p:nvSpPr>
        <p:spPr>
          <a:xfrm>
            <a:off x="548640" y="3493008"/>
            <a:ext cx="3931920" cy="420624"/>
          </a:xfrm>
          <a:prstGeom prst="rect">
            <a:avLst/>
          </a:prstGeom>
          <a:noFill/>
          <a:ln/>
        </p:spPr>
        <p:txBody>
          <a:bodyPr wrap="square" lIns="0" tIns="0" rIns="0" bIns="0" rtlCol="0" anchor="ctr"/>
          <a:lstStyle/>
          <a:p>
            <a:pPr indent="0" marL="0">
              <a:buNone/>
            </a:pPr>
            <a:r>
              <a:rPr lang="en-US" sz="1100" b="1" dirty="0">
                <a:solidFill>
                  <a:srgbClr val="58A6FF"/>
                </a:solidFill>
                <a:latin typeface="Calibri" pitchFamily="34" charset="0"/>
                <a:ea typeface="Calibri" pitchFamily="34" charset="-122"/>
                <a:cs typeface="Calibri" pitchFamily="34" charset="-120"/>
              </a:rPr>
              <a:t>Intentional misuse / JWT tampering / Broken auth</a:t>
            </a:r>
            <a:endParaRPr lang="en-US" sz="1100" dirty="0"/>
          </a:p>
        </p:txBody>
      </p:sp>
      <p:sp>
        <p:nvSpPr>
          <p:cNvPr id="18" name="Shape 16"/>
          <p:cNvSpPr/>
          <p:nvPr/>
        </p:nvSpPr>
        <p:spPr>
          <a:xfrm>
            <a:off x="4754880" y="749808"/>
            <a:ext cx="4114800" cy="256032"/>
          </a:xfrm>
          <a:prstGeom prst="rect">
            <a:avLst/>
          </a:prstGeom>
          <a:solidFill>
            <a:srgbClr val="000000"/>
          </a:solidFill>
          <a:ln w="12700">
            <a:solidFill>
              <a:srgbClr val="3FB950"/>
            </a:solidFill>
            <a:prstDash val="solid"/>
          </a:ln>
        </p:spPr>
      </p:sp>
      <p:sp>
        <p:nvSpPr>
          <p:cNvPr id="19" name="Text 17"/>
          <p:cNvSpPr/>
          <p:nvPr/>
        </p:nvSpPr>
        <p:spPr>
          <a:xfrm>
            <a:off x="4828032" y="749808"/>
            <a:ext cx="4114800" cy="256032"/>
          </a:xfrm>
          <a:prstGeom prst="rect">
            <a:avLst/>
          </a:prstGeom>
          <a:noFill/>
          <a:ln/>
        </p:spPr>
        <p:txBody>
          <a:bodyPr wrap="square" lIns="0" tIns="0" rIns="0" bIns="0" rtlCol="0" anchor="ctr"/>
          <a:lstStyle/>
          <a:p>
            <a:pPr indent="0" marL="0">
              <a:buNone/>
            </a:pPr>
            <a:r>
              <a:rPr lang="en-US" sz="1100" b="1" dirty="0">
                <a:solidFill>
                  <a:srgbClr val="3FB950"/>
                </a:solidFill>
                <a:latin typeface="Calibri" pitchFamily="34" charset="0"/>
                <a:ea typeface="Calibri" pitchFamily="34" charset="-122"/>
                <a:cs typeface="Calibri" pitchFamily="34" charset="-120"/>
              </a:rPr>
              <a:t>Fix Applied</a:t>
            </a:r>
            <a:endParaRPr lang="en-US" sz="1100" dirty="0"/>
          </a:p>
        </p:txBody>
      </p:sp>
      <p:sp>
        <p:nvSpPr>
          <p:cNvPr id="20" name="Shape 18"/>
          <p:cNvSpPr/>
          <p:nvPr/>
        </p:nvSpPr>
        <p:spPr>
          <a:xfrm>
            <a:off x="4754880" y="1005840"/>
            <a:ext cx="4114800" cy="868680"/>
          </a:xfrm>
          <a:prstGeom prst="rect">
            <a:avLst/>
          </a:prstGeom>
          <a:solidFill>
            <a:srgbClr val="161B22"/>
          </a:solidFill>
          <a:ln w="12700">
            <a:solidFill>
              <a:srgbClr val="30363D"/>
            </a:solidFill>
            <a:prstDash val="solid"/>
          </a:ln>
        </p:spPr>
      </p:sp>
      <p:sp>
        <p:nvSpPr>
          <p:cNvPr id="21" name="Text 19"/>
          <p:cNvSpPr/>
          <p:nvPr/>
        </p:nvSpPr>
        <p:spPr>
          <a:xfrm>
            <a:off x="4846320" y="1024128"/>
            <a:ext cx="3931920" cy="832104"/>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Enabled the DVSA-CognitoAuthorizer on the /order POST method in API Gateway. API Gateway now verifies the JWT signature before forwarding to Lambda. Redeployed the dvsa stage.</a:t>
            </a:r>
            <a:endParaRPr lang="en-US" sz="1100" dirty="0"/>
          </a:p>
        </p:txBody>
      </p:sp>
      <p:sp>
        <p:nvSpPr>
          <p:cNvPr id="22" name="Shape 20"/>
          <p:cNvSpPr/>
          <p:nvPr/>
        </p:nvSpPr>
        <p:spPr>
          <a:xfrm>
            <a:off x="4754880" y="1947672"/>
            <a:ext cx="4114800" cy="256032"/>
          </a:xfrm>
          <a:prstGeom prst="rect">
            <a:avLst/>
          </a:prstGeom>
          <a:solidFill>
            <a:srgbClr val="3FB950">
              <a:alpha val="15000"/>
            </a:srgbClr>
          </a:solidFill>
          <a:ln w="12700">
            <a:solidFill>
              <a:srgbClr val="3FB950"/>
            </a:solidFill>
            <a:prstDash val="solid"/>
          </a:ln>
        </p:spPr>
      </p:sp>
      <p:sp>
        <p:nvSpPr>
          <p:cNvPr id="23" name="Text 21"/>
          <p:cNvSpPr/>
          <p:nvPr/>
        </p:nvSpPr>
        <p:spPr>
          <a:xfrm>
            <a:off x="4828032" y="1947672"/>
            <a:ext cx="4114800" cy="256032"/>
          </a:xfrm>
          <a:prstGeom prst="rect">
            <a:avLst/>
          </a:prstGeom>
          <a:noFill/>
          <a:ln/>
        </p:spPr>
        <p:txBody>
          <a:bodyPr wrap="square" lIns="0" tIns="0" rIns="0" bIns="0" rtlCol="0" anchor="ctr"/>
          <a:lstStyle/>
          <a:p>
            <a:pPr indent="0" marL="0">
              <a:buNone/>
            </a:pPr>
            <a:r>
              <a:rPr lang="en-US" sz="1100" b="1" dirty="0">
                <a:solidFill>
                  <a:srgbClr val="3FB950"/>
                </a:solidFill>
                <a:latin typeface="Calibri" pitchFamily="34" charset="0"/>
                <a:ea typeface="Calibri" pitchFamily="34" charset="-122"/>
                <a:cs typeface="Calibri" pitchFamily="34" charset="-120"/>
              </a:rPr>
              <a:t>Code / Config Change</a:t>
            </a:r>
            <a:endParaRPr lang="en-US" sz="1100" dirty="0"/>
          </a:p>
        </p:txBody>
      </p:sp>
      <p:sp>
        <p:nvSpPr>
          <p:cNvPr id="24" name="Shape 22"/>
          <p:cNvSpPr/>
          <p:nvPr/>
        </p:nvSpPr>
        <p:spPr>
          <a:xfrm>
            <a:off x="4754880" y="2203704"/>
            <a:ext cx="4114800" cy="1097280"/>
          </a:xfrm>
          <a:prstGeom prst="rect">
            <a:avLst/>
          </a:prstGeom>
          <a:solidFill>
            <a:srgbClr val="0D1117"/>
          </a:solidFill>
          <a:ln w="12700">
            <a:solidFill>
              <a:srgbClr val="30363D"/>
            </a:solidFill>
            <a:prstDash val="solid"/>
          </a:ln>
        </p:spPr>
      </p:sp>
      <p:sp>
        <p:nvSpPr>
          <p:cNvPr id="25" name="Text 23"/>
          <p:cNvSpPr/>
          <p:nvPr/>
        </p:nvSpPr>
        <p:spPr>
          <a:xfrm>
            <a:off x="4846320" y="2221992"/>
            <a:ext cx="3931920" cy="1060704"/>
          </a:xfrm>
          <a:prstGeom prst="rect">
            <a:avLst/>
          </a:prstGeom>
          <a:noFill/>
          <a:ln/>
        </p:spPr>
        <p:txBody>
          <a:bodyPr wrap="square" lIns="0" tIns="0" rIns="0" bIns="0" rtlCol="0" anchor="t"/>
          <a:lstStyle/>
          <a:p>
            <a:pPr indent="0" marL="0">
              <a:buNone/>
            </a:pPr>
            <a:r>
              <a:rPr lang="en-US" sz="950" dirty="0">
                <a:solidFill>
                  <a:srgbClr val="3FB950"/>
                </a:solidFill>
                <a:latin typeface="Consolas" pitchFamily="34" charset="0"/>
                <a:ea typeface="Consolas" pitchFamily="34" charset="-122"/>
                <a:cs typeface="Consolas" pitchFamily="34" charset="-120"/>
              </a:rPr>
              <a:t>API Gateway → /order → POST</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 Method Request</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 Authorization:</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   DVSA-CognitoAuthorizer</a:t>
            </a:r>
            <a:endParaRPr lang="en-US" sz="950" dirty="0"/>
          </a:p>
          <a:p>
            <a:pPr indent="0" marL="0">
              <a:buNone/>
            </a:pP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Then: Deploy API → Stage: dvsa</a:t>
            </a:r>
            <a:endParaRPr lang="en-US" sz="950" dirty="0"/>
          </a:p>
        </p:txBody>
      </p:sp>
      <p:sp>
        <p:nvSpPr>
          <p:cNvPr id="26" name="Shape 24"/>
          <p:cNvSpPr/>
          <p:nvPr/>
        </p:nvSpPr>
        <p:spPr>
          <a:xfrm>
            <a:off x="4754880" y="3383280"/>
            <a:ext cx="4114800" cy="256032"/>
          </a:xfrm>
          <a:prstGeom prst="rect">
            <a:avLst/>
          </a:prstGeom>
          <a:solidFill>
            <a:srgbClr val="58A6FF">
              <a:alpha val="15000"/>
            </a:srgbClr>
          </a:solidFill>
          <a:ln w="12700">
            <a:solidFill>
              <a:srgbClr val="58A6FF"/>
            </a:solidFill>
            <a:prstDash val="solid"/>
          </a:ln>
        </p:spPr>
      </p:sp>
      <p:sp>
        <p:nvSpPr>
          <p:cNvPr id="27" name="Text 25"/>
          <p:cNvSpPr/>
          <p:nvPr/>
        </p:nvSpPr>
        <p:spPr>
          <a:xfrm>
            <a:off x="4828032" y="3383280"/>
            <a:ext cx="4114800" cy="256032"/>
          </a:xfrm>
          <a:prstGeom prst="rect">
            <a:avLst/>
          </a:prstGeom>
          <a:noFill/>
          <a:ln/>
        </p:spPr>
        <p:txBody>
          <a:bodyPr wrap="square" lIns="0" tIns="0" rIns="0" bIns="0" rtlCol="0" anchor="ctr"/>
          <a:lstStyle/>
          <a:p>
            <a:pPr indent="0" marL="0">
              <a:buNone/>
            </a:pPr>
            <a:r>
              <a:rPr lang="en-US" sz="1100" b="1" dirty="0">
                <a:solidFill>
                  <a:srgbClr val="58A6FF"/>
                </a:solidFill>
                <a:latin typeface="Calibri" pitchFamily="34" charset="0"/>
                <a:ea typeface="Calibri" pitchFamily="34" charset="-122"/>
                <a:cs typeface="Calibri" pitchFamily="34" charset="-120"/>
              </a:rPr>
              <a:t>Post-Fix Verification</a:t>
            </a:r>
            <a:endParaRPr lang="en-US" sz="1100" dirty="0"/>
          </a:p>
        </p:txBody>
      </p:sp>
      <p:sp>
        <p:nvSpPr>
          <p:cNvPr id="28" name="Shape 26"/>
          <p:cNvSpPr/>
          <p:nvPr/>
        </p:nvSpPr>
        <p:spPr>
          <a:xfrm>
            <a:off x="4754880" y="3639312"/>
            <a:ext cx="4114800" cy="566928"/>
          </a:xfrm>
          <a:prstGeom prst="rect">
            <a:avLst/>
          </a:prstGeom>
          <a:solidFill>
            <a:srgbClr val="161B22"/>
          </a:solidFill>
          <a:ln w="12700">
            <a:solidFill>
              <a:srgbClr val="30363D"/>
            </a:solidFill>
            <a:prstDash val="solid"/>
          </a:ln>
        </p:spPr>
      </p:sp>
      <p:sp>
        <p:nvSpPr>
          <p:cNvPr id="29" name="Text 27"/>
          <p:cNvSpPr/>
          <p:nvPr/>
        </p:nvSpPr>
        <p:spPr>
          <a:xfrm>
            <a:off x="4846320" y="3657600"/>
            <a:ext cx="3931920" cy="530352"/>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Forged token (User B payload with User C identity) now returns {message:'Unauthorized'}. Valid User B token still returns correct orders — legitimate access unaffected.</a:t>
            </a:r>
            <a:endParaRPr lang="en-US" sz="1100" dirty="0"/>
          </a:p>
        </p:txBody>
      </p:sp>
      <p:sp>
        <p:nvSpPr>
          <p:cNvPr id="30" name="Shape 28"/>
          <p:cNvSpPr/>
          <p:nvPr/>
        </p:nvSpPr>
        <p:spPr>
          <a:xfrm>
            <a:off x="0" y="5097780"/>
            <a:ext cx="9144000" cy="45720"/>
          </a:xfrm>
          <a:prstGeom prst="rect">
            <a:avLst/>
          </a:prstGeom>
          <a:solidFill>
            <a:srgbClr val="161B22"/>
          </a:solidFill>
          <a:ln w="12700">
            <a:solidFill>
              <a:srgbClr val="161B22"/>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78166"/>
          </a:solidFill>
          <a:ln w="12700">
            <a:solidFill>
              <a:srgbClr val="F78166"/>
            </a:solidFill>
            <a:prstDash val="solid"/>
          </a:ln>
        </p:spPr>
      </p:sp>
      <p:sp>
        <p:nvSpPr>
          <p:cNvPr id="3" name="Shape 1"/>
          <p:cNvSpPr/>
          <p:nvPr/>
        </p:nvSpPr>
        <p:spPr>
          <a:xfrm>
            <a:off x="457200" y="137160"/>
            <a:ext cx="658368" cy="475488"/>
          </a:xfrm>
          <a:prstGeom prst="rect">
            <a:avLst/>
          </a:prstGeom>
          <a:solidFill>
            <a:srgbClr val="F78166"/>
          </a:solidFill>
          <a:ln w="12700">
            <a:solidFill>
              <a:srgbClr val="F78166"/>
            </a:solidFill>
            <a:prstDash val="solid"/>
          </a:ln>
        </p:spPr>
      </p:sp>
      <p:sp>
        <p:nvSpPr>
          <p:cNvPr id="4" name="Text 2"/>
          <p:cNvSpPr/>
          <p:nvPr/>
        </p:nvSpPr>
        <p:spPr>
          <a:xfrm>
            <a:off x="457200" y="137160"/>
            <a:ext cx="65836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V3</a:t>
            </a:r>
            <a:endParaRPr lang="en-US" sz="1400" dirty="0"/>
          </a:p>
        </p:txBody>
      </p:sp>
      <p:sp>
        <p:nvSpPr>
          <p:cNvPr id="5" name="Text 3"/>
          <p:cNvSpPr/>
          <p:nvPr/>
        </p:nvSpPr>
        <p:spPr>
          <a:xfrm>
            <a:off x="1188720" y="137160"/>
            <a:ext cx="7498080" cy="475488"/>
          </a:xfrm>
          <a:prstGeom prst="rect">
            <a:avLst/>
          </a:prstGeom>
          <a:noFill/>
          <a:ln/>
        </p:spPr>
        <p:txBody>
          <a:bodyPr wrap="square" lIns="0" tIns="0" rIns="0" bIns="0" rtlCol="0" anchor="ctr"/>
          <a:lstStyle/>
          <a:p>
            <a:pPr indent="0" marL="0">
              <a:buNone/>
            </a:pPr>
            <a:r>
              <a:rPr lang="en-US" sz="2200" b="1" dirty="0">
                <a:solidFill>
                  <a:srgbClr val="E6EDF3"/>
                </a:solidFill>
                <a:latin typeface="Calibri" pitchFamily="34" charset="0"/>
                <a:ea typeface="Calibri" pitchFamily="34" charset="-122"/>
                <a:cs typeface="Calibri" pitchFamily="34" charset="-120"/>
              </a:rPr>
              <a:t>Sensitive Information Disclosure</a:t>
            </a:r>
            <a:endParaRPr lang="en-US" sz="2200" dirty="0"/>
          </a:p>
        </p:txBody>
      </p:sp>
      <p:sp>
        <p:nvSpPr>
          <p:cNvPr id="6" name="Shape 4"/>
          <p:cNvSpPr/>
          <p:nvPr/>
        </p:nvSpPr>
        <p:spPr>
          <a:xfrm>
            <a:off x="457200" y="749808"/>
            <a:ext cx="4114800" cy="256032"/>
          </a:xfrm>
          <a:prstGeom prst="rect">
            <a:avLst/>
          </a:prstGeom>
          <a:solidFill>
            <a:srgbClr val="F78166">
              <a:alpha val="15000"/>
            </a:srgbClr>
          </a:solidFill>
          <a:ln w="12700">
            <a:solidFill>
              <a:srgbClr val="F78166"/>
            </a:solidFill>
            <a:prstDash val="solid"/>
          </a:ln>
        </p:spPr>
      </p:sp>
      <p:sp>
        <p:nvSpPr>
          <p:cNvPr id="7" name="Text 5"/>
          <p:cNvSpPr/>
          <p:nvPr/>
        </p:nvSpPr>
        <p:spPr>
          <a:xfrm>
            <a:off x="530352" y="749808"/>
            <a:ext cx="4114800" cy="256032"/>
          </a:xfrm>
          <a:prstGeom prst="rect">
            <a:avLst/>
          </a:prstGeom>
          <a:noFill/>
          <a:ln/>
        </p:spPr>
        <p:txBody>
          <a:bodyPr wrap="square" lIns="0" tIns="0" rIns="0" bIns="0" rtlCol="0" anchor="ctr"/>
          <a:lstStyle/>
          <a:p>
            <a:pPr indent="0" marL="0">
              <a:buNone/>
            </a:pPr>
            <a:r>
              <a:rPr lang="en-US" sz="1100" b="1" dirty="0">
                <a:solidFill>
                  <a:srgbClr val="F78166"/>
                </a:solidFill>
                <a:latin typeface="Calibri" pitchFamily="34" charset="0"/>
                <a:ea typeface="Calibri" pitchFamily="34" charset="-122"/>
                <a:cs typeface="Calibri" pitchFamily="34" charset="-120"/>
              </a:rPr>
              <a:t>Summary</a:t>
            </a:r>
            <a:endParaRPr lang="en-US" sz="1100" dirty="0"/>
          </a:p>
        </p:txBody>
      </p:sp>
      <p:sp>
        <p:nvSpPr>
          <p:cNvPr id="8" name="Shape 6"/>
          <p:cNvSpPr/>
          <p:nvPr/>
        </p:nvSpPr>
        <p:spPr>
          <a:xfrm>
            <a:off x="457200" y="1005840"/>
            <a:ext cx="4114800" cy="1005840"/>
          </a:xfrm>
          <a:prstGeom prst="rect">
            <a:avLst/>
          </a:prstGeom>
          <a:solidFill>
            <a:srgbClr val="161B22"/>
          </a:solidFill>
          <a:ln w="12700">
            <a:solidFill>
              <a:srgbClr val="30363D"/>
            </a:solidFill>
            <a:prstDash val="solid"/>
          </a:ln>
        </p:spPr>
      </p:sp>
      <p:sp>
        <p:nvSpPr>
          <p:cNvPr id="9" name="Text 7"/>
          <p:cNvSpPr/>
          <p:nvPr/>
        </p:nvSpPr>
        <p:spPr>
          <a:xfrm>
            <a:off x="548640" y="1024128"/>
            <a:ext cx="3931920" cy="969264"/>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Privileged admin receipt functionality (DVSA-ADMIN-GET-RECEIPT) can be accessed by a normal user to generate S3 signed URLs for other users' receipts — bypassing the intended authorization boundary.</a:t>
            </a:r>
            <a:endParaRPr lang="en-US" sz="1100" dirty="0"/>
          </a:p>
        </p:txBody>
      </p:sp>
      <p:sp>
        <p:nvSpPr>
          <p:cNvPr id="10" name="Shape 8"/>
          <p:cNvSpPr/>
          <p:nvPr/>
        </p:nvSpPr>
        <p:spPr>
          <a:xfrm>
            <a:off x="457200" y="2103120"/>
            <a:ext cx="4114800" cy="256032"/>
          </a:xfrm>
          <a:prstGeom prst="rect">
            <a:avLst/>
          </a:prstGeom>
          <a:solidFill>
            <a:srgbClr val="D29922">
              <a:alpha val="15000"/>
            </a:srgbClr>
          </a:solidFill>
          <a:ln w="12700">
            <a:solidFill>
              <a:srgbClr val="D29922"/>
            </a:solidFill>
            <a:prstDash val="solid"/>
          </a:ln>
        </p:spPr>
      </p:sp>
      <p:sp>
        <p:nvSpPr>
          <p:cNvPr id="11" name="Text 9"/>
          <p:cNvSpPr/>
          <p:nvPr/>
        </p:nvSpPr>
        <p:spPr>
          <a:xfrm>
            <a:off x="530352" y="2103120"/>
            <a:ext cx="4114800" cy="256032"/>
          </a:xfrm>
          <a:prstGeom prst="rect">
            <a:avLst/>
          </a:prstGeom>
          <a:noFill/>
          <a:ln/>
        </p:spPr>
        <p:txBody>
          <a:bodyPr wrap="square" lIns="0" tIns="0" rIns="0" bIns="0" rtlCol="0" anchor="ctr"/>
          <a:lstStyle/>
          <a:p>
            <a:pPr indent="0" marL="0">
              <a:buNone/>
            </a:pPr>
            <a:r>
              <a:rPr lang="en-US" sz="1100" b="1" dirty="0">
                <a:solidFill>
                  <a:srgbClr val="D29922"/>
                </a:solidFill>
                <a:latin typeface="Calibri" pitchFamily="34" charset="0"/>
                <a:ea typeface="Calibri" pitchFamily="34" charset="-122"/>
                <a:cs typeface="Calibri" pitchFamily="34" charset="-120"/>
              </a:rPr>
              <a:t>Root Cause</a:t>
            </a:r>
            <a:endParaRPr lang="en-US" sz="1100" dirty="0"/>
          </a:p>
        </p:txBody>
      </p:sp>
      <p:sp>
        <p:nvSpPr>
          <p:cNvPr id="12" name="Shape 10"/>
          <p:cNvSpPr/>
          <p:nvPr/>
        </p:nvSpPr>
        <p:spPr>
          <a:xfrm>
            <a:off x="457200" y="2359152"/>
            <a:ext cx="4114800" cy="777240"/>
          </a:xfrm>
          <a:prstGeom prst="rect">
            <a:avLst/>
          </a:prstGeom>
          <a:solidFill>
            <a:srgbClr val="161B22"/>
          </a:solidFill>
          <a:ln w="12700">
            <a:solidFill>
              <a:srgbClr val="30363D"/>
            </a:solidFill>
            <a:prstDash val="solid"/>
          </a:ln>
        </p:spPr>
      </p:sp>
      <p:sp>
        <p:nvSpPr>
          <p:cNvPr id="13" name="Text 11"/>
          <p:cNvSpPr/>
          <p:nvPr/>
        </p:nvSpPr>
        <p:spPr>
          <a:xfrm>
            <a:off x="548640" y="2377440"/>
            <a:ext cx="3931920" cy="740664"/>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Weak access control around the admin receipt-generation endpoint. The function did not validate that the requesting user is an admin or owns the requested order-id, allowing any authenticated user to obtain signed URLs for sensitive receipts.</a:t>
            </a:r>
            <a:endParaRPr lang="en-US" sz="1100" dirty="0"/>
          </a:p>
        </p:txBody>
      </p:sp>
      <p:sp>
        <p:nvSpPr>
          <p:cNvPr id="14" name="Shape 12"/>
          <p:cNvSpPr/>
          <p:nvPr/>
        </p:nvSpPr>
        <p:spPr>
          <a:xfrm>
            <a:off x="457200" y="3218688"/>
            <a:ext cx="4114800" cy="256032"/>
          </a:xfrm>
          <a:prstGeom prst="rect">
            <a:avLst/>
          </a:prstGeom>
          <a:solidFill>
            <a:srgbClr val="58A6FF">
              <a:alpha val="15000"/>
            </a:srgbClr>
          </a:solidFill>
          <a:ln w="12700">
            <a:solidFill>
              <a:srgbClr val="58A6FF"/>
            </a:solidFill>
            <a:prstDash val="solid"/>
          </a:ln>
        </p:spPr>
      </p:sp>
      <p:sp>
        <p:nvSpPr>
          <p:cNvPr id="15" name="Text 13"/>
          <p:cNvSpPr/>
          <p:nvPr/>
        </p:nvSpPr>
        <p:spPr>
          <a:xfrm>
            <a:off x="530352" y="3218688"/>
            <a:ext cx="4114800" cy="256032"/>
          </a:xfrm>
          <a:prstGeom prst="rect">
            <a:avLst/>
          </a:prstGeom>
          <a:noFill/>
          <a:ln/>
        </p:spPr>
        <p:txBody>
          <a:bodyPr wrap="square" lIns="0" tIns="0" rIns="0" bIns="0" rtlCol="0" anchor="ctr"/>
          <a:lstStyle/>
          <a:p>
            <a:pPr indent="0" marL="0">
              <a:buNone/>
            </a:pPr>
            <a:r>
              <a:rPr lang="en-US" sz="1100" b="1" dirty="0">
                <a:solidFill>
                  <a:srgbClr val="58A6FF"/>
                </a:solidFill>
                <a:latin typeface="Calibri" pitchFamily="34" charset="0"/>
                <a:ea typeface="Calibri" pitchFamily="34" charset="-122"/>
                <a:cs typeface="Calibri" pitchFamily="34" charset="-120"/>
              </a:rPr>
              <a:t>Deviation Class</a:t>
            </a:r>
            <a:endParaRPr lang="en-US" sz="1100" dirty="0"/>
          </a:p>
        </p:txBody>
      </p:sp>
      <p:sp>
        <p:nvSpPr>
          <p:cNvPr id="16" name="Shape 14"/>
          <p:cNvSpPr/>
          <p:nvPr/>
        </p:nvSpPr>
        <p:spPr>
          <a:xfrm>
            <a:off x="457200" y="3474720"/>
            <a:ext cx="4114800" cy="457200"/>
          </a:xfrm>
          <a:prstGeom prst="rect">
            <a:avLst/>
          </a:prstGeom>
          <a:solidFill>
            <a:srgbClr val="161B22"/>
          </a:solidFill>
          <a:ln w="12700">
            <a:solidFill>
              <a:srgbClr val="30363D"/>
            </a:solidFill>
            <a:prstDash val="solid"/>
          </a:ln>
        </p:spPr>
      </p:sp>
      <p:sp>
        <p:nvSpPr>
          <p:cNvPr id="17" name="Text 15"/>
          <p:cNvSpPr/>
          <p:nvPr/>
        </p:nvSpPr>
        <p:spPr>
          <a:xfrm>
            <a:off x="548640" y="3493008"/>
            <a:ext cx="3931920" cy="420624"/>
          </a:xfrm>
          <a:prstGeom prst="rect">
            <a:avLst/>
          </a:prstGeom>
          <a:noFill/>
          <a:ln/>
        </p:spPr>
        <p:txBody>
          <a:bodyPr wrap="square" lIns="0" tIns="0" rIns="0" bIns="0" rtlCol="0" anchor="ctr"/>
          <a:lstStyle/>
          <a:p>
            <a:pPr indent="0" marL="0">
              <a:buNone/>
            </a:pPr>
            <a:r>
              <a:rPr lang="en-US" sz="1100" b="1" dirty="0">
                <a:solidFill>
                  <a:srgbClr val="58A6FF"/>
                </a:solidFill>
                <a:latin typeface="Calibri" pitchFamily="34" charset="0"/>
                <a:ea typeface="Calibri" pitchFamily="34" charset="-122"/>
                <a:cs typeface="Calibri" pitchFamily="34" charset="-120"/>
              </a:rPr>
              <a:t>Intentional misuse / Broken access control / Info disclosure</a:t>
            </a:r>
            <a:endParaRPr lang="en-US" sz="1100" dirty="0"/>
          </a:p>
        </p:txBody>
      </p:sp>
      <p:sp>
        <p:nvSpPr>
          <p:cNvPr id="18" name="Shape 16"/>
          <p:cNvSpPr/>
          <p:nvPr/>
        </p:nvSpPr>
        <p:spPr>
          <a:xfrm>
            <a:off x="4754880" y="749808"/>
            <a:ext cx="4114800" cy="256032"/>
          </a:xfrm>
          <a:prstGeom prst="rect">
            <a:avLst/>
          </a:prstGeom>
          <a:solidFill>
            <a:srgbClr val="000000"/>
          </a:solidFill>
          <a:ln w="12700">
            <a:solidFill>
              <a:srgbClr val="3FB950"/>
            </a:solidFill>
            <a:prstDash val="solid"/>
          </a:ln>
        </p:spPr>
      </p:sp>
      <p:sp>
        <p:nvSpPr>
          <p:cNvPr id="19" name="Text 17"/>
          <p:cNvSpPr/>
          <p:nvPr/>
        </p:nvSpPr>
        <p:spPr>
          <a:xfrm>
            <a:off x="4828032" y="749808"/>
            <a:ext cx="4114800" cy="256032"/>
          </a:xfrm>
          <a:prstGeom prst="rect">
            <a:avLst/>
          </a:prstGeom>
          <a:noFill/>
          <a:ln/>
        </p:spPr>
        <p:txBody>
          <a:bodyPr wrap="square" lIns="0" tIns="0" rIns="0" bIns="0" rtlCol="0" anchor="ctr"/>
          <a:lstStyle/>
          <a:p>
            <a:pPr indent="0" marL="0">
              <a:buNone/>
            </a:pPr>
            <a:r>
              <a:rPr lang="en-US" sz="1100" b="1" dirty="0">
                <a:solidFill>
                  <a:srgbClr val="3FB950"/>
                </a:solidFill>
                <a:latin typeface="Calibri" pitchFamily="34" charset="0"/>
                <a:ea typeface="Calibri" pitchFamily="34" charset="-122"/>
                <a:cs typeface="Calibri" pitchFamily="34" charset="-120"/>
              </a:rPr>
              <a:t>Fix Applied</a:t>
            </a:r>
            <a:endParaRPr lang="en-US" sz="1100" dirty="0"/>
          </a:p>
        </p:txBody>
      </p:sp>
      <p:sp>
        <p:nvSpPr>
          <p:cNvPr id="20" name="Shape 18"/>
          <p:cNvSpPr/>
          <p:nvPr/>
        </p:nvSpPr>
        <p:spPr>
          <a:xfrm>
            <a:off x="4754880" y="1005840"/>
            <a:ext cx="4114800" cy="868680"/>
          </a:xfrm>
          <a:prstGeom prst="rect">
            <a:avLst/>
          </a:prstGeom>
          <a:solidFill>
            <a:srgbClr val="161B22"/>
          </a:solidFill>
          <a:ln w="12700">
            <a:solidFill>
              <a:srgbClr val="30363D"/>
            </a:solidFill>
            <a:prstDash val="solid"/>
          </a:ln>
        </p:spPr>
      </p:sp>
      <p:sp>
        <p:nvSpPr>
          <p:cNvPr id="21" name="Text 19"/>
          <p:cNvSpPr/>
          <p:nvPr/>
        </p:nvSpPr>
        <p:spPr>
          <a:xfrm>
            <a:off x="4846320" y="1024128"/>
            <a:ext cx="3931920" cy="832104"/>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Enforce strict authorization on receipt-generation functions. Validate isAdmin flag on the server side. Restrict signed URL generation to admin roles only. Reduce S3 bucket exposure by scoping object-level access.</a:t>
            </a:r>
            <a:endParaRPr lang="en-US" sz="1100" dirty="0"/>
          </a:p>
        </p:txBody>
      </p:sp>
      <p:sp>
        <p:nvSpPr>
          <p:cNvPr id="22" name="Shape 20"/>
          <p:cNvSpPr/>
          <p:nvPr/>
        </p:nvSpPr>
        <p:spPr>
          <a:xfrm>
            <a:off x="4754880" y="1947672"/>
            <a:ext cx="4114800" cy="256032"/>
          </a:xfrm>
          <a:prstGeom prst="rect">
            <a:avLst/>
          </a:prstGeom>
          <a:solidFill>
            <a:srgbClr val="3FB950">
              <a:alpha val="15000"/>
            </a:srgbClr>
          </a:solidFill>
          <a:ln w="12700">
            <a:solidFill>
              <a:srgbClr val="3FB950"/>
            </a:solidFill>
            <a:prstDash val="solid"/>
          </a:ln>
        </p:spPr>
      </p:sp>
      <p:sp>
        <p:nvSpPr>
          <p:cNvPr id="23" name="Text 21"/>
          <p:cNvSpPr/>
          <p:nvPr/>
        </p:nvSpPr>
        <p:spPr>
          <a:xfrm>
            <a:off x="4828032" y="1947672"/>
            <a:ext cx="4114800" cy="256032"/>
          </a:xfrm>
          <a:prstGeom prst="rect">
            <a:avLst/>
          </a:prstGeom>
          <a:noFill/>
          <a:ln/>
        </p:spPr>
        <p:txBody>
          <a:bodyPr wrap="square" lIns="0" tIns="0" rIns="0" bIns="0" rtlCol="0" anchor="ctr"/>
          <a:lstStyle/>
          <a:p>
            <a:pPr indent="0" marL="0">
              <a:buNone/>
            </a:pPr>
            <a:r>
              <a:rPr lang="en-US" sz="1100" b="1" dirty="0">
                <a:solidFill>
                  <a:srgbClr val="3FB950"/>
                </a:solidFill>
                <a:latin typeface="Calibri" pitchFamily="34" charset="0"/>
                <a:ea typeface="Calibri" pitchFamily="34" charset="-122"/>
                <a:cs typeface="Calibri" pitchFamily="34" charset="-120"/>
              </a:rPr>
              <a:t>Code / Config Change</a:t>
            </a:r>
            <a:endParaRPr lang="en-US" sz="1100" dirty="0"/>
          </a:p>
        </p:txBody>
      </p:sp>
      <p:sp>
        <p:nvSpPr>
          <p:cNvPr id="24" name="Shape 22"/>
          <p:cNvSpPr/>
          <p:nvPr/>
        </p:nvSpPr>
        <p:spPr>
          <a:xfrm>
            <a:off x="4754880" y="2203704"/>
            <a:ext cx="4114800" cy="1097280"/>
          </a:xfrm>
          <a:prstGeom prst="rect">
            <a:avLst/>
          </a:prstGeom>
          <a:solidFill>
            <a:srgbClr val="0D1117"/>
          </a:solidFill>
          <a:ln w="12700">
            <a:solidFill>
              <a:srgbClr val="30363D"/>
            </a:solidFill>
            <a:prstDash val="solid"/>
          </a:ln>
        </p:spPr>
      </p:sp>
      <p:sp>
        <p:nvSpPr>
          <p:cNvPr id="25" name="Text 23"/>
          <p:cNvSpPr/>
          <p:nvPr/>
        </p:nvSpPr>
        <p:spPr>
          <a:xfrm>
            <a:off x="4846320" y="2221992"/>
            <a:ext cx="3931920" cy="1060704"/>
          </a:xfrm>
          <a:prstGeom prst="rect">
            <a:avLst/>
          </a:prstGeom>
          <a:noFill/>
          <a:ln/>
        </p:spPr>
        <p:txBody>
          <a:bodyPr wrap="square" lIns="0" tIns="0" rIns="0" bIns="0" rtlCol="0" anchor="t"/>
          <a:lstStyle/>
          <a:p>
            <a:pPr indent="0" marL="0">
              <a:buNone/>
            </a:pPr>
            <a:r>
              <a:rPr lang="en-US" sz="950" dirty="0">
                <a:solidFill>
                  <a:srgbClr val="3FB950"/>
                </a:solidFill>
                <a:latin typeface="Consolas" pitchFamily="34" charset="0"/>
                <a:ea typeface="Consolas" pitchFamily="34" charset="-122"/>
                <a:cs typeface="Consolas" pitchFamily="34" charset="-120"/>
              </a:rPr>
              <a:t>BEFORE: No admin check on receipt action</a:t>
            </a:r>
            <a:endParaRPr lang="en-US" sz="950" dirty="0"/>
          </a:p>
          <a:p>
            <a:pPr indent="0" marL="0">
              <a:buNone/>
            </a:pP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AFTER:</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if (isAdmin !== "true") {</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  return { statusCode: 403,</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    body: JSON.stringify({</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      status:"err", msg:"Unauthorized"</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a:t>
            </a:r>
            <a:endParaRPr lang="en-US" sz="950" dirty="0"/>
          </a:p>
        </p:txBody>
      </p:sp>
      <p:sp>
        <p:nvSpPr>
          <p:cNvPr id="26" name="Shape 24"/>
          <p:cNvSpPr/>
          <p:nvPr/>
        </p:nvSpPr>
        <p:spPr>
          <a:xfrm>
            <a:off x="4754880" y="3383280"/>
            <a:ext cx="4114800" cy="256032"/>
          </a:xfrm>
          <a:prstGeom prst="rect">
            <a:avLst/>
          </a:prstGeom>
          <a:solidFill>
            <a:srgbClr val="58A6FF">
              <a:alpha val="15000"/>
            </a:srgbClr>
          </a:solidFill>
          <a:ln w="12700">
            <a:solidFill>
              <a:srgbClr val="58A6FF"/>
            </a:solidFill>
            <a:prstDash val="solid"/>
          </a:ln>
        </p:spPr>
      </p:sp>
      <p:sp>
        <p:nvSpPr>
          <p:cNvPr id="27" name="Text 25"/>
          <p:cNvSpPr/>
          <p:nvPr/>
        </p:nvSpPr>
        <p:spPr>
          <a:xfrm>
            <a:off x="4828032" y="3383280"/>
            <a:ext cx="4114800" cy="256032"/>
          </a:xfrm>
          <a:prstGeom prst="rect">
            <a:avLst/>
          </a:prstGeom>
          <a:noFill/>
          <a:ln/>
        </p:spPr>
        <p:txBody>
          <a:bodyPr wrap="square" lIns="0" tIns="0" rIns="0" bIns="0" rtlCol="0" anchor="ctr"/>
          <a:lstStyle/>
          <a:p>
            <a:pPr indent="0" marL="0">
              <a:buNone/>
            </a:pPr>
            <a:r>
              <a:rPr lang="en-US" sz="1100" b="1" dirty="0">
                <a:solidFill>
                  <a:srgbClr val="58A6FF"/>
                </a:solidFill>
                <a:latin typeface="Calibri" pitchFamily="34" charset="0"/>
                <a:ea typeface="Calibri" pitchFamily="34" charset="-122"/>
                <a:cs typeface="Calibri" pitchFamily="34" charset="-120"/>
              </a:rPr>
              <a:t>Post-Fix Verification</a:t>
            </a:r>
            <a:endParaRPr lang="en-US" sz="1100" dirty="0"/>
          </a:p>
        </p:txBody>
      </p:sp>
      <p:sp>
        <p:nvSpPr>
          <p:cNvPr id="28" name="Shape 26"/>
          <p:cNvSpPr/>
          <p:nvPr/>
        </p:nvSpPr>
        <p:spPr>
          <a:xfrm>
            <a:off x="4754880" y="3639312"/>
            <a:ext cx="4114800" cy="566928"/>
          </a:xfrm>
          <a:prstGeom prst="rect">
            <a:avLst/>
          </a:prstGeom>
          <a:solidFill>
            <a:srgbClr val="161B22"/>
          </a:solidFill>
          <a:ln w="12700">
            <a:solidFill>
              <a:srgbClr val="30363D"/>
            </a:solidFill>
            <a:prstDash val="solid"/>
          </a:ln>
        </p:spPr>
      </p:sp>
      <p:sp>
        <p:nvSpPr>
          <p:cNvPr id="29" name="Text 27"/>
          <p:cNvSpPr/>
          <p:nvPr/>
        </p:nvSpPr>
        <p:spPr>
          <a:xfrm>
            <a:off x="4846320" y="3657600"/>
            <a:ext cx="3931920" cy="530352"/>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Normal users can no longer generate signed URLs for other users' receipts. Admin operations require verified admin credentials. Unauthorized access returns 403/Unauthorized.</a:t>
            </a:r>
            <a:endParaRPr lang="en-US" sz="1100" dirty="0"/>
          </a:p>
        </p:txBody>
      </p:sp>
      <p:sp>
        <p:nvSpPr>
          <p:cNvPr id="30" name="Shape 28"/>
          <p:cNvSpPr/>
          <p:nvPr/>
        </p:nvSpPr>
        <p:spPr>
          <a:xfrm>
            <a:off x="0" y="5097780"/>
            <a:ext cx="9144000" cy="45720"/>
          </a:xfrm>
          <a:prstGeom prst="rect">
            <a:avLst/>
          </a:prstGeom>
          <a:solidFill>
            <a:srgbClr val="161B22"/>
          </a:solidFill>
          <a:ln w="12700">
            <a:solidFill>
              <a:srgbClr val="161B22"/>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78166"/>
          </a:solidFill>
          <a:ln w="12700">
            <a:solidFill>
              <a:srgbClr val="F78166"/>
            </a:solidFill>
            <a:prstDash val="solid"/>
          </a:ln>
        </p:spPr>
      </p:sp>
      <p:sp>
        <p:nvSpPr>
          <p:cNvPr id="3" name="Shape 1"/>
          <p:cNvSpPr/>
          <p:nvPr/>
        </p:nvSpPr>
        <p:spPr>
          <a:xfrm>
            <a:off x="457200" y="137160"/>
            <a:ext cx="658368" cy="475488"/>
          </a:xfrm>
          <a:prstGeom prst="rect">
            <a:avLst/>
          </a:prstGeom>
          <a:solidFill>
            <a:srgbClr val="F78166"/>
          </a:solidFill>
          <a:ln w="12700">
            <a:solidFill>
              <a:srgbClr val="F78166"/>
            </a:solidFill>
            <a:prstDash val="solid"/>
          </a:ln>
        </p:spPr>
      </p:sp>
      <p:sp>
        <p:nvSpPr>
          <p:cNvPr id="4" name="Text 2"/>
          <p:cNvSpPr/>
          <p:nvPr/>
        </p:nvSpPr>
        <p:spPr>
          <a:xfrm>
            <a:off x="457200" y="137160"/>
            <a:ext cx="65836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V4</a:t>
            </a:r>
            <a:endParaRPr lang="en-US" sz="1400" dirty="0"/>
          </a:p>
        </p:txBody>
      </p:sp>
      <p:sp>
        <p:nvSpPr>
          <p:cNvPr id="5" name="Text 3"/>
          <p:cNvSpPr/>
          <p:nvPr/>
        </p:nvSpPr>
        <p:spPr>
          <a:xfrm>
            <a:off x="1188720" y="137160"/>
            <a:ext cx="7498080" cy="475488"/>
          </a:xfrm>
          <a:prstGeom prst="rect">
            <a:avLst/>
          </a:prstGeom>
          <a:noFill/>
          <a:ln/>
        </p:spPr>
        <p:txBody>
          <a:bodyPr wrap="square" lIns="0" tIns="0" rIns="0" bIns="0" rtlCol="0" anchor="ctr"/>
          <a:lstStyle/>
          <a:p>
            <a:pPr indent="0" marL="0">
              <a:buNone/>
            </a:pPr>
            <a:r>
              <a:rPr lang="en-US" sz="2200" b="1" dirty="0">
                <a:solidFill>
                  <a:srgbClr val="E6EDF3"/>
                </a:solidFill>
                <a:latin typeface="Calibri" pitchFamily="34" charset="0"/>
                <a:ea typeface="Calibri" pitchFamily="34" charset="-122"/>
                <a:cs typeface="Calibri" pitchFamily="34" charset="-120"/>
              </a:rPr>
              <a:t>Insecure Cloud Configuration</a:t>
            </a:r>
            <a:endParaRPr lang="en-US" sz="2200" dirty="0"/>
          </a:p>
        </p:txBody>
      </p:sp>
      <p:sp>
        <p:nvSpPr>
          <p:cNvPr id="6" name="Shape 4"/>
          <p:cNvSpPr/>
          <p:nvPr/>
        </p:nvSpPr>
        <p:spPr>
          <a:xfrm>
            <a:off x="457200" y="749808"/>
            <a:ext cx="4114800" cy="256032"/>
          </a:xfrm>
          <a:prstGeom prst="rect">
            <a:avLst/>
          </a:prstGeom>
          <a:solidFill>
            <a:srgbClr val="F78166">
              <a:alpha val="15000"/>
            </a:srgbClr>
          </a:solidFill>
          <a:ln w="12700">
            <a:solidFill>
              <a:srgbClr val="F78166"/>
            </a:solidFill>
            <a:prstDash val="solid"/>
          </a:ln>
        </p:spPr>
      </p:sp>
      <p:sp>
        <p:nvSpPr>
          <p:cNvPr id="7" name="Text 5"/>
          <p:cNvSpPr/>
          <p:nvPr/>
        </p:nvSpPr>
        <p:spPr>
          <a:xfrm>
            <a:off x="530352" y="749808"/>
            <a:ext cx="4114800" cy="256032"/>
          </a:xfrm>
          <a:prstGeom prst="rect">
            <a:avLst/>
          </a:prstGeom>
          <a:noFill/>
          <a:ln/>
        </p:spPr>
        <p:txBody>
          <a:bodyPr wrap="square" lIns="0" tIns="0" rIns="0" bIns="0" rtlCol="0" anchor="ctr"/>
          <a:lstStyle/>
          <a:p>
            <a:pPr indent="0" marL="0">
              <a:buNone/>
            </a:pPr>
            <a:r>
              <a:rPr lang="en-US" sz="1100" b="1" dirty="0">
                <a:solidFill>
                  <a:srgbClr val="F78166"/>
                </a:solidFill>
                <a:latin typeface="Calibri" pitchFamily="34" charset="0"/>
                <a:ea typeface="Calibri" pitchFamily="34" charset="-122"/>
                <a:cs typeface="Calibri" pitchFamily="34" charset="-120"/>
              </a:rPr>
              <a:t>Summary</a:t>
            </a:r>
            <a:endParaRPr lang="en-US" sz="1100" dirty="0"/>
          </a:p>
        </p:txBody>
      </p:sp>
      <p:sp>
        <p:nvSpPr>
          <p:cNvPr id="8" name="Shape 6"/>
          <p:cNvSpPr/>
          <p:nvPr/>
        </p:nvSpPr>
        <p:spPr>
          <a:xfrm>
            <a:off x="457200" y="1005840"/>
            <a:ext cx="4114800" cy="1005840"/>
          </a:xfrm>
          <a:prstGeom prst="rect">
            <a:avLst/>
          </a:prstGeom>
          <a:solidFill>
            <a:srgbClr val="161B22"/>
          </a:solidFill>
          <a:ln w="12700">
            <a:solidFill>
              <a:srgbClr val="30363D"/>
            </a:solidFill>
            <a:prstDash val="solid"/>
          </a:ln>
        </p:spPr>
      </p:sp>
      <p:sp>
        <p:nvSpPr>
          <p:cNvPr id="9" name="Text 7"/>
          <p:cNvSpPr/>
          <p:nvPr/>
        </p:nvSpPr>
        <p:spPr>
          <a:xfrm>
            <a:off x="548640" y="1024128"/>
            <a:ext cx="3931920" cy="969264"/>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The DVSA S3 receipts bucket had Block Public Access disabled and write permissions open to any AWS account. Any external AWS user could upload arbitrary files to the bucket without restriction.</a:t>
            </a:r>
            <a:endParaRPr lang="en-US" sz="1100" dirty="0"/>
          </a:p>
        </p:txBody>
      </p:sp>
      <p:sp>
        <p:nvSpPr>
          <p:cNvPr id="10" name="Shape 8"/>
          <p:cNvSpPr/>
          <p:nvPr/>
        </p:nvSpPr>
        <p:spPr>
          <a:xfrm>
            <a:off x="457200" y="2103120"/>
            <a:ext cx="4114800" cy="256032"/>
          </a:xfrm>
          <a:prstGeom prst="rect">
            <a:avLst/>
          </a:prstGeom>
          <a:solidFill>
            <a:srgbClr val="D29922">
              <a:alpha val="15000"/>
            </a:srgbClr>
          </a:solidFill>
          <a:ln w="12700">
            <a:solidFill>
              <a:srgbClr val="D29922"/>
            </a:solidFill>
            <a:prstDash val="solid"/>
          </a:ln>
        </p:spPr>
      </p:sp>
      <p:sp>
        <p:nvSpPr>
          <p:cNvPr id="11" name="Text 9"/>
          <p:cNvSpPr/>
          <p:nvPr/>
        </p:nvSpPr>
        <p:spPr>
          <a:xfrm>
            <a:off x="530352" y="2103120"/>
            <a:ext cx="4114800" cy="256032"/>
          </a:xfrm>
          <a:prstGeom prst="rect">
            <a:avLst/>
          </a:prstGeom>
          <a:noFill/>
          <a:ln/>
        </p:spPr>
        <p:txBody>
          <a:bodyPr wrap="square" lIns="0" tIns="0" rIns="0" bIns="0" rtlCol="0" anchor="ctr"/>
          <a:lstStyle/>
          <a:p>
            <a:pPr indent="0" marL="0">
              <a:buNone/>
            </a:pPr>
            <a:r>
              <a:rPr lang="en-US" sz="1100" b="1" dirty="0">
                <a:solidFill>
                  <a:srgbClr val="D29922"/>
                </a:solidFill>
                <a:latin typeface="Calibri" pitchFamily="34" charset="0"/>
                <a:ea typeface="Calibri" pitchFamily="34" charset="-122"/>
                <a:cs typeface="Calibri" pitchFamily="34" charset="-120"/>
              </a:rPr>
              <a:t>Root Cause</a:t>
            </a:r>
            <a:endParaRPr lang="en-US" sz="1100" dirty="0"/>
          </a:p>
        </p:txBody>
      </p:sp>
      <p:sp>
        <p:nvSpPr>
          <p:cNvPr id="12" name="Shape 10"/>
          <p:cNvSpPr/>
          <p:nvPr/>
        </p:nvSpPr>
        <p:spPr>
          <a:xfrm>
            <a:off x="457200" y="2359152"/>
            <a:ext cx="4114800" cy="777240"/>
          </a:xfrm>
          <a:prstGeom prst="rect">
            <a:avLst/>
          </a:prstGeom>
          <a:solidFill>
            <a:srgbClr val="161B22"/>
          </a:solidFill>
          <a:ln w="12700">
            <a:solidFill>
              <a:srgbClr val="30363D"/>
            </a:solidFill>
            <a:prstDash val="solid"/>
          </a:ln>
        </p:spPr>
      </p:sp>
      <p:sp>
        <p:nvSpPr>
          <p:cNvPr id="13" name="Text 11"/>
          <p:cNvSpPr/>
          <p:nvPr/>
        </p:nvSpPr>
        <p:spPr>
          <a:xfrm>
            <a:off x="548640" y="2377440"/>
            <a:ext cx="3931920" cy="740664"/>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Improper S3 bucket configuration: Block Public Access was OFF, and bucket policy allowed external accounts write access. This violates the principle that cloud storage must not allow public write access.</a:t>
            </a:r>
            <a:endParaRPr lang="en-US" sz="1100" dirty="0"/>
          </a:p>
        </p:txBody>
      </p:sp>
      <p:sp>
        <p:nvSpPr>
          <p:cNvPr id="14" name="Shape 12"/>
          <p:cNvSpPr/>
          <p:nvPr/>
        </p:nvSpPr>
        <p:spPr>
          <a:xfrm>
            <a:off x="457200" y="3218688"/>
            <a:ext cx="4114800" cy="256032"/>
          </a:xfrm>
          <a:prstGeom prst="rect">
            <a:avLst/>
          </a:prstGeom>
          <a:solidFill>
            <a:srgbClr val="58A6FF">
              <a:alpha val="15000"/>
            </a:srgbClr>
          </a:solidFill>
          <a:ln w="12700">
            <a:solidFill>
              <a:srgbClr val="58A6FF"/>
            </a:solidFill>
            <a:prstDash val="solid"/>
          </a:ln>
        </p:spPr>
      </p:sp>
      <p:sp>
        <p:nvSpPr>
          <p:cNvPr id="15" name="Text 13"/>
          <p:cNvSpPr/>
          <p:nvPr/>
        </p:nvSpPr>
        <p:spPr>
          <a:xfrm>
            <a:off x="530352" y="3218688"/>
            <a:ext cx="4114800" cy="256032"/>
          </a:xfrm>
          <a:prstGeom prst="rect">
            <a:avLst/>
          </a:prstGeom>
          <a:noFill/>
          <a:ln/>
        </p:spPr>
        <p:txBody>
          <a:bodyPr wrap="square" lIns="0" tIns="0" rIns="0" bIns="0" rtlCol="0" anchor="ctr"/>
          <a:lstStyle/>
          <a:p>
            <a:pPr indent="0" marL="0">
              <a:buNone/>
            </a:pPr>
            <a:r>
              <a:rPr lang="en-US" sz="1100" b="1" dirty="0">
                <a:solidFill>
                  <a:srgbClr val="58A6FF"/>
                </a:solidFill>
                <a:latin typeface="Calibri" pitchFamily="34" charset="0"/>
                <a:ea typeface="Calibri" pitchFamily="34" charset="-122"/>
                <a:cs typeface="Calibri" pitchFamily="34" charset="-120"/>
              </a:rPr>
              <a:t>Deviation Class</a:t>
            </a:r>
            <a:endParaRPr lang="en-US" sz="1100" dirty="0"/>
          </a:p>
        </p:txBody>
      </p:sp>
      <p:sp>
        <p:nvSpPr>
          <p:cNvPr id="16" name="Shape 14"/>
          <p:cNvSpPr/>
          <p:nvPr/>
        </p:nvSpPr>
        <p:spPr>
          <a:xfrm>
            <a:off x="457200" y="3474720"/>
            <a:ext cx="4114800" cy="457200"/>
          </a:xfrm>
          <a:prstGeom prst="rect">
            <a:avLst/>
          </a:prstGeom>
          <a:solidFill>
            <a:srgbClr val="161B22"/>
          </a:solidFill>
          <a:ln w="12700">
            <a:solidFill>
              <a:srgbClr val="30363D"/>
            </a:solidFill>
            <a:prstDash val="solid"/>
          </a:ln>
        </p:spPr>
      </p:sp>
      <p:sp>
        <p:nvSpPr>
          <p:cNvPr id="17" name="Text 15"/>
          <p:cNvSpPr/>
          <p:nvPr/>
        </p:nvSpPr>
        <p:spPr>
          <a:xfrm>
            <a:off x="548640" y="3493008"/>
            <a:ext cx="3931920" cy="420624"/>
          </a:xfrm>
          <a:prstGeom prst="rect">
            <a:avLst/>
          </a:prstGeom>
          <a:noFill/>
          <a:ln/>
        </p:spPr>
        <p:txBody>
          <a:bodyPr wrap="square" lIns="0" tIns="0" rIns="0" bIns="0" rtlCol="0" anchor="ctr"/>
          <a:lstStyle/>
          <a:p>
            <a:pPr indent="0" marL="0">
              <a:buNone/>
            </a:pPr>
            <a:r>
              <a:rPr lang="en-US" sz="1100" b="1" dirty="0">
                <a:solidFill>
                  <a:srgbClr val="58A6FF"/>
                </a:solidFill>
                <a:latin typeface="Calibri" pitchFamily="34" charset="0"/>
                <a:ea typeface="Calibri" pitchFamily="34" charset="-122"/>
                <a:cs typeface="Calibri" pitchFamily="34" charset="-120"/>
              </a:rPr>
              <a:t>Misconfiguration / Insecure cloud storage</a:t>
            </a:r>
            <a:endParaRPr lang="en-US" sz="1100" dirty="0"/>
          </a:p>
        </p:txBody>
      </p:sp>
      <p:sp>
        <p:nvSpPr>
          <p:cNvPr id="18" name="Shape 16"/>
          <p:cNvSpPr/>
          <p:nvPr/>
        </p:nvSpPr>
        <p:spPr>
          <a:xfrm>
            <a:off x="4754880" y="749808"/>
            <a:ext cx="4114800" cy="256032"/>
          </a:xfrm>
          <a:prstGeom prst="rect">
            <a:avLst/>
          </a:prstGeom>
          <a:solidFill>
            <a:srgbClr val="000000"/>
          </a:solidFill>
          <a:ln w="12700">
            <a:solidFill>
              <a:srgbClr val="3FB950"/>
            </a:solidFill>
            <a:prstDash val="solid"/>
          </a:ln>
        </p:spPr>
      </p:sp>
      <p:sp>
        <p:nvSpPr>
          <p:cNvPr id="19" name="Text 17"/>
          <p:cNvSpPr/>
          <p:nvPr/>
        </p:nvSpPr>
        <p:spPr>
          <a:xfrm>
            <a:off x="4828032" y="749808"/>
            <a:ext cx="4114800" cy="256032"/>
          </a:xfrm>
          <a:prstGeom prst="rect">
            <a:avLst/>
          </a:prstGeom>
          <a:noFill/>
          <a:ln/>
        </p:spPr>
        <p:txBody>
          <a:bodyPr wrap="square" lIns="0" tIns="0" rIns="0" bIns="0" rtlCol="0" anchor="ctr"/>
          <a:lstStyle/>
          <a:p>
            <a:pPr indent="0" marL="0">
              <a:buNone/>
            </a:pPr>
            <a:r>
              <a:rPr lang="en-US" sz="1100" b="1" dirty="0">
                <a:solidFill>
                  <a:srgbClr val="3FB950"/>
                </a:solidFill>
                <a:latin typeface="Calibri" pitchFamily="34" charset="0"/>
                <a:ea typeface="Calibri" pitchFamily="34" charset="-122"/>
                <a:cs typeface="Calibri" pitchFamily="34" charset="-120"/>
              </a:rPr>
              <a:t>Fix Applied</a:t>
            </a:r>
            <a:endParaRPr lang="en-US" sz="1100" dirty="0"/>
          </a:p>
        </p:txBody>
      </p:sp>
      <p:sp>
        <p:nvSpPr>
          <p:cNvPr id="20" name="Shape 18"/>
          <p:cNvSpPr/>
          <p:nvPr/>
        </p:nvSpPr>
        <p:spPr>
          <a:xfrm>
            <a:off x="4754880" y="1005840"/>
            <a:ext cx="4114800" cy="868680"/>
          </a:xfrm>
          <a:prstGeom prst="rect">
            <a:avLst/>
          </a:prstGeom>
          <a:solidFill>
            <a:srgbClr val="161B22"/>
          </a:solidFill>
          <a:ln w="12700">
            <a:solidFill>
              <a:srgbClr val="30363D"/>
            </a:solidFill>
            <a:prstDash val="solid"/>
          </a:ln>
        </p:spPr>
      </p:sp>
      <p:sp>
        <p:nvSpPr>
          <p:cNvPr id="21" name="Text 19"/>
          <p:cNvSpPr/>
          <p:nvPr/>
        </p:nvSpPr>
        <p:spPr>
          <a:xfrm>
            <a:off x="4846320" y="1024128"/>
            <a:ext cx="3931920" cy="832104"/>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Enabled all four Block Public Access settings on the S3 bucket. Removed public write permissions. Restricted PutObject access to specific trusted IAM roles only.</a:t>
            </a:r>
            <a:endParaRPr lang="en-US" sz="1100" dirty="0"/>
          </a:p>
        </p:txBody>
      </p:sp>
      <p:sp>
        <p:nvSpPr>
          <p:cNvPr id="22" name="Shape 20"/>
          <p:cNvSpPr/>
          <p:nvPr/>
        </p:nvSpPr>
        <p:spPr>
          <a:xfrm>
            <a:off x="4754880" y="1947672"/>
            <a:ext cx="4114800" cy="256032"/>
          </a:xfrm>
          <a:prstGeom prst="rect">
            <a:avLst/>
          </a:prstGeom>
          <a:solidFill>
            <a:srgbClr val="3FB950">
              <a:alpha val="15000"/>
            </a:srgbClr>
          </a:solidFill>
          <a:ln w="12700">
            <a:solidFill>
              <a:srgbClr val="3FB950"/>
            </a:solidFill>
            <a:prstDash val="solid"/>
          </a:ln>
        </p:spPr>
      </p:sp>
      <p:sp>
        <p:nvSpPr>
          <p:cNvPr id="23" name="Text 21"/>
          <p:cNvSpPr/>
          <p:nvPr/>
        </p:nvSpPr>
        <p:spPr>
          <a:xfrm>
            <a:off x="4828032" y="1947672"/>
            <a:ext cx="4114800" cy="256032"/>
          </a:xfrm>
          <a:prstGeom prst="rect">
            <a:avLst/>
          </a:prstGeom>
          <a:noFill/>
          <a:ln/>
        </p:spPr>
        <p:txBody>
          <a:bodyPr wrap="square" lIns="0" tIns="0" rIns="0" bIns="0" rtlCol="0" anchor="ctr"/>
          <a:lstStyle/>
          <a:p>
            <a:pPr indent="0" marL="0">
              <a:buNone/>
            </a:pPr>
            <a:r>
              <a:rPr lang="en-US" sz="1100" b="1" dirty="0">
                <a:solidFill>
                  <a:srgbClr val="3FB950"/>
                </a:solidFill>
                <a:latin typeface="Calibri" pitchFamily="34" charset="0"/>
                <a:ea typeface="Calibri" pitchFamily="34" charset="-122"/>
                <a:cs typeface="Calibri" pitchFamily="34" charset="-120"/>
              </a:rPr>
              <a:t>Code / Config Change</a:t>
            </a:r>
            <a:endParaRPr lang="en-US" sz="1100" dirty="0"/>
          </a:p>
        </p:txBody>
      </p:sp>
      <p:sp>
        <p:nvSpPr>
          <p:cNvPr id="24" name="Shape 22"/>
          <p:cNvSpPr/>
          <p:nvPr/>
        </p:nvSpPr>
        <p:spPr>
          <a:xfrm>
            <a:off x="4754880" y="2203704"/>
            <a:ext cx="4114800" cy="1097280"/>
          </a:xfrm>
          <a:prstGeom prst="rect">
            <a:avLst/>
          </a:prstGeom>
          <a:solidFill>
            <a:srgbClr val="0D1117"/>
          </a:solidFill>
          <a:ln w="12700">
            <a:solidFill>
              <a:srgbClr val="30363D"/>
            </a:solidFill>
            <a:prstDash val="solid"/>
          </a:ln>
        </p:spPr>
      </p:sp>
      <p:sp>
        <p:nvSpPr>
          <p:cNvPr id="25" name="Text 23"/>
          <p:cNvSpPr/>
          <p:nvPr/>
        </p:nvSpPr>
        <p:spPr>
          <a:xfrm>
            <a:off x="4846320" y="2221992"/>
            <a:ext cx="3931920" cy="1060704"/>
          </a:xfrm>
          <a:prstGeom prst="rect">
            <a:avLst/>
          </a:prstGeom>
          <a:noFill/>
          <a:ln/>
        </p:spPr>
        <p:txBody>
          <a:bodyPr wrap="square" lIns="0" tIns="0" rIns="0" bIns="0" rtlCol="0" anchor="t"/>
          <a:lstStyle/>
          <a:p>
            <a:pPr indent="0" marL="0">
              <a:buNone/>
            </a:pPr>
            <a:r>
              <a:rPr lang="en-US" sz="950" dirty="0">
                <a:solidFill>
                  <a:srgbClr val="3FB950"/>
                </a:solidFill>
                <a:latin typeface="Consolas" pitchFamily="34" charset="0"/>
                <a:ea typeface="Consolas" pitchFamily="34" charset="-122"/>
                <a:cs typeface="Consolas" pitchFamily="34" charset="-120"/>
              </a:rPr>
              <a:t>BEFORE: BlockPublicAccess: OFF</a:t>
            </a:r>
            <a:endParaRPr lang="en-US" sz="950" dirty="0"/>
          </a:p>
          <a:p>
            <a:pPr indent="0" marL="0">
              <a:buNone/>
            </a:pP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AFTER (applied via AWS Console):</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 "BlockPublicAcls": true,</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 "IgnorePublicAcls": true,</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 "BlockPublicPolicy": true,</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 "RestrictPublicBuckets": true</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a:t>
            </a:r>
            <a:endParaRPr lang="en-US" sz="950" dirty="0"/>
          </a:p>
        </p:txBody>
      </p:sp>
      <p:sp>
        <p:nvSpPr>
          <p:cNvPr id="26" name="Shape 24"/>
          <p:cNvSpPr/>
          <p:nvPr/>
        </p:nvSpPr>
        <p:spPr>
          <a:xfrm>
            <a:off x="4754880" y="3383280"/>
            <a:ext cx="4114800" cy="256032"/>
          </a:xfrm>
          <a:prstGeom prst="rect">
            <a:avLst/>
          </a:prstGeom>
          <a:solidFill>
            <a:srgbClr val="58A6FF">
              <a:alpha val="15000"/>
            </a:srgbClr>
          </a:solidFill>
          <a:ln w="12700">
            <a:solidFill>
              <a:srgbClr val="58A6FF"/>
            </a:solidFill>
            <a:prstDash val="solid"/>
          </a:ln>
        </p:spPr>
      </p:sp>
      <p:sp>
        <p:nvSpPr>
          <p:cNvPr id="27" name="Text 25"/>
          <p:cNvSpPr/>
          <p:nvPr/>
        </p:nvSpPr>
        <p:spPr>
          <a:xfrm>
            <a:off x="4828032" y="3383280"/>
            <a:ext cx="4114800" cy="256032"/>
          </a:xfrm>
          <a:prstGeom prst="rect">
            <a:avLst/>
          </a:prstGeom>
          <a:noFill/>
          <a:ln/>
        </p:spPr>
        <p:txBody>
          <a:bodyPr wrap="square" lIns="0" tIns="0" rIns="0" bIns="0" rtlCol="0" anchor="ctr"/>
          <a:lstStyle/>
          <a:p>
            <a:pPr indent="0" marL="0">
              <a:buNone/>
            </a:pPr>
            <a:r>
              <a:rPr lang="en-US" sz="1100" b="1" dirty="0">
                <a:solidFill>
                  <a:srgbClr val="58A6FF"/>
                </a:solidFill>
                <a:latin typeface="Calibri" pitchFamily="34" charset="0"/>
                <a:ea typeface="Calibri" pitchFamily="34" charset="-122"/>
                <a:cs typeface="Calibri" pitchFamily="34" charset="-120"/>
              </a:rPr>
              <a:t>Post-Fix Verification</a:t>
            </a:r>
            <a:endParaRPr lang="en-US" sz="1100" dirty="0"/>
          </a:p>
        </p:txBody>
      </p:sp>
      <p:sp>
        <p:nvSpPr>
          <p:cNvPr id="28" name="Shape 26"/>
          <p:cNvSpPr/>
          <p:nvPr/>
        </p:nvSpPr>
        <p:spPr>
          <a:xfrm>
            <a:off x="4754880" y="3639312"/>
            <a:ext cx="4114800" cy="566928"/>
          </a:xfrm>
          <a:prstGeom prst="rect">
            <a:avLst/>
          </a:prstGeom>
          <a:solidFill>
            <a:srgbClr val="161B22"/>
          </a:solidFill>
          <a:ln w="12700">
            <a:solidFill>
              <a:srgbClr val="30363D"/>
            </a:solidFill>
            <a:prstDash val="solid"/>
          </a:ln>
        </p:spPr>
      </p:sp>
      <p:sp>
        <p:nvSpPr>
          <p:cNvPr id="29" name="Text 27"/>
          <p:cNvSpPr/>
          <p:nvPr/>
        </p:nvSpPr>
        <p:spPr>
          <a:xfrm>
            <a:off x="4846320" y="3657600"/>
            <a:ext cx="3931920" cy="530352"/>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Same aws s3 cp command now returns:</a:t>
            </a:r>
            <a:endParaRPr lang="en-US" sz="1100" dirty="0"/>
          </a:p>
          <a:p>
            <a:pPr indent="0" marL="0">
              <a:buNone/>
            </a:pPr>
            <a:r>
              <a:rPr lang="en-US" sz="1100" dirty="0">
                <a:solidFill>
                  <a:srgbClr val="E6EDF3"/>
                </a:solidFill>
                <a:latin typeface="Calibri" pitchFamily="34" charset="0"/>
                <a:ea typeface="Calibri" pitchFamily="34" charset="-122"/>
                <a:cs typeface="Calibri" pitchFamily="34" charset="-120"/>
              </a:rPr>
              <a:t>"AccessDenied when calling PutObject"</a:t>
            </a:r>
            <a:endParaRPr lang="en-US" sz="1100" dirty="0"/>
          </a:p>
          <a:p>
            <a:pPr indent="0" marL="0">
              <a:buNone/>
            </a:pPr>
            <a:r>
              <a:rPr lang="en-US" sz="1100" dirty="0">
                <a:solidFill>
                  <a:srgbClr val="E6EDF3"/>
                </a:solidFill>
                <a:latin typeface="Calibri" pitchFamily="34" charset="0"/>
                <a:ea typeface="Calibri" pitchFamily="34" charset="-122"/>
                <a:cs typeface="Calibri" pitchFamily="34" charset="-120"/>
              </a:rPr>
              <a:t>Only authorized internal services can upload. Bucket is no longer publicly writable.</a:t>
            </a:r>
            <a:endParaRPr lang="en-US" sz="1100" dirty="0"/>
          </a:p>
        </p:txBody>
      </p:sp>
      <p:sp>
        <p:nvSpPr>
          <p:cNvPr id="30" name="Shape 28"/>
          <p:cNvSpPr/>
          <p:nvPr/>
        </p:nvSpPr>
        <p:spPr>
          <a:xfrm>
            <a:off x="0" y="5097780"/>
            <a:ext cx="9144000" cy="45720"/>
          </a:xfrm>
          <a:prstGeom prst="rect">
            <a:avLst/>
          </a:prstGeom>
          <a:solidFill>
            <a:srgbClr val="161B22"/>
          </a:solidFill>
          <a:ln w="12700">
            <a:solidFill>
              <a:srgbClr val="161B22"/>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78166"/>
          </a:solidFill>
          <a:ln w="12700">
            <a:solidFill>
              <a:srgbClr val="F78166"/>
            </a:solidFill>
            <a:prstDash val="solid"/>
          </a:ln>
        </p:spPr>
      </p:sp>
      <p:sp>
        <p:nvSpPr>
          <p:cNvPr id="3" name="Shape 1"/>
          <p:cNvSpPr/>
          <p:nvPr/>
        </p:nvSpPr>
        <p:spPr>
          <a:xfrm>
            <a:off x="457200" y="137160"/>
            <a:ext cx="658368" cy="475488"/>
          </a:xfrm>
          <a:prstGeom prst="rect">
            <a:avLst/>
          </a:prstGeom>
          <a:solidFill>
            <a:srgbClr val="F78166"/>
          </a:solidFill>
          <a:ln w="12700">
            <a:solidFill>
              <a:srgbClr val="F78166"/>
            </a:solidFill>
            <a:prstDash val="solid"/>
          </a:ln>
        </p:spPr>
      </p:sp>
      <p:sp>
        <p:nvSpPr>
          <p:cNvPr id="4" name="Text 2"/>
          <p:cNvSpPr/>
          <p:nvPr/>
        </p:nvSpPr>
        <p:spPr>
          <a:xfrm>
            <a:off x="457200" y="137160"/>
            <a:ext cx="65836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V5</a:t>
            </a:r>
            <a:endParaRPr lang="en-US" sz="1400" dirty="0"/>
          </a:p>
        </p:txBody>
      </p:sp>
      <p:sp>
        <p:nvSpPr>
          <p:cNvPr id="5" name="Text 3"/>
          <p:cNvSpPr/>
          <p:nvPr/>
        </p:nvSpPr>
        <p:spPr>
          <a:xfrm>
            <a:off x="1188720" y="137160"/>
            <a:ext cx="7498080" cy="475488"/>
          </a:xfrm>
          <a:prstGeom prst="rect">
            <a:avLst/>
          </a:prstGeom>
          <a:noFill/>
          <a:ln/>
        </p:spPr>
        <p:txBody>
          <a:bodyPr wrap="square" lIns="0" tIns="0" rIns="0" bIns="0" rtlCol="0" anchor="ctr"/>
          <a:lstStyle/>
          <a:p>
            <a:pPr indent="0" marL="0">
              <a:buNone/>
            </a:pPr>
            <a:r>
              <a:rPr lang="en-US" sz="2200" b="1" dirty="0">
                <a:solidFill>
                  <a:srgbClr val="E6EDF3"/>
                </a:solidFill>
                <a:latin typeface="Calibri" pitchFamily="34" charset="0"/>
                <a:ea typeface="Calibri" pitchFamily="34" charset="-122"/>
                <a:cs typeface="Calibri" pitchFamily="34" charset="-120"/>
              </a:rPr>
              <a:t>Broken Access Control</a:t>
            </a:r>
            <a:endParaRPr lang="en-US" sz="2200" dirty="0"/>
          </a:p>
        </p:txBody>
      </p:sp>
      <p:sp>
        <p:nvSpPr>
          <p:cNvPr id="6" name="Shape 4"/>
          <p:cNvSpPr/>
          <p:nvPr/>
        </p:nvSpPr>
        <p:spPr>
          <a:xfrm>
            <a:off x="457200" y="749808"/>
            <a:ext cx="4114800" cy="256032"/>
          </a:xfrm>
          <a:prstGeom prst="rect">
            <a:avLst/>
          </a:prstGeom>
          <a:solidFill>
            <a:srgbClr val="F78166">
              <a:alpha val="15000"/>
            </a:srgbClr>
          </a:solidFill>
          <a:ln w="12700">
            <a:solidFill>
              <a:srgbClr val="F78166"/>
            </a:solidFill>
            <a:prstDash val="solid"/>
          </a:ln>
        </p:spPr>
      </p:sp>
      <p:sp>
        <p:nvSpPr>
          <p:cNvPr id="7" name="Text 5"/>
          <p:cNvSpPr/>
          <p:nvPr/>
        </p:nvSpPr>
        <p:spPr>
          <a:xfrm>
            <a:off x="530352" y="749808"/>
            <a:ext cx="4114800" cy="256032"/>
          </a:xfrm>
          <a:prstGeom prst="rect">
            <a:avLst/>
          </a:prstGeom>
          <a:noFill/>
          <a:ln/>
        </p:spPr>
        <p:txBody>
          <a:bodyPr wrap="square" lIns="0" tIns="0" rIns="0" bIns="0" rtlCol="0" anchor="ctr"/>
          <a:lstStyle/>
          <a:p>
            <a:pPr indent="0" marL="0">
              <a:buNone/>
            </a:pPr>
            <a:r>
              <a:rPr lang="en-US" sz="1100" b="1" dirty="0">
                <a:solidFill>
                  <a:srgbClr val="F78166"/>
                </a:solidFill>
                <a:latin typeface="Calibri" pitchFamily="34" charset="0"/>
                <a:ea typeface="Calibri" pitchFamily="34" charset="-122"/>
                <a:cs typeface="Calibri" pitchFamily="34" charset="-120"/>
              </a:rPr>
              <a:t>Summary</a:t>
            </a:r>
            <a:endParaRPr lang="en-US" sz="1100" dirty="0"/>
          </a:p>
        </p:txBody>
      </p:sp>
      <p:sp>
        <p:nvSpPr>
          <p:cNvPr id="8" name="Shape 6"/>
          <p:cNvSpPr/>
          <p:nvPr/>
        </p:nvSpPr>
        <p:spPr>
          <a:xfrm>
            <a:off x="457200" y="1005840"/>
            <a:ext cx="4114800" cy="1005840"/>
          </a:xfrm>
          <a:prstGeom prst="rect">
            <a:avLst/>
          </a:prstGeom>
          <a:solidFill>
            <a:srgbClr val="161B22"/>
          </a:solidFill>
          <a:ln w="12700">
            <a:solidFill>
              <a:srgbClr val="30363D"/>
            </a:solidFill>
            <a:prstDash val="solid"/>
          </a:ln>
        </p:spPr>
      </p:sp>
      <p:sp>
        <p:nvSpPr>
          <p:cNvPr id="9" name="Text 7"/>
          <p:cNvSpPr/>
          <p:nvPr/>
        </p:nvSpPr>
        <p:spPr>
          <a:xfrm>
            <a:off x="548640" y="1024128"/>
            <a:ext cx="3931920" cy="969264"/>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A normal authenticated user can call the 'complete' action through the public /order API, which routes directly to DVSA-ORDER-COMPLETE without any admin check — bypassing the intended payment workflow.</a:t>
            </a:r>
            <a:endParaRPr lang="en-US" sz="1100" dirty="0"/>
          </a:p>
        </p:txBody>
      </p:sp>
      <p:sp>
        <p:nvSpPr>
          <p:cNvPr id="10" name="Shape 8"/>
          <p:cNvSpPr/>
          <p:nvPr/>
        </p:nvSpPr>
        <p:spPr>
          <a:xfrm>
            <a:off x="457200" y="2103120"/>
            <a:ext cx="4114800" cy="256032"/>
          </a:xfrm>
          <a:prstGeom prst="rect">
            <a:avLst/>
          </a:prstGeom>
          <a:solidFill>
            <a:srgbClr val="D29922">
              <a:alpha val="15000"/>
            </a:srgbClr>
          </a:solidFill>
          <a:ln w="12700">
            <a:solidFill>
              <a:srgbClr val="D29922"/>
            </a:solidFill>
            <a:prstDash val="solid"/>
          </a:ln>
        </p:spPr>
      </p:sp>
      <p:sp>
        <p:nvSpPr>
          <p:cNvPr id="11" name="Text 9"/>
          <p:cNvSpPr/>
          <p:nvPr/>
        </p:nvSpPr>
        <p:spPr>
          <a:xfrm>
            <a:off x="530352" y="2103120"/>
            <a:ext cx="4114800" cy="256032"/>
          </a:xfrm>
          <a:prstGeom prst="rect">
            <a:avLst/>
          </a:prstGeom>
          <a:noFill/>
          <a:ln/>
        </p:spPr>
        <p:txBody>
          <a:bodyPr wrap="square" lIns="0" tIns="0" rIns="0" bIns="0" rtlCol="0" anchor="ctr"/>
          <a:lstStyle/>
          <a:p>
            <a:pPr indent="0" marL="0">
              <a:buNone/>
            </a:pPr>
            <a:r>
              <a:rPr lang="en-US" sz="1100" b="1" dirty="0">
                <a:solidFill>
                  <a:srgbClr val="D29922"/>
                </a:solidFill>
                <a:latin typeface="Calibri" pitchFamily="34" charset="0"/>
                <a:ea typeface="Calibri" pitchFamily="34" charset="-122"/>
                <a:cs typeface="Calibri" pitchFamily="34" charset="-120"/>
              </a:rPr>
              <a:t>Root Cause</a:t>
            </a:r>
            <a:endParaRPr lang="en-US" sz="1100" dirty="0"/>
          </a:p>
        </p:txBody>
      </p:sp>
      <p:sp>
        <p:nvSpPr>
          <p:cNvPr id="12" name="Shape 10"/>
          <p:cNvSpPr/>
          <p:nvPr/>
        </p:nvSpPr>
        <p:spPr>
          <a:xfrm>
            <a:off x="457200" y="2359152"/>
            <a:ext cx="4114800" cy="777240"/>
          </a:xfrm>
          <a:prstGeom prst="rect">
            <a:avLst/>
          </a:prstGeom>
          <a:solidFill>
            <a:srgbClr val="161B22"/>
          </a:solidFill>
          <a:ln w="12700">
            <a:solidFill>
              <a:srgbClr val="30363D"/>
            </a:solidFill>
            <a:prstDash val="solid"/>
          </a:ln>
        </p:spPr>
      </p:sp>
      <p:sp>
        <p:nvSpPr>
          <p:cNvPr id="13" name="Text 11"/>
          <p:cNvSpPr/>
          <p:nvPr/>
        </p:nvSpPr>
        <p:spPr>
          <a:xfrm>
            <a:off x="548640" y="2377440"/>
            <a:ext cx="3931920" cy="740664"/>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The 'complete' case in DVSA-ORDER-MANAGER routed directly to the DVSA-ORDER-COMPLETE function without checking user role. No ownership or admin validation was enforced, exposing a privileged workflow to regular users.</a:t>
            </a:r>
            <a:endParaRPr lang="en-US" sz="1100" dirty="0"/>
          </a:p>
        </p:txBody>
      </p:sp>
      <p:sp>
        <p:nvSpPr>
          <p:cNvPr id="14" name="Shape 12"/>
          <p:cNvSpPr/>
          <p:nvPr/>
        </p:nvSpPr>
        <p:spPr>
          <a:xfrm>
            <a:off x="457200" y="3218688"/>
            <a:ext cx="4114800" cy="256032"/>
          </a:xfrm>
          <a:prstGeom prst="rect">
            <a:avLst/>
          </a:prstGeom>
          <a:solidFill>
            <a:srgbClr val="58A6FF">
              <a:alpha val="15000"/>
            </a:srgbClr>
          </a:solidFill>
          <a:ln w="12700">
            <a:solidFill>
              <a:srgbClr val="58A6FF"/>
            </a:solidFill>
            <a:prstDash val="solid"/>
          </a:ln>
        </p:spPr>
      </p:sp>
      <p:sp>
        <p:nvSpPr>
          <p:cNvPr id="15" name="Text 13"/>
          <p:cNvSpPr/>
          <p:nvPr/>
        </p:nvSpPr>
        <p:spPr>
          <a:xfrm>
            <a:off x="530352" y="3218688"/>
            <a:ext cx="4114800" cy="256032"/>
          </a:xfrm>
          <a:prstGeom prst="rect">
            <a:avLst/>
          </a:prstGeom>
          <a:noFill/>
          <a:ln/>
        </p:spPr>
        <p:txBody>
          <a:bodyPr wrap="square" lIns="0" tIns="0" rIns="0" bIns="0" rtlCol="0" anchor="ctr"/>
          <a:lstStyle/>
          <a:p>
            <a:pPr indent="0" marL="0">
              <a:buNone/>
            </a:pPr>
            <a:r>
              <a:rPr lang="en-US" sz="1100" b="1" dirty="0">
                <a:solidFill>
                  <a:srgbClr val="58A6FF"/>
                </a:solidFill>
                <a:latin typeface="Calibri" pitchFamily="34" charset="0"/>
                <a:ea typeface="Calibri" pitchFamily="34" charset="-122"/>
                <a:cs typeface="Calibri" pitchFamily="34" charset="-120"/>
              </a:rPr>
              <a:t>Deviation Class</a:t>
            </a:r>
            <a:endParaRPr lang="en-US" sz="1100" dirty="0"/>
          </a:p>
        </p:txBody>
      </p:sp>
      <p:sp>
        <p:nvSpPr>
          <p:cNvPr id="16" name="Shape 14"/>
          <p:cNvSpPr/>
          <p:nvPr/>
        </p:nvSpPr>
        <p:spPr>
          <a:xfrm>
            <a:off x="457200" y="3474720"/>
            <a:ext cx="4114800" cy="457200"/>
          </a:xfrm>
          <a:prstGeom prst="rect">
            <a:avLst/>
          </a:prstGeom>
          <a:solidFill>
            <a:srgbClr val="161B22"/>
          </a:solidFill>
          <a:ln w="12700">
            <a:solidFill>
              <a:srgbClr val="30363D"/>
            </a:solidFill>
            <a:prstDash val="solid"/>
          </a:ln>
        </p:spPr>
      </p:sp>
      <p:sp>
        <p:nvSpPr>
          <p:cNvPr id="17" name="Text 15"/>
          <p:cNvSpPr/>
          <p:nvPr/>
        </p:nvSpPr>
        <p:spPr>
          <a:xfrm>
            <a:off x="548640" y="3493008"/>
            <a:ext cx="3931920" cy="420624"/>
          </a:xfrm>
          <a:prstGeom prst="rect">
            <a:avLst/>
          </a:prstGeom>
          <a:noFill/>
          <a:ln/>
        </p:spPr>
        <p:txBody>
          <a:bodyPr wrap="square" lIns="0" tIns="0" rIns="0" bIns="0" rtlCol="0" anchor="ctr"/>
          <a:lstStyle/>
          <a:p>
            <a:pPr indent="0" marL="0">
              <a:buNone/>
            </a:pPr>
            <a:r>
              <a:rPr lang="en-US" sz="1100" b="1" dirty="0">
                <a:solidFill>
                  <a:srgbClr val="58A6FF"/>
                </a:solidFill>
                <a:latin typeface="Calibri" pitchFamily="34" charset="0"/>
                <a:ea typeface="Calibri" pitchFamily="34" charset="-122"/>
                <a:cs typeface="Calibri" pitchFamily="34" charset="-120"/>
              </a:rPr>
              <a:t>Intentional misuse / Missing authorization / Broken access control</a:t>
            </a:r>
            <a:endParaRPr lang="en-US" sz="1100" dirty="0"/>
          </a:p>
        </p:txBody>
      </p:sp>
      <p:sp>
        <p:nvSpPr>
          <p:cNvPr id="18" name="Shape 16"/>
          <p:cNvSpPr/>
          <p:nvPr/>
        </p:nvSpPr>
        <p:spPr>
          <a:xfrm>
            <a:off x="4754880" y="749808"/>
            <a:ext cx="4114800" cy="256032"/>
          </a:xfrm>
          <a:prstGeom prst="rect">
            <a:avLst/>
          </a:prstGeom>
          <a:solidFill>
            <a:srgbClr val="000000"/>
          </a:solidFill>
          <a:ln w="12700">
            <a:solidFill>
              <a:srgbClr val="3FB950"/>
            </a:solidFill>
            <a:prstDash val="solid"/>
          </a:ln>
        </p:spPr>
      </p:sp>
      <p:sp>
        <p:nvSpPr>
          <p:cNvPr id="19" name="Text 17"/>
          <p:cNvSpPr/>
          <p:nvPr/>
        </p:nvSpPr>
        <p:spPr>
          <a:xfrm>
            <a:off x="4828032" y="749808"/>
            <a:ext cx="4114800" cy="256032"/>
          </a:xfrm>
          <a:prstGeom prst="rect">
            <a:avLst/>
          </a:prstGeom>
          <a:noFill/>
          <a:ln/>
        </p:spPr>
        <p:txBody>
          <a:bodyPr wrap="square" lIns="0" tIns="0" rIns="0" bIns="0" rtlCol="0" anchor="ctr"/>
          <a:lstStyle/>
          <a:p>
            <a:pPr indent="0" marL="0">
              <a:buNone/>
            </a:pPr>
            <a:r>
              <a:rPr lang="en-US" sz="1100" b="1" dirty="0">
                <a:solidFill>
                  <a:srgbClr val="3FB950"/>
                </a:solidFill>
                <a:latin typeface="Calibri" pitchFamily="34" charset="0"/>
                <a:ea typeface="Calibri" pitchFamily="34" charset="-122"/>
                <a:cs typeface="Calibri" pitchFamily="34" charset="-120"/>
              </a:rPr>
              <a:t>Fix Applied</a:t>
            </a:r>
            <a:endParaRPr lang="en-US" sz="1100" dirty="0"/>
          </a:p>
        </p:txBody>
      </p:sp>
      <p:sp>
        <p:nvSpPr>
          <p:cNvPr id="20" name="Shape 18"/>
          <p:cNvSpPr/>
          <p:nvPr/>
        </p:nvSpPr>
        <p:spPr>
          <a:xfrm>
            <a:off x="4754880" y="1005840"/>
            <a:ext cx="4114800" cy="868680"/>
          </a:xfrm>
          <a:prstGeom prst="rect">
            <a:avLst/>
          </a:prstGeom>
          <a:solidFill>
            <a:srgbClr val="161B22"/>
          </a:solidFill>
          <a:ln w="12700">
            <a:solidFill>
              <a:srgbClr val="30363D"/>
            </a:solidFill>
            <a:prstDash val="solid"/>
          </a:ln>
        </p:spPr>
      </p:sp>
      <p:sp>
        <p:nvSpPr>
          <p:cNvPr id="21" name="Text 19"/>
          <p:cNvSpPr/>
          <p:nvPr/>
        </p:nvSpPr>
        <p:spPr>
          <a:xfrm>
            <a:off x="4846320" y="1024128"/>
            <a:ext cx="3931920" cy="832104"/>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Added an isAdmin check inside the 'complete' case. Non-admin requests immediately return 403 Unauthorized. Admin requests include user context in the payload for downstream validation.</a:t>
            </a:r>
            <a:endParaRPr lang="en-US" sz="1100" dirty="0"/>
          </a:p>
        </p:txBody>
      </p:sp>
      <p:sp>
        <p:nvSpPr>
          <p:cNvPr id="22" name="Shape 20"/>
          <p:cNvSpPr/>
          <p:nvPr/>
        </p:nvSpPr>
        <p:spPr>
          <a:xfrm>
            <a:off x="4754880" y="1947672"/>
            <a:ext cx="4114800" cy="256032"/>
          </a:xfrm>
          <a:prstGeom prst="rect">
            <a:avLst/>
          </a:prstGeom>
          <a:solidFill>
            <a:srgbClr val="3FB950">
              <a:alpha val="15000"/>
            </a:srgbClr>
          </a:solidFill>
          <a:ln w="12700">
            <a:solidFill>
              <a:srgbClr val="3FB950"/>
            </a:solidFill>
            <a:prstDash val="solid"/>
          </a:ln>
        </p:spPr>
      </p:sp>
      <p:sp>
        <p:nvSpPr>
          <p:cNvPr id="23" name="Text 21"/>
          <p:cNvSpPr/>
          <p:nvPr/>
        </p:nvSpPr>
        <p:spPr>
          <a:xfrm>
            <a:off x="4828032" y="1947672"/>
            <a:ext cx="4114800" cy="256032"/>
          </a:xfrm>
          <a:prstGeom prst="rect">
            <a:avLst/>
          </a:prstGeom>
          <a:noFill/>
          <a:ln/>
        </p:spPr>
        <p:txBody>
          <a:bodyPr wrap="square" lIns="0" tIns="0" rIns="0" bIns="0" rtlCol="0" anchor="ctr"/>
          <a:lstStyle/>
          <a:p>
            <a:pPr indent="0" marL="0">
              <a:buNone/>
            </a:pPr>
            <a:r>
              <a:rPr lang="en-US" sz="1100" b="1" dirty="0">
                <a:solidFill>
                  <a:srgbClr val="3FB950"/>
                </a:solidFill>
                <a:latin typeface="Calibri" pitchFamily="34" charset="0"/>
                <a:ea typeface="Calibri" pitchFamily="34" charset="-122"/>
                <a:cs typeface="Calibri" pitchFamily="34" charset="-120"/>
              </a:rPr>
              <a:t>Code / Config Change</a:t>
            </a:r>
            <a:endParaRPr lang="en-US" sz="1100" dirty="0"/>
          </a:p>
        </p:txBody>
      </p:sp>
      <p:sp>
        <p:nvSpPr>
          <p:cNvPr id="24" name="Shape 22"/>
          <p:cNvSpPr/>
          <p:nvPr/>
        </p:nvSpPr>
        <p:spPr>
          <a:xfrm>
            <a:off x="4754880" y="2203704"/>
            <a:ext cx="4114800" cy="1097280"/>
          </a:xfrm>
          <a:prstGeom prst="rect">
            <a:avLst/>
          </a:prstGeom>
          <a:solidFill>
            <a:srgbClr val="0D1117"/>
          </a:solidFill>
          <a:ln w="12700">
            <a:solidFill>
              <a:srgbClr val="30363D"/>
            </a:solidFill>
            <a:prstDash val="solid"/>
          </a:ln>
        </p:spPr>
      </p:sp>
      <p:sp>
        <p:nvSpPr>
          <p:cNvPr id="25" name="Text 23"/>
          <p:cNvSpPr/>
          <p:nvPr/>
        </p:nvSpPr>
        <p:spPr>
          <a:xfrm>
            <a:off x="4846320" y="2221992"/>
            <a:ext cx="3931920" cy="1060704"/>
          </a:xfrm>
          <a:prstGeom prst="rect">
            <a:avLst/>
          </a:prstGeom>
          <a:noFill/>
          <a:ln/>
        </p:spPr>
        <p:txBody>
          <a:bodyPr wrap="square" lIns="0" tIns="0" rIns="0" bIns="0" rtlCol="0" anchor="t"/>
          <a:lstStyle/>
          <a:p>
            <a:pPr indent="0" marL="0">
              <a:buNone/>
            </a:pPr>
            <a:r>
              <a:rPr lang="en-US" sz="950" dirty="0">
                <a:solidFill>
                  <a:srgbClr val="3FB950"/>
                </a:solidFill>
                <a:latin typeface="Consolas" pitchFamily="34" charset="0"/>
                <a:ea typeface="Consolas" pitchFamily="34" charset="-122"/>
                <a:cs typeface="Consolas" pitchFamily="34" charset="-120"/>
              </a:rPr>
              <a:t>BEFORE: case "complete":</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  payload = {orderId: req["order-id"]};</a:t>
            </a:r>
            <a:endParaRPr lang="en-US" sz="950" dirty="0"/>
          </a:p>
          <a:p>
            <a:pPr indent="0" marL="0">
              <a:buNone/>
            </a:pP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AFTER:</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if (isAdmin == "true") {</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  payload = {user, orderId, isAdmin};</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 else { return 403 Unauthorized; }</a:t>
            </a:r>
            <a:endParaRPr lang="en-US" sz="950" dirty="0"/>
          </a:p>
        </p:txBody>
      </p:sp>
      <p:sp>
        <p:nvSpPr>
          <p:cNvPr id="26" name="Shape 24"/>
          <p:cNvSpPr/>
          <p:nvPr/>
        </p:nvSpPr>
        <p:spPr>
          <a:xfrm>
            <a:off x="4754880" y="3383280"/>
            <a:ext cx="4114800" cy="256032"/>
          </a:xfrm>
          <a:prstGeom prst="rect">
            <a:avLst/>
          </a:prstGeom>
          <a:solidFill>
            <a:srgbClr val="58A6FF">
              <a:alpha val="15000"/>
            </a:srgbClr>
          </a:solidFill>
          <a:ln w="12700">
            <a:solidFill>
              <a:srgbClr val="58A6FF"/>
            </a:solidFill>
            <a:prstDash val="solid"/>
          </a:ln>
        </p:spPr>
      </p:sp>
      <p:sp>
        <p:nvSpPr>
          <p:cNvPr id="27" name="Text 25"/>
          <p:cNvSpPr/>
          <p:nvPr/>
        </p:nvSpPr>
        <p:spPr>
          <a:xfrm>
            <a:off x="4828032" y="3383280"/>
            <a:ext cx="4114800" cy="256032"/>
          </a:xfrm>
          <a:prstGeom prst="rect">
            <a:avLst/>
          </a:prstGeom>
          <a:noFill/>
          <a:ln/>
        </p:spPr>
        <p:txBody>
          <a:bodyPr wrap="square" lIns="0" tIns="0" rIns="0" bIns="0" rtlCol="0" anchor="ctr"/>
          <a:lstStyle/>
          <a:p>
            <a:pPr indent="0" marL="0">
              <a:buNone/>
            </a:pPr>
            <a:r>
              <a:rPr lang="en-US" sz="1100" b="1" dirty="0">
                <a:solidFill>
                  <a:srgbClr val="58A6FF"/>
                </a:solidFill>
                <a:latin typeface="Calibri" pitchFamily="34" charset="0"/>
                <a:ea typeface="Calibri" pitchFamily="34" charset="-122"/>
                <a:cs typeface="Calibri" pitchFamily="34" charset="-120"/>
              </a:rPr>
              <a:t>Post-Fix Verification</a:t>
            </a:r>
            <a:endParaRPr lang="en-US" sz="1100" dirty="0"/>
          </a:p>
        </p:txBody>
      </p:sp>
      <p:sp>
        <p:nvSpPr>
          <p:cNvPr id="28" name="Shape 26"/>
          <p:cNvSpPr/>
          <p:nvPr/>
        </p:nvSpPr>
        <p:spPr>
          <a:xfrm>
            <a:off x="4754880" y="3639312"/>
            <a:ext cx="4114800" cy="566928"/>
          </a:xfrm>
          <a:prstGeom prst="rect">
            <a:avLst/>
          </a:prstGeom>
          <a:solidFill>
            <a:srgbClr val="161B22"/>
          </a:solidFill>
          <a:ln w="12700">
            <a:solidFill>
              <a:srgbClr val="30363D"/>
            </a:solidFill>
            <a:prstDash val="solid"/>
          </a:ln>
        </p:spPr>
      </p:sp>
      <p:sp>
        <p:nvSpPr>
          <p:cNvPr id="29" name="Text 27"/>
          <p:cNvSpPr/>
          <p:nvPr/>
        </p:nvSpPr>
        <p:spPr>
          <a:xfrm>
            <a:off x="4846320" y="3657600"/>
            <a:ext cx="3931920" cy="530352"/>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Complete action by normal user now returns:</a:t>
            </a:r>
            <a:endParaRPr lang="en-US" sz="1100" dirty="0"/>
          </a:p>
          <a:p>
            <a:pPr indent="0" marL="0">
              <a:buNone/>
            </a:pPr>
            <a:r>
              <a:rPr lang="en-US" sz="1100" dirty="0">
                <a:solidFill>
                  <a:srgbClr val="E6EDF3"/>
                </a:solidFill>
                <a:latin typeface="Calibri" pitchFamily="34" charset="0"/>
                <a:ea typeface="Calibri" pitchFamily="34" charset="-122"/>
                <a:cs typeface="Calibri" pitchFamily="34" charset="-120"/>
              </a:rPr>
              <a:t>{status:"err", msg:"Unauthorized"}</a:t>
            </a:r>
            <a:endParaRPr lang="en-US" sz="1100" dirty="0"/>
          </a:p>
          <a:p>
            <a:pPr indent="0" marL="0">
              <a:buNone/>
            </a:pPr>
            <a:r>
              <a:rPr lang="en-US" sz="1100" dirty="0">
                <a:solidFill>
                  <a:srgbClr val="E6EDF3"/>
                </a:solidFill>
                <a:latin typeface="Calibri" pitchFamily="34" charset="0"/>
                <a:ea typeface="Calibri" pitchFamily="34" charset="-122"/>
                <a:cs typeface="Calibri" pitchFamily="34" charset="-120"/>
              </a:rPr>
              <a:t>Normal "orders" action still works correctly for authenticated users.</a:t>
            </a:r>
            <a:endParaRPr lang="en-US" sz="1100" dirty="0"/>
          </a:p>
        </p:txBody>
      </p:sp>
      <p:sp>
        <p:nvSpPr>
          <p:cNvPr id="30" name="Shape 28"/>
          <p:cNvSpPr/>
          <p:nvPr/>
        </p:nvSpPr>
        <p:spPr>
          <a:xfrm>
            <a:off x="0" y="5097780"/>
            <a:ext cx="9144000" cy="45720"/>
          </a:xfrm>
          <a:prstGeom prst="rect">
            <a:avLst/>
          </a:prstGeom>
          <a:solidFill>
            <a:srgbClr val="161B22"/>
          </a:solidFill>
          <a:ln w="12700">
            <a:solidFill>
              <a:srgbClr val="161B22"/>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78166"/>
          </a:solidFill>
          <a:ln w="12700">
            <a:solidFill>
              <a:srgbClr val="F78166"/>
            </a:solidFill>
            <a:prstDash val="solid"/>
          </a:ln>
        </p:spPr>
      </p:sp>
      <p:sp>
        <p:nvSpPr>
          <p:cNvPr id="3" name="Shape 1"/>
          <p:cNvSpPr/>
          <p:nvPr/>
        </p:nvSpPr>
        <p:spPr>
          <a:xfrm>
            <a:off x="457200" y="137160"/>
            <a:ext cx="658368" cy="475488"/>
          </a:xfrm>
          <a:prstGeom prst="rect">
            <a:avLst/>
          </a:prstGeom>
          <a:solidFill>
            <a:srgbClr val="F78166"/>
          </a:solidFill>
          <a:ln w="12700">
            <a:solidFill>
              <a:srgbClr val="F78166"/>
            </a:solidFill>
            <a:prstDash val="solid"/>
          </a:ln>
        </p:spPr>
      </p:sp>
      <p:sp>
        <p:nvSpPr>
          <p:cNvPr id="4" name="Text 2"/>
          <p:cNvSpPr/>
          <p:nvPr/>
        </p:nvSpPr>
        <p:spPr>
          <a:xfrm>
            <a:off x="457200" y="137160"/>
            <a:ext cx="65836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V6</a:t>
            </a:r>
            <a:endParaRPr lang="en-US" sz="1400" dirty="0"/>
          </a:p>
        </p:txBody>
      </p:sp>
      <p:sp>
        <p:nvSpPr>
          <p:cNvPr id="5" name="Text 3"/>
          <p:cNvSpPr/>
          <p:nvPr/>
        </p:nvSpPr>
        <p:spPr>
          <a:xfrm>
            <a:off x="1188720" y="137160"/>
            <a:ext cx="7498080" cy="475488"/>
          </a:xfrm>
          <a:prstGeom prst="rect">
            <a:avLst/>
          </a:prstGeom>
          <a:noFill/>
          <a:ln/>
        </p:spPr>
        <p:txBody>
          <a:bodyPr wrap="square" lIns="0" tIns="0" rIns="0" bIns="0" rtlCol="0" anchor="ctr"/>
          <a:lstStyle/>
          <a:p>
            <a:pPr indent="0" marL="0">
              <a:buNone/>
            </a:pPr>
            <a:r>
              <a:rPr lang="en-US" sz="2200" b="1" dirty="0">
                <a:solidFill>
                  <a:srgbClr val="E6EDF3"/>
                </a:solidFill>
                <a:latin typeface="Calibri" pitchFamily="34" charset="0"/>
                <a:ea typeface="Calibri" pitchFamily="34" charset="-122"/>
                <a:cs typeface="Calibri" pitchFamily="34" charset="-120"/>
              </a:rPr>
              <a:t>Denial of Service (Billing Exhaustion)</a:t>
            </a:r>
            <a:endParaRPr lang="en-US" sz="2200" dirty="0"/>
          </a:p>
        </p:txBody>
      </p:sp>
      <p:sp>
        <p:nvSpPr>
          <p:cNvPr id="6" name="Shape 4"/>
          <p:cNvSpPr/>
          <p:nvPr/>
        </p:nvSpPr>
        <p:spPr>
          <a:xfrm>
            <a:off x="457200" y="749808"/>
            <a:ext cx="4114800" cy="256032"/>
          </a:xfrm>
          <a:prstGeom prst="rect">
            <a:avLst/>
          </a:prstGeom>
          <a:solidFill>
            <a:srgbClr val="F78166">
              <a:alpha val="15000"/>
            </a:srgbClr>
          </a:solidFill>
          <a:ln w="12700">
            <a:solidFill>
              <a:srgbClr val="F78166"/>
            </a:solidFill>
            <a:prstDash val="solid"/>
          </a:ln>
        </p:spPr>
      </p:sp>
      <p:sp>
        <p:nvSpPr>
          <p:cNvPr id="7" name="Text 5"/>
          <p:cNvSpPr/>
          <p:nvPr/>
        </p:nvSpPr>
        <p:spPr>
          <a:xfrm>
            <a:off x="530352" y="749808"/>
            <a:ext cx="4114800" cy="256032"/>
          </a:xfrm>
          <a:prstGeom prst="rect">
            <a:avLst/>
          </a:prstGeom>
          <a:noFill/>
          <a:ln/>
        </p:spPr>
        <p:txBody>
          <a:bodyPr wrap="square" lIns="0" tIns="0" rIns="0" bIns="0" rtlCol="0" anchor="ctr"/>
          <a:lstStyle/>
          <a:p>
            <a:pPr indent="0" marL="0">
              <a:buNone/>
            </a:pPr>
            <a:r>
              <a:rPr lang="en-US" sz="1100" b="1" dirty="0">
                <a:solidFill>
                  <a:srgbClr val="F78166"/>
                </a:solidFill>
                <a:latin typeface="Calibri" pitchFamily="34" charset="0"/>
                <a:ea typeface="Calibri" pitchFamily="34" charset="-122"/>
                <a:cs typeface="Calibri" pitchFamily="34" charset="-120"/>
              </a:rPr>
              <a:t>Summary</a:t>
            </a:r>
            <a:endParaRPr lang="en-US" sz="1100" dirty="0"/>
          </a:p>
        </p:txBody>
      </p:sp>
      <p:sp>
        <p:nvSpPr>
          <p:cNvPr id="8" name="Shape 6"/>
          <p:cNvSpPr/>
          <p:nvPr/>
        </p:nvSpPr>
        <p:spPr>
          <a:xfrm>
            <a:off x="457200" y="1005840"/>
            <a:ext cx="4114800" cy="1005840"/>
          </a:xfrm>
          <a:prstGeom prst="rect">
            <a:avLst/>
          </a:prstGeom>
          <a:solidFill>
            <a:srgbClr val="161B22"/>
          </a:solidFill>
          <a:ln w="12700">
            <a:solidFill>
              <a:srgbClr val="30363D"/>
            </a:solidFill>
            <a:prstDash val="solid"/>
          </a:ln>
        </p:spPr>
      </p:sp>
      <p:sp>
        <p:nvSpPr>
          <p:cNvPr id="9" name="Text 7"/>
          <p:cNvSpPr/>
          <p:nvPr/>
        </p:nvSpPr>
        <p:spPr>
          <a:xfrm>
            <a:off x="548640" y="1024128"/>
            <a:ext cx="3931920" cy="969264"/>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Sending 500 concurrent billing requests saturates the Lambda concurrency limit and API Gateway burst limits. Legitimate users receive 429/5xx responses and cannot complete payment during the attack window.</a:t>
            </a:r>
            <a:endParaRPr lang="en-US" sz="1100" dirty="0"/>
          </a:p>
        </p:txBody>
      </p:sp>
      <p:sp>
        <p:nvSpPr>
          <p:cNvPr id="10" name="Shape 8"/>
          <p:cNvSpPr/>
          <p:nvPr/>
        </p:nvSpPr>
        <p:spPr>
          <a:xfrm>
            <a:off x="457200" y="2103120"/>
            <a:ext cx="4114800" cy="256032"/>
          </a:xfrm>
          <a:prstGeom prst="rect">
            <a:avLst/>
          </a:prstGeom>
          <a:solidFill>
            <a:srgbClr val="D29922">
              <a:alpha val="15000"/>
            </a:srgbClr>
          </a:solidFill>
          <a:ln w="12700">
            <a:solidFill>
              <a:srgbClr val="D29922"/>
            </a:solidFill>
            <a:prstDash val="solid"/>
          </a:ln>
        </p:spPr>
      </p:sp>
      <p:sp>
        <p:nvSpPr>
          <p:cNvPr id="11" name="Text 9"/>
          <p:cNvSpPr/>
          <p:nvPr/>
        </p:nvSpPr>
        <p:spPr>
          <a:xfrm>
            <a:off x="530352" y="2103120"/>
            <a:ext cx="4114800" cy="256032"/>
          </a:xfrm>
          <a:prstGeom prst="rect">
            <a:avLst/>
          </a:prstGeom>
          <a:noFill/>
          <a:ln/>
        </p:spPr>
        <p:txBody>
          <a:bodyPr wrap="square" lIns="0" tIns="0" rIns="0" bIns="0" rtlCol="0" anchor="ctr"/>
          <a:lstStyle/>
          <a:p>
            <a:pPr indent="0" marL="0">
              <a:buNone/>
            </a:pPr>
            <a:r>
              <a:rPr lang="en-US" sz="1100" b="1" dirty="0">
                <a:solidFill>
                  <a:srgbClr val="D29922"/>
                </a:solidFill>
                <a:latin typeface="Calibri" pitchFamily="34" charset="0"/>
                <a:ea typeface="Calibri" pitchFamily="34" charset="-122"/>
                <a:cs typeface="Calibri" pitchFamily="34" charset="-120"/>
              </a:rPr>
              <a:t>Root Cause</a:t>
            </a:r>
            <a:endParaRPr lang="en-US" sz="1100" dirty="0"/>
          </a:p>
        </p:txBody>
      </p:sp>
      <p:sp>
        <p:nvSpPr>
          <p:cNvPr id="12" name="Shape 10"/>
          <p:cNvSpPr/>
          <p:nvPr/>
        </p:nvSpPr>
        <p:spPr>
          <a:xfrm>
            <a:off x="457200" y="2359152"/>
            <a:ext cx="4114800" cy="777240"/>
          </a:xfrm>
          <a:prstGeom prst="rect">
            <a:avLst/>
          </a:prstGeom>
          <a:solidFill>
            <a:srgbClr val="161B22"/>
          </a:solidFill>
          <a:ln w="12700">
            <a:solidFill>
              <a:srgbClr val="30363D"/>
            </a:solidFill>
            <a:prstDash val="solid"/>
          </a:ln>
        </p:spPr>
      </p:sp>
      <p:sp>
        <p:nvSpPr>
          <p:cNvPr id="13" name="Text 11"/>
          <p:cNvSpPr/>
          <p:nvPr/>
        </p:nvSpPr>
        <p:spPr>
          <a:xfrm>
            <a:off x="548640" y="2377440"/>
            <a:ext cx="3931920" cy="740664"/>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The billing endpoint lacked rate limiting and concurrency isolation. A single authenticated attacker could exhaust shared Lambda capacity, causing TooManyRequestsException and service unavailability for other users.</a:t>
            </a:r>
            <a:endParaRPr lang="en-US" sz="1100" dirty="0"/>
          </a:p>
        </p:txBody>
      </p:sp>
      <p:sp>
        <p:nvSpPr>
          <p:cNvPr id="14" name="Shape 12"/>
          <p:cNvSpPr/>
          <p:nvPr/>
        </p:nvSpPr>
        <p:spPr>
          <a:xfrm>
            <a:off x="457200" y="3218688"/>
            <a:ext cx="4114800" cy="256032"/>
          </a:xfrm>
          <a:prstGeom prst="rect">
            <a:avLst/>
          </a:prstGeom>
          <a:solidFill>
            <a:srgbClr val="58A6FF">
              <a:alpha val="15000"/>
            </a:srgbClr>
          </a:solidFill>
          <a:ln w="12700">
            <a:solidFill>
              <a:srgbClr val="58A6FF"/>
            </a:solidFill>
            <a:prstDash val="solid"/>
          </a:ln>
        </p:spPr>
      </p:sp>
      <p:sp>
        <p:nvSpPr>
          <p:cNvPr id="15" name="Text 13"/>
          <p:cNvSpPr/>
          <p:nvPr/>
        </p:nvSpPr>
        <p:spPr>
          <a:xfrm>
            <a:off x="530352" y="3218688"/>
            <a:ext cx="4114800" cy="256032"/>
          </a:xfrm>
          <a:prstGeom prst="rect">
            <a:avLst/>
          </a:prstGeom>
          <a:noFill/>
          <a:ln/>
        </p:spPr>
        <p:txBody>
          <a:bodyPr wrap="square" lIns="0" tIns="0" rIns="0" bIns="0" rtlCol="0" anchor="ctr"/>
          <a:lstStyle/>
          <a:p>
            <a:pPr indent="0" marL="0">
              <a:buNone/>
            </a:pPr>
            <a:r>
              <a:rPr lang="en-US" sz="1100" b="1" dirty="0">
                <a:solidFill>
                  <a:srgbClr val="58A6FF"/>
                </a:solidFill>
                <a:latin typeface="Calibri" pitchFamily="34" charset="0"/>
                <a:ea typeface="Calibri" pitchFamily="34" charset="-122"/>
                <a:cs typeface="Calibri" pitchFamily="34" charset="-120"/>
              </a:rPr>
              <a:t>Deviation Class</a:t>
            </a:r>
            <a:endParaRPr lang="en-US" sz="1100" dirty="0"/>
          </a:p>
        </p:txBody>
      </p:sp>
      <p:sp>
        <p:nvSpPr>
          <p:cNvPr id="16" name="Shape 14"/>
          <p:cNvSpPr/>
          <p:nvPr/>
        </p:nvSpPr>
        <p:spPr>
          <a:xfrm>
            <a:off x="457200" y="3474720"/>
            <a:ext cx="4114800" cy="457200"/>
          </a:xfrm>
          <a:prstGeom prst="rect">
            <a:avLst/>
          </a:prstGeom>
          <a:solidFill>
            <a:srgbClr val="161B22"/>
          </a:solidFill>
          <a:ln w="12700">
            <a:solidFill>
              <a:srgbClr val="30363D"/>
            </a:solidFill>
            <a:prstDash val="solid"/>
          </a:ln>
        </p:spPr>
      </p:sp>
      <p:sp>
        <p:nvSpPr>
          <p:cNvPr id="17" name="Text 15"/>
          <p:cNvSpPr/>
          <p:nvPr/>
        </p:nvSpPr>
        <p:spPr>
          <a:xfrm>
            <a:off x="548640" y="3493008"/>
            <a:ext cx="3931920" cy="420624"/>
          </a:xfrm>
          <a:prstGeom prst="rect">
            <a:avLst/>
          </a:prstGeom>
          <a:noFill/>
          <a:ln/>
        </p:spPr>
        <p:txBody>
          <a:bodyPr wrap="square" lIns="0" tIns="0" rIns="0" bIns="0" rtlCol="0" anchor="ctr"/>
          <a:lstStyle/>
          <a:p>
            <a:pPr indent="0" marL="0">
              <a:buNone/>
            </a:pPr>
            <a:r>
              <a:rPr lang="en-US" sz="1100" b="1" dirty="0">
                <a:solidFill>
                  <a:srgbClr val="58A6FF"/>
                </a:solidFill>
                <a:latin typeface="Calibri" pitchFamily="34" charset="0"/>
                <a:ea typeface="Calibri" pitchFamily="34" charset="-122"/>
                <a:cs typeface="Calibri" pitchFamily="34" charset="-120"/>
              </a:rPr>
              <a:t>Intentional misuse / Resource exhaustion / DoS</a:t>
            </a:r>
            <a:endParaRPr lang="en-US" sz="1100" dirty="0"/>
          </a:p>
        </p:txBody>
      </p:sp>
      <p:sp>
        <p:nvSpPr>
          <p:cNvPr id="18" name="Shape 16"/>
          <p:cNvSpPr/>
          <p:nvPr/>
        </p:nvSpPr>
        <p:spPr>
          <a:xfrm>
            <a:off x="4754880" y="749808"/>
            <a:ext cx="4114800" cy="256032"/>
          </a:xfrm>
          <a:prstGeom prst="rect">
            <a:avLst/>
          </a:prstGeom>
          <a:solidFill>
            <a:srgbClr val="000000"/>
          </a:solidFill>
          <a:ln w="12700">
            <a:solidFill>
              <a:srgbClr val="3FB950"/>
            </a:solidFill>
            <a:prstDash val="solid"/>
          </a:ln>
        </p:spPr>
      </p:sp>
      <p:sp>
        <p:nvSpPr>
          <p:cNvPr id="19" name="Text 17"/>
          <p:cNvSpPr/>
          <p:nvPr/>
        </p:nvSpPr>
        <p:spPr>
          <a:xfrm>
            <a:off x="4828032" y="749808"/>
            <a:ext cx="4114800" cy="256032"/>
          </a:xfrm>
          <a:prstGeom prst="rect">
            <a:avLst/>
          </a:prstGeom>
          <a:noFill/>
          <a:ln/>
        </p:spPr>
        <p:txBody>
          <a:bodyPr wrap="square" lIns="0" tIns="0" rIns="0" bIns="0" rtlCol="0" anchor="ctr"/>
          <a:lstStyle/>
          <a:p>
            <a:pPr indent="0" marL="0">
              <a:buNone/>
            </a:pPr>
            <a:r>
              <a:rPr lang="en-US" sz="1100" b="1" dirty="0">
                <a:solidFill>
                  <a:srgbClr val="3FB950"/>
                </a:solidFill>
                <a:latin typeface="Calibri" pitchFamily="34" charset="0"/>
                <a:ea typeface="Calibri" pitchFamily="34" charset="-122"/>
                <a:cs typeface="Calibri" pitchFamily="34" charset="-120"/>
              </a:rPr>
              <a:t>Fix Applied</a:t>
            </a:r>
            <a:endParaRPr lang="en-US" sz="1100" dirty="0"/>
          </a:p>
        </p:txBody>
      </p:sp>
      <p:sp>
        <p:nvSpPr>
          <p:cNvPr id="20" name="Shape 18"/>
          <p:cNvSpPr/>
          <p:nvPr/>
        </p:nvSpPr>
        <p:spPr>
          <a:xfrm>
            <a:off x="4754880" y="1005840"/>
            <a:ext cx="4114800" cy="868680"/>
          </a:xfrm>
          <a:prstGeom prst="rect">
            <a:avLst/>
          </a:prstGeom>
          <a:solidFill>
            <a:srgbClr val="161B22"/>
          </a:solidFill>
          <a:ln w="12700">
            <a:solidFill>
              <a:srgbClr val="30363D"/>
            </a:solidFill>
            <a:prstDash val="solid"/>
          </a:ln>
        </p:spPr>
      </p:sp>
      <p:sp>
        <p:nvSpPr>
          <p:cNvPr id="21" name="Text 19"/>
          <p:cNvSpPr/>
          <p:nvPr/>
        </p:nvSpPr>
        <p:spPr>
          <a:xfrm>
            <a:off x="4846320" y="1024128"/>
            <a:ext cx="3931920" cy="832104"/>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Implemented per-user rate limiting inside the Lambda function. Requests arriving within 1 second from the same user are rejected with HTTP 429. This limits blast radius per user and protects shared capacity.</a:t>
            </a:r>
            <a:endParaRPr lang="en-US" sz="1100" dirty="0"/>
          </a:p>
        </p:txBody>
      </p:sp>
      <p:sp>
        <p:nvSpPr>
          <p:cNvPr id="22" name="Shape 20"/>
          <p:cNvSpPr/>
          <p:nvPr/>
        </p:nvSpPr>
        <p:spPr>
          <a:xfrm>
            <a:off x="4754880" y="1947672"/>
            <a:ext cx="4114800" cy="256032"/>
          </a:xfrm>
          <a:prstGeom prst="rect">
            <a:avLst/>
          </a:prstGeom>
          <a:solidFill>
            <a:srgbClr val="3FB950">
              <a:alpha val="15000"/>
            </a:srgbClr>
          </a:solidFill>
          <a:ln w="12700">
            <a:solidFill>
              <a:srgbClr val="3FB950"/>
            </a:solidFill>
            <a:prstDash val="solid"/>
          </a:ln>
        </p:spPr>
      </p:sp>
      <p:sp>
        <p:nvSpPr>
          <p:cNvPr id="23" name="Text 21"/>
          <p:cNvSpPr/>
          <p:nvPr/>
        </p:nvSpPr>
        <p:spPr>
          <a:xfrm>
            <a:off x="4828032" y="1947672"/>
            <a:ext cx="4114800" cy="256032"/>
          </a:xfrm>
          <a:prstGeom prst="rect">
            <a:avLst/>
          </a:prstGeom>
          <a:noFill/>
          <a:ln/>
        </p:spPr>
        <p:txBody>
          <a:bodyPr wrap="square" lIns="0" tIns="0" rIns="0" bIns="0" rtlCol="0" anchor="ctr"/>
          <a:lstStyle/>
          <a:p>
            <a:pPr indent="0" marL="0">
              <a:buNone/>
            </a:pPr>
            <a:r>
              <a:rPr lang="en-US" sz="1100" b="1" dirty="0">
                <a:solidFill>
                  <a:srgbClr val="3FB950"/>
                </a:solidFill>
                <a:latin typeface="Calibri" pitchFamily="34" charset="0"/>
                <a:ea typeface="Calibri" pitchFamily="34" charset="-122"/>
                <a:cs typeface="Calibri" pitchFamily="34" charset="-120"/>
              </a:rPr>
              <a:t>Code / Config Change</a:t>
            </a:r>
            <a:endParaRPr lang="en-US" sz="1100" dirty="0"/>
          </a:p>
        </p:txBody>
      </p:sp>
      <p:sp>
        <p:nvSpPr>
          <p:cNvPr id="24" name="Shape 22"/>
          <p:cNvSpPr/>
          <p:nvPr/>
        </p:nvSpPr>
        <p:spPr>
          <a:xfrm>
            <a:off x="4754880" y="2203704"/>
            <a:ext cx="4114800" cy="1097280"/>
          </a:xfrm>
          <a:prstGeom prst="rect">
            <a:avLst/>
          </a:prstGeom>
          <a:solidFill>
            <a:srgbClr val="0D1117"/>
          </a:solidFill>
          <a:ln w="12700">
            <a:solidFill>
              <a:srgbClr val="30363D"/>
            </a:solidFill>
            <a:prstDash val="solid"/>
          </a:ln>
        </p:spPr>
      </p:sp>
      <p:sp>
        <p:nvSpPr>
          <p:cNvPr id="25" name="Text 23"/>
          <p:cNvSpPr/>
          <p:nvPr/>
        </p:nvSpPr>
        <p:spPr>
          <a:xfrm>
            <a:off x="4846320" y="2221992"/>
            <a:ext cx="3931920" cy="1060704"/>
          </a:xfrm>
          <a:prstGeom prst="rect">
            <a:avLst/>
          </a:prstGeom>
          <a:noFill/>
          <a:ln/>
        </p:spPr>
        <p:txBody>
          <a:bodyPr wrap="square" lIns="0" tIns="0" rIns="0" bIns="0" rtlCol="0" anchor="t"/>
          <a:lstStyle/>
          <a:p>
            <a:pPr indent="0" marL="0">
              <a:buNone/>
            </a:pPr>
            <a:r>
              <a:rPr lang="en-US" sz="950" dirty="0">
                <a:solidFill>
                  <a:srgbClr val="3FB950"/>
                </a:solidFill>
                <a:latin typeface="Consolas" pitchFamily="34" charset="0"/>
                <a:ea typeface="Consolas" pitchFamily="34" charset="-122"/>
                <a:cs typeface="Consolas" pitchFamily="34" charset="-120"/>
              </a:rPr>
              <a:t>user = event.get("authorization")</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now = time.time()</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if user in last_request_time:</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  if now - last_request_time[user] &lt; 1:</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    return { "statusCode": 429,</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      "body": "Too many requests" }</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last_request_time[user] = now</a:t>
            </a:r>
            <a:endParaRPr lang="en-US" sz="950" dirty="0"/>
          </a:p>
        </p:txBody>
      </p:sp>
      <p:sp>
        <p:nvSpPr>
          <p:cNvPr id="26" name="Shape 24"/>
          <p:cNvSpPr/>
          <p:nvPr/>
        </p:nvSpPr>
        <p:spPr>
          <a:xfrm>
            <a:off x="4754880" y="3383280"/>
            <a:ext cx="4114800" cy="256032"/>
          </a:xfrm>
          <a:prstGeom prst="rect">
            <a:avLst/>
          </a:prstGeom>
          <a:solidFill>
            <a:srgbClr val="58A6FF">
              <a:alpha val="15000"/>
            </a:srgbClr>
          </a:solidFill>
          <a:ln w="12700">
            <a:solidFill>
              <a:srgbClr val="58A6FF"/>
            </a:solidFill>
            <a:prstDash val="solid"/>
          </a:ln>
        </p:spPr>
      </p:sp>
      <p:sp>
        <p:nvSpPr>
          <p:cNvPr id="27" name="Text 25"/>
          <p:cNvSpPr/>
          <p:nvPr/>
        </p:nvSpPr>
        <p:spPr>
          <a:xfrm>
            <a:off x="4828032" y="3383280"/>
            <a:ext cx="4114800" cy="256032"/>
          </a:xfrm>
          <a:prstGeom prst="rect">
            <a:avLst/>
          </a:prstGeom>
          <a:noFill/>
          <a:ln/>
        </p:spPr>
        <p:txBody>
          <a:bodyPr wrap="square" lIns="0" tIns="0" rIns="0" bIns="0" rtlCol="0" anchor="ctr"/>
          <a:lstStyle/>
          <a:p>
            <a:pPr indent="0" marL="0">
              <a:buNone/>
            </a:pPr>
            <a:r>
              <a:rPr lang="en-US" sz="1100" b="1" dirty="0">
                <a:solidFill>
                  <a:srgbClr val="58A6FF"/>
                </a:solidFill>
                <a:latin typeface="Calibri" pitchFamily="34" charset="0"/>
                <a:ea typeface="Calibri" pitchFamily="34" charset="-122"/>
                <a:cs typeface="Calibri" pitchFamily="34" charset="-120"/>
              </a:rPr>
              <a:t>Post-Fix Verification</a:t>
            </a:r>
            <a:endParaRPr lang="en-US" sz="1100" dirty="0"/>
          </a:p>
        </p:txBody>
      </p:sp>
      <p:sp>
        <p:nvSpPr>
          <p:cNvPr id="28" name="Shape 26"/>
          <p:cNvSpPr/>
          <p:nvPr/>
        </p:nvSpPr>
        <p:spPr>
          <a:xfrm>
            <a:off x="4754880" y="3639312"/>
            <a:ext cx="4114800" cy="566928"/>
          </a:xfrm>
          <a:prstGeom prst="rect">
            <a:avLst/>
          </a:prstGeom>
          <a:solidFill>
            <a:srgbClr val="161B22"/>
          </a:solidFill>
          <a:ln w="12700">
            <a:solidFill>
              <a:srgbClr val="30363D"/>
            </a:solidFill>
            <a:prstDash val="solid"/>
          </a:ln>
        </p:spPr>
      </p:sp>
      <p:sp>
        <p:nvSpPr>
          <p:cNvPr id="29" name="Text 27"/>
          <p:cNvSpPr/>
          <p:nvPr/>
        </p:nvSpPr>
        <p:spPr>
          <a:xfrm>
            <a:off x="4846320" y="3657600"/>
            <a:ext cx="3931920" cy="530352"/>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Flood attack now produces mix of HTTP 200 and HTTP 429 responses. System no longer returns 500/502 errors. Legitimate users remain able to complete billing normally.</a:t>
            </a:r>
            <a:endParaRPr lang="en-US" sz="1100" dirty="0"/>
          </a:p>
        </p:txBody>
      </p:sp>
      <p:sp>
        <p:nvSpPr>
          <p:cNvPr id="30" name="Shape 28"/>
          <p:cNvSpPr/>
          <p:nvPr/>
        </p:nvSpPr>
        <p:spPr>
          <a:xfrm>
            <a:off x="0" y="5097780"/>
            <a:ext cx="9144000" cy="45720"/>
          </a:xfrm>
          <a:prstGeom prst="rect">
            <a:avLst/>
          </a:prstGeom>
          <a:solidFill>
            <a:srgbClr val="161B22"/>
          </a:solidFill>
          <a:ln w="12700">
            <a:solidFill>
              <a:srgbClr val="161B22"/>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78166"/>
          </a:solidFill>
          <a:ln w="12700">
            <a:solidFill>
              <a:srgbClr val="F78166"/>
            </a:solidFill>
            <a:prstDash val="solid"/>
          </a:ln>
        </p:spPr>
      </p:sp>
      <p:sp>
        <p:nvSpPr>
          <p:cNvPr id="3" name="Shape 1"/>
          <p:cNvSpPr/>
          <p:nvPr/>
        </p:nvSpPr>
        <p:spPr>
          <a:xfrm>
            <a:off x="457200" y="137160"/>
            <a:ext cx="658368" cy="475488"/>
          </a:xfrm>
          <a:prstGeom prst="rect">
            <a:avLst/>
          </a:prstGeom>
          <a:solidFill>
            <a:srgbClr val="F78166"/>
          </a:solidFill>
          <a:ln w="12700">
            <a:solidFill>
              <a:srgbClr val="F78166"/>
            </a:solidFill>
            <a:prstDash val="solid"/>
          </a:ln>
        </p:spPr>
      </p:sp>
      <p:sp>
        <p:nvSpPr>
          <p:cNvPr id="4" name="Text 2"/>
          <p:cNvSpPr/>
          <p:nvPr/>
        </p:nvSpPr>
        <p:spPr>
          <a:xfrm>
            <a:off x="457200" y="137160"/>
            <a:ext cx="65836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V7</a:t>
            </a:r>
            <a:endParaRPr lang="en-US" sz="1400" dirty="0"/>
          </a:p>
        </p:txBody>
      </p:sp>
      <p:sp>
        <p:nvSpPr>
          <p:cNvPr id="5" name="Text 3"/>
          <p:cNvSpPr/>
          <p:nvPr/>
        </p:nvSpPr>
        <p:spPr>
          <a:xfrm>
            <a:off x="1188720" y="137160"/>
            <a:ext cx="7498080" cy="475488"/>
          </a:xfrm>
          <a:prstGeom prst="rect">
            <a:avLst/>
          </a:prstGeom>
          <a:noFill/>
          <a:ln/>
        </p:spPr>
        <p:txBody>
          <a:bodyPr wrap="square" lIns="0" tIns="0" rIns="0" bIns="0" rtlCol="0" anchor="ctr"/>
          <a:lstStyle/>
          <a:p>
            <a:pPr indent="0" marL="0">
              <a:buNone/>
            </a:pPr>
            <a:r>
              <a:rPr lang="en-US" sz="2200" b="1" dirty="0">
                <a:solidFill>
                  <a:srgbClr val="E6EDF3"/>
                </a:solidFill>
                <a:latin typeface="Calibri" pitchFamily="34" charset="0"/>
                <a:ea typeface="Calibri" pitchFamily="34" charset="-122"/>
                <a:cs typeface="Calibri" pitchFamily="34" charset="-120"/>
              </a:rPr>
              <a:t>Over-Privileged Function</a:t>
            </a:r>
            <a:endParaRPr lang="en-US" sz="2200" dirty="0"/>
          </a:p>
        </p:txBody>
      </p:sp>
      <p:sp>
        <p:nvSpPr>
          <p:cNvPr id="6" name="Shape 4"/>
          <p:cNvSpPr/>
          <p:nvPr/>
        </p:nvSpPr>
        <p:spPr>
          <a:xfrm>
            <a:off x="457200" y="749808"/>
            <a:ext cx="4114800" cy="256032"/>
          </a:xfrm>
          <a:prstGeom prst="rect">
            <a:avLst/>
          </a:prstGeom>
          <a:solidFill>
            <a:srgbClr val="F78166">
              <a:alpha val="15000"/>
            </a:srgbClr>
          </a:solidFill>
          <a:ln w="12700">
            <a:solidFill>
              <a:srgbClr val="F78166"/>
            </a:solidFill>
            <a:prstDash val="solid"/>
          </a:ln>
        </p:spPr>
      </p:sp>
      <p:sp>
        <p:nvSpPr>
          <p:cNvPr id="7" name="Text 5"/>
          <p:cNvSpPr/>
          <p:nvPr/>
        </p:nvSpPr>
        <p:spPr>
          <a:xfrm>
            <a:off x="530352" y="749808"/>
            <a:ext cx="4114800" cy="256032"/>
          </a:xfrm>
          <a:prstGeom prst="rect">
            <a:avLst/>
          </a:prstGeom>
          <a:noFill/>
          <a:ln/>
        </p:spPr>
        <p:txBody>
          <a:bodyPr wrap="square" lIns="0" tIns="0" rIns="0" bIns="0" rtlCol="0" anchor="ctr"/>
          <a:lstStyle/>
          <a:p>
            <a:pPr indent="0" marL="0">
              <a:buNone/>
            </a:pPr>
            <a:r>
              <a:rPr lang="en-US" sz="1100" b="1" dirty="0">
                <a:solidFill>
                  <a:srgbClr val="F78166"/>
                </a:solidFill>
                <a:latin typeface="Calibri" pitchFamily="34" charset="0"/>
                <a:ea typeface="Calibri" pitchFamily="34" charset="-122"/>
                <a:cs typeface="Calibri" pitchFamily="34" charset="-120"/>
              </a:rPr>
              <a:t>Summary</a:t>
            </a:r>
            <a:endParaRPr lang="en-US" sz="1100" dirty="0"/>
          </a:p>
        </p:txBody>
      </p:sp>
      <p:sp>
        <p:nvSpPr>
          <p:cNvPr id="8" name="Shape 6"/>
          <p:cNvSpPr/>
          <p:nvPr/>
        </p:nvSpPr>
        <p:spPr>
          <a:xfrm>
            <a:off x="457200" y="1005840"/>
            <a:ext cx="4114800" cy="1005840"/>
          </a:xfrm>
          <a:prstGeom prst="rect">
            <a:avLst/>
          </a:prstGeom>
          <a:solidFill>
            <a:srgbClr val="161B22"/>
          </a:solidFill>
          <a:ln w="12700">
            <a:solidFill>
              <a:srgbClr val="30363D"/>
            </a:solidFill>
            <a:prstDash val="solid"/>
          </a:ln>
        </p:spPr>
      </p:sp>
      <p:sp>
        <p:nvSpPr>
          <p:cNvPr id="9" name="Text 7"/>
          <p:cNvSpPr/>
          <p:nvPr/>
        </p:nvSpPr>
        <p:spPr>
          <a:xfrm>
            <a:off x="548640" y="1024128"/>
            <a:ext cx="3931920" cy="969264"/>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The DVSA-ORDER-MANAGER Lambda was assigned a wildcard IAM policy (Action:*, Resource:*), granting unrestricted access to all AWS services. Compromising the function exposes full account-level permissions.</a:t>
            </a:r>
            <a:endParaRPr lang="en-US" sz="1100" dirty="0"/>
          </a:p>
        </p:txBody>
      </p:sp>
      <p:sp>
        <p:nvSpPr>
          <p:cNvPr id="10" name="Shape 8"/>
          <p:cNvSpPr/>
          <p:nvPr/>
        </p:nvSpPr>
        <p:spPr>
          <a:xfrm>
            <a:off x="457200" y="2103120"/>
            <a:ext cx="4114800" cy="256032"/>
          </a:xfrm>
          <a:prstGeom prst="rect">
            <a:avLst/>
          </a:prstGeom>
          <a:solidFill>
            <a:srgbClr val="D29922">
              <a:alpha val="15000"/>
            </a:srgbClr>
          </a:solidFill>
          <a:ln w="12700">
            <a:solidFill>
              <a:srgbClr val="D29922"/>
            </a:solidFill>
            <a:prstDash val="solid"/>
          </a:ln>
        </p:spPr>
      </p:sp>
      <p:sp>
        <p:nvSpPr>
          <p:cNvPr id="11" name="Text 9"/>
          <p:cNvSpPr/>
          <p:nvPr/>
        </p:nvSpPr>
        <p:spPr>
          <a:xfrm>
            <a:off x="530352" y="2103120"/>
            <a:ext cx="4114800" cy="256032"/>
          </a:xfrm>
          <a:prstGeom prst="rect">
            <a:avLst/>
          </a:prstGeom>
          <a:noFill/>
          <a:ln/>
        </p:spPr>
        <p:txBody>
          <a:bodyPr wrap="square" lIns="0" tIns="0" rIns="0" bIns="0" rtlCol="0" anchor="ctr"/>
          <a:lstStyle/>
          <a:p>
            <a:pPr indent="0" marL="0">
              <a:buNone/>
            </a:pPr>
            <a:r>
              <a:rPr lang="en-US" sz="1100" b="1" dirty="0">
                <a:solidFill>
                  <a:srgbClr val="D29922"/>
                </a:solidFill>
                <a:latin typeface="Calibri" pitchFamily="34" charset="0"/>
                <a:ea typeface="Calibri" pitchFamily="34" charset="-122"/>
                <a:cs typeface="Calibri" pitchFamily="34" charset="-120"/>
              </a:rPr>
              <a:t>Root Cause</a:t>
            </a:r>
            <a:endParaRPr lang="en-US" sz="1100" dirty="0"/>
          </a:p>
        </p:txBody>
      </p:sp>
      <p:sp>
        <p:nvSpPr>
          <p:cNvPr id="12" name="Shape 10"/>
          <p:cNvSpPr/>
          <p:nvPr/>
        </p:nvSpPr>
        <p:spPr>
          <a:xfrm>
            <a:off x="457200" y="2359152"/>
            <a:ext cx="4114800" cy="777240"/>
          </a:xfrm>
          <a:prstGeom prst="rect">
            <a:avLst/>
          </a:prstGeom>
          <a:solidFill>
            <a:srgbClr val="161B22"/>
          </a:solidFill>
          <a:ln w="12700">
            <a:solidFill>
              <a:srgbClr val="30363D"/>
            </a:solidFill>
            <a:prstDash val="solid"/>
          </a:ln>
        </p:spPr>
      </p:sp>
      <p:sp>
        <p:nvSpPr>
          <p:cNvPr id="13" name="Text 11"/>
          <p:cNvSpPr/>
          <p:nvPr/>
        </p:nvSpPr>
        <p:spPr>
          <a:xfrm>
            <a:off x="548640" y="2377440"/>
            <a:ext cx="3931920" cy="740664"/>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Improper IAM role configuration. The execution role had Action:* / Resource:* — violating least privilege. Any vulnerability that executes code inside Lambda automatically inherits these excessive permissions.</a:t>
            </a:r>
            <a:endParaRPr lang="en-US" sz="1100" dirty="0"/>
          </a:p>
        </p:txBody>
      </p:sp>
      <p:sp>
        <p:nvSpPr>
          <p:cNvPr id="14" name="Shape 12"/>
          <p:cNvSpPr/>
          <p:nvPr/>
        </p:nvSpPr>
        <p:spPr>
          <a:xfrm>
            <a:off x="457200" y="3218688"/>
            <a:ext cx="4114800" cy="256032"/>
          </a:xfrm>
          <a:prstGeom prst="rect">
            <a:avLst/>
          </a:prstGeom>
          <a:solidFill>
            <a:srgbClr val="58A6FF">
              <a:alpha val="15000"/>
            </a:srgbClr>
          </a:solidFill>
          <a:ln w="12700">
            <a:solidFill>
              <a:srgbClr val="58A6FF"/>
            </a:solidFill>
            <a:prstDash val="solid"/>
          </a:ln>
        </p:spPr>
      </p:sp>
      <p:sp>
        <p:nvSpPr>
          <p:cNvPr id="15" name="Text 13"/>
          <p:cNvSpPr/>
          <p:nvPr/>
        </p:nvSpPr>
        <p:spPr>
          <a:xfrm>
            <a:off x="530352" y="3218688"/>
            <a:ext cx="4114800" cy="256032"/>
          </a:xfrm>
          <a:prstGeom prst="rect">
            <a:avLst/>
          </a:prstGeom>
          <a:noFill/>
          <a:ln/>
        </p:spPr>
        <p:txBody>
          <a:bodyPr wrap="square" lIns="0" tIns="0" rIns="0" bIns="0" rtlCol="0" anchor="ctr"/>
          <a:lstStyle/>
          <a:p>
            <a:pPr indent="0" marL="0">
              <a:buNone/>
            </a:pPr>
            <a:r>
              <a:rPr lang="en-US" sz="1100" b="1" dirty="0">
                <a:solidFill>
                  <a:srgbClr val="58A6FF"/>
                </a:solidFill>
                <a:latin typeface="Calibri" pitchFamily="34" charset="0"/>
                <a:ea typeface="Calibri" pitchFamily="34" charset="-122"/>
                <a:cs typeface="Calibri" pitchFamily="34" charset="-120"/>
              </a:rPr>
              <a:t>Deviation Class</a:t>
            </a:r>
            <a:endParaRPr lang="en-US" sz="1100" dirty="0"/>
          </a:p>
        </p:txBody>
      </p:sp>
      <p:sp>
        <p:nvSpPr>
          <p:cNvPr id="16" name="Shape 14"/>
          <p:cNvSpPr/>
          <p:nvPr/>
        </p:nvSpPr>
        <p:spPr>
          <a:xfrm>
            <a:off x="457200" y="3474720"/>
            <a:ext cx="4114800" cy="457200"/>
          </a:xfrm>
          <a:prstGeom prst="rect">
            <a:avLst/>
          </a:prstGeom>
          <a:solidFill>
            <a:srgbClr val="161B22"/>
          </a:solidFill>
          <a:ln w="12700">
            <a:solidFill>
              <a:srgbClr val="30363D"/>
            </a:solidFill>
            <a:prstDash val="solid"/>
          </a:ln>
        </p:spPr>
      </p:sp>
      <p:sp>
        <p:nvSpPr>
          <p:cNvPr id="17" name="Text 15"/>
          <p:cNvSpPr/>
          <p:nvPr/>
        </p:nvSpPr>
        <p:spPr>
          <a:xfrm>
            <a:off x="548640" y="3493008"/>
            <a:ext cx="3931920" cy="420624"/>
          </a:xfrm>
          <a:prstGeom prst="rect">
            <a:avLst/>
          </a:prstGeom>
          <a:noFill/>
          <a:ln/>
        </p:spPr>
        <p:txBody>
          <a:bodyPr wrap="square" lIns="0" tIns="0" rIns="0" bIns="0" rtlCol="0" anchor="ctr"/>
          <a:lstStyle/>
          <a:p>
            <a:pPr indent="0" marL="0">
              <a:buNone/>
            </a:pPr>
            <a:r>
              <a:rPr lang="en-US" sz="1100" b="1" dirty="0">
                <a:solidFill>
                  <a:srgbClr val="58A6FF"/>
                </a:solidFill>
                <a:latin typeface="Calibri" pitchFamily="34" charset="0"/>
                <a:ea typeface="Calibri" pitchFamily="34" charset="-122"/>
                <a:cs typeface="Calibri" pitchFamily="34" charset="-120"/>
              </a:rPr>
              <a:t>Misconfiguration / Over-privileged IAM / Least privilege violation</a:t>
            </a:r>
            <a:endParaRPr lang="en-US" sz="1100" dirty="0"/>
          </a:p>
        </p:txBody>
      </p:sp>
      <p:sp>
        <p:nvSpPr>
          <p:cNvPr id="18" name="Shape 16"/>
          <p:cNvSpPr/>
          <p:nvPr/>
        </p:nvSpPr>
        <p:spPr>
          <a:xfrm>
            <a:off x="4754880" y="749808"/>
            <a:ext cx="4114800" cy="256032"/>
          </a:xfrm>
          <a:prstGeom prst="rect">
            <a:avLst/>
          </a:prstGeom>
          <a:solidFill>
            <a:srgbClr val="000000"/>
          </a:solidFill>
          <a:ln w="12700">
            <a:solidFill>
              <a:srgbClr val="3FB950"/>
            </a:solidFill>
            <a:prstDash val="solid"/>
          </a:ln>
        </p:spPr>
      </p:sp>
      <p:sp>
        <p:nvSpPr>
          <p:cNvPr id="19" name="Text 17"/>
          <p:cNvSpPr/>
          <p:nvPr/>
        </p:nvSpPr>
        <p:spPr>
          <a:xfrm>
            <a:off x="4828032" y="749808"/>
            <a:ext cx="4114800" cy="256032"/>
          </a:xfrm>
          <a:prstGeom prst="rect">
            <a:avLst/>
          </a:prstGeom>
          <a:noFill/>
          <a:ln/>
        </p:spPr>
        <p:txBody>
          <a:bodyPr wrap="square" lIns="0" tIns="0" rIns="0" bIns="0" rtlCol="0" anchor="ctr"/>
          <a:lstStyle/>
          <a:p>
            <a:pPr indent="0" marL="0">
              <a:buNone/>
            </a:pPr>
            <a:r>
              <a:rPr lang="en-US" sz="1100" b="1" dirty="0">
                <a:solidFill>
                  <a:srgbClr val="3FB950"/>
                </a:solidFill>
                <a:latin typeface="Calibri" pitchFamily="34" charset="0"/>
                <a:ea typeface="Calibri" pitchFamily="34" charset="-122"/>
                <a:cs typeface="Calibri" pitchFamily="34" charset="-120"/>
              </a:rPr>
              <a:t>Fix Applied</a:t>
            </a:r>
            <a:endParaRPr lang="en-US" sz="1100" dirty="0"/>
          </a:p>
        </p:txBody>
      </p:sp>
      <p:sp>
        <p:nvSpPr>
          <p:cNvPr id="20" name="Shape 18"/>
          <p:cNvSpPr/>
          <p:nvPr/>
        </p:nvSpPr>
        <p:spPr>
          <a:xfrm>
            <a:off x="4754880" y="1005840"/>
            <a:ext cx="4114800" cy="868680"/>
          </a:xfrm>
          <a:prstGeom prst="rect">
            <a:avLst/>
          </a:prstGeom>
          <a:solidFill>
            <a:srgbClr val="161B22"/>
          </a:solidFill>
          <a:ln w="12700">
            <a:solidFill>
              <a:srgbClr val="30363D"/>
            </a:solidFill>
            <a:prstDash val="solid"/>
          </a:ln>
        </p:spPr>
      </p:sp>
      <p:sp>
        <p:nvSpPr>
          <p:cNvPr id="21" name="Text 19"/>
          <p:cNvSpPr/>
          <p:nvPr/>
        </p:nvSpPr>
        <p:spPr>
          <a:xfrm>
            <a:off x="4846320" y="1024128"/>
            <a:ext cx="3931920" cy="832104"/>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Removed wildcard permissions. Replaced with a restrictive policy allowing only lambda:InvokeFunction on specific function ARNs. Applied the Principle of Least Privilege.</a:t>
            </a:r>
            <a:endParaRPr lang="en-US" sz="1100" dirty="0"/>
          </a:p>
        </p:txBody>
      </p:sp>
      <p:sp>
        <p:nvSpPr>
          <p:cNvPr id="22" name="Shape 20"/>
          <p:cNvSpPr/>
          <p:nvPr/>
        </p:nvSpPr>
        <p:spPr>
          <a:xfrm>
            <a:off x="4754880" y="1947672"/>
            <a:ext cx="4114800" cy="256032"/>
          </a:xfrm>
          <a:prstGeom prst="rect">
            <a:avLst/>
          </a:prstGeom>
          <a:solidFill>
            <a:srgbClr val="3FB950">
              <a:alpha val="15000"/>
            </a:srgbClr>
          </a:solidFill>
          <a:ln w="12700">
            <a:solidFill>
              <a:srgbClr val="3FB950"/>
            </a:solidFill>
            <a:prstDash val="solid"/>
          </a:ln>
        </p:spPr>
      </p:sp>
      <p:sp>
        <p:nvSpPr>
          <p:cNvPr id="23" name="Text 21"/>
          <p:cNvSpPr/>
          <p:nvPr/>
        </p:nvSpPr>
        <p:spPr>
          <a:xfrm>
            <a:off x="4828032" y="1947672"/>
            <a:ext cx="4114800" cy="256032"/>
          </a:xfrm>
          <a:prstGeom prst="rect">
            <a:avLst/>
          </a:prstGeom>
          <a:noFill/>
          <a:ln/>
        </p:spPr>
        <p:txBody>
          <a:bodyPr wrap="square" lIns="0" tIns="0" rIns="0" bIns="0" rtlCol="0" anchor="ctr"/>
          <a:lstStyle/>
          <a:p>
            <a:pPr indent="0" marL="0">
              <a:buNone/>
            </a:pPr>
            <a:r>
              <a:rPr lang="en-US" sz="1100" b="1" dirty="0">
                <a:solidFill>
                  <a:srgbClr val="3FB950"/>
                </a:solidFill>
                <a:latin typeface="Calibri" pitchFamily="34" charset="0"/>
                <a:ea typeface="Calibri" pitchFamily="34" charset="-122"/>
                <a:cs typeface="Calibri" pitchFamily="34" charset="-120"/>
              </a:rPr>
              <a:t>Code / Config Change</a:t>
            </a:r>
            <a:endParaRPr lang="en-US" sz="1100" dirty="0"/>
          </a:p>
        </p:txBody>
      </p:sp>
      <p:sp>
        <p:nvSpPr>
          <p:cNvPr id="24" name="Shape 22"/>
          <p:cNvSpPr/>
          <p:nvPr/>
        </p:nvSpPr>
        <p:spPr>
          <a:xfrm>
            <a:off x="4754880" y="2203704"/>
            <a:ext cx="4114800" cy="1097280"/>
          </a:xfrm>
          <a:prstGeom prst="rect">
            <a:avLst/>
          </a:prstGeom>
          <a:solidFill>
            <a:srgbClr val="0D1117"/>
          </a:solidFill>
          <a:ln w="12700">
            <a:solidFill>
              <a:srgbClr val="30363D"/>
            </a:solidFill>
            <a:prstDash val="solid"/>
          </a:ln>
        </p:spPr>
      </p:sp>
      <p:sp>
        <p:nvSpPr>
          <p:cNvPr id="25" name="Text 23"/>
          <p:cNvSpPr/>
          <p:nvPr/>
        </p:nvSpPr>
        <p:spPr>
          <a:xfrm>
            <a:off x="4846320" y="2221992"/>
            <a:ext cx="3931920" cy="1060704"/>
          </a:xfrm>
          <a:prstGeom prst="rect">
            <a:avLst/>
          </a:prstGeom>
          <a:noFill/>
          <a:ln/>
        </p:spPr>
        <p:txBody>
          <a:bodyPr wrap="square" lIns="0" tIns="0" rIns="0" bIns="0" rtlCol="0" anchor="t"/>
          <a:lstStyle/>
          <a:p>
            <a:pPr indent="0" marL="0">
              <a:buNone/>
            </a:pPr>
            <a:r>
              <a:rPr lang="en-US" sz="950" dirty="0">
                <a:solidFill>
                  <a:srgbClr val="3FB950"/>
                </a:solidFill>
                <a:latin typeface="Consolas" pitchFamily="34" charset="0"/>
                <a:ea typeface="Consolas" pitchFamily="34" charset="-122"/>
                <a:cs typeface="Consolas" pitchFamily="34" charset="-120"/>
              </a:rPr>
              <a:t>BEFORE:</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{"Effect":"Allow","Action":"*","Resource":"*"}</a:t>
            </a:r>
            <a:endParaRPr lang="en-US" sz="950" dirty="0"/>
          </a:p>
          <a:p>
            <a:pPr indent="0" marL="0">
              <a:buNone/>
            </a:pP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AFTER:</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{"Effect":"Allow",</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 "Action":["lambda:InvokeFunction"],</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 "Resource":[</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  "arn:aws:lambda:...DVSA-ORDER-NEW",</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  "arn:aws:lambda:...DVSA-ORDER-UPDATE"</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a:t>
            </a:r>
            <a:endParaRPr lang="en-US" sz="950" dirty="0"/>
          </a:p>
        </p:txBody>
      </p:sp>
      <p:sp>
        <p:nvSpPr>
          <p:cNvPr id="26" name="Shape 24"/>
          <p:cNvSpPr/>
          <p:nvPr/>
        </p:nvSpPr>
        <p:spPr>
          <a:xfrm>
            <a:off x="4754880" y="3383280"/>
            <a:ext cx="4114800" cy="256032"/>
          </a:xfrm>
          <a:prstGeom prst="rect">
            <a:avLst/>
          </a:prstGeom>
          <a:solidFill>
            <a:srgbClr val="58A6FF">
              <a:alpha val="15000"/>
            </a:srgbClr>
          </a:solidFill>
          <a:ln w="12700">
            <a:solidFill>
              <a:srgbClr val="58A6FF"/>
            </a:solidFill>
            <a:prstDash val="solid"/>
          </a:ln>
        </p:spPr>
      </p:sp>
      <p:sp>
        <p:nvSpPr>
          <p:cNvPr id="27" name="Text 25"/>
          <p:cNvSpPr/>
          <p:nvPr/>
        </p:nvSpPr>
        <p:spPr>
          <a:xfrm>
            <a:off x="4828032" y="3383280"/>
            <a:ext cx="4114800" cy="256032"/>
          </a:xfrm>
          <a:prstGeom prst="rect">
            <a:avLst/>
          </a:prstGeom>
          <a:noFill/>
          <a:ln/>
        </p:spPr>
        <p:txBody>
          <a:bodyPr wrap="square" lIns="0" tIns="0" rIns="0" bIns="0" rtlCol="0" anchor="ctr"/>
          <a:lstStyle/>
          <a:p>
            <a:pPr indent="0" marL="0">
              <a:buNone/>
            </a:pPr>
            <a:r>
              <a:rPr lang="en-US" sz="1100" b="1" dirty="0">
                <a:solidFill>
                  <a:srgbClr val="58A6FF"/>
                </a:solidFill>
                <a:latin typeface="Calibri" pitchFamily="34" charset="0"/>
                <a:ea typeface="Calibri" pitchFamily="34" charset="-122"/>
                <a:cs typeface="Calibri" pitchFamily="34" charset="-120"/>
              </a:rPr>
              <a:t>Post-Fix Verification</a:t>
            </a:r>
            <a:endParaRPr lang="en-US" sz="1100" dirty="0"/>
          </a:p>
        </p:txBody>
      </p:sp>
      <p:sp>
        <p:nvSpPr>
          <p:cNvPr id="28" name="Shape 26"/>
          <p:cNvSpPr/>
          <p:nvPr/>
        </p:nvSpPr>
        <p:spPr>
          <a:xfrm>
            <a:off x="4754880" y="3639312"/>
            <a:ext cx="4114800" cy="566928"/>
          </a:xfrm>
          <a:prstGeom prst="rect">
            <a:avLst/>
          </a:prstGeom>
          <a:solidFill>
            <a:srgbClr val="161B22"/>
          </a:solidFill>
          <a:ln w="12700">
            <a:solidFill>
              <a:srgbClr val="30363D"/>
            </a:solidFill>
            <a:prstDash val="solid"/>
          </a:ln>
        </p:spPr>
      </p:sp>
      <p:sp>
        <p:nvSpPr>
          <p:cNvPr id="29" name="Text 27"/>
          <p:cNvSpPr/>
          <p:nvPr/>
        </p:nvSpPr>
        <p:spPr>
          <a:xfrm>
            <a:off x="4846320" y="3657600"/>
            <a:ext cx="3931920" cy="530352"/>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IAM role now shows only specific Lambda ARN permissions. No wildcard entries remain. CloudTrail confirms the role can no longer access S3, DynamoDB, or other services outside its scope.</a:t>
            </a:r>
            <a:endParaRPr lang="en-US" sz="1100" dirty="0"/>
          </a:p>
        </p:txBody>
      </p:sp>
      <p:sp>
        <p:nvSpPr>
          <p:cNvPr id="30" name="Shape 28"/>
          <p:cNvSpPr/>
          <p:nvPr/>
        </p:nvSpPr>
        <p:spPr>
          <a:xfrm>
            <a:off x="0" y="5097780"/>
            <a:ext cx="9144000" cy="45720"/>
          </a:xfrm>
          <a:prstGeom prst="rect">
            <a:avLst/>
          </a:prstGeom>
          <a:solidFill>
            <a:srgbClr val="161B22"/>
          </a:solidFill>
          <a:ln w="12700">
            <a:solidFill>
              <a:srgbClr val="161B22"/>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78166"/>
          </a:solidFill>
          <a:ln w="12700">
            <a:solidFill>
              <a:srgbClr val="F78166"/>
            </a:solidFill>
            <a:prstDash val="solid"/>
          </a:ln>
        </p:spPr>
      </p:sp>
      <p:sp>
        <p:nvSpPr>
          <p:cNvPr id="3" name="Shape 1"/>
          <p:cNvSpPr/>
          <p:nvPr/>
        </p:nvSpPr>
        <p:spPr>
          <a:xfrm>
            <a:off x="457200" y="137160"/>
            <a:ext cx="658368" cy="475488"/>
          </a:xfrm>
          <a:prstGeom prst="rect">
            <a:avLst/>
          </a:prstGeom>
          <a:solidFill>
            <a:srgbClr val="F78166"/>
          </a:solidFill>
          <a:ln w="12700">
            <a:solidFill>
              <a:srgbClr val="F78166"/>
            </a:solidFill>
            <a:prstDash val="solid"/>
          </a:ln>
        </p:spPr>
      </p:sp>
      <p:sp>
        <p:nvSpPr>
          <p:cNvPr id="4" name="Text 2"/>
          <p:cNvSpPr/>
          <p:nvPr/>
        </p:nvSpPr>
        <p:spPr>
          <a:xfrm>
            <a:off x="457200" y="137160"/>
            <a:ext cx="65836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V8</a:t>
            </a:r>
            <a:endParaRPr lang="en-US" sz="1400" dirty="0"/>
          </a:p>
        </p:txBody>
      </p:sp>
      <p:sp>
        <p:nvSpPr>
          <p:cNvPr id="5" name="Text 3"/>
          <p:cNvSpPr/>
          <p:nvPr/>
        </p:nvSpPr>
        <p:spPr>
          <a:xfrm>
            <a:off x="1188720" y="137160"/>
            <a:ext cx="7498080" cy="475488"/>
          </a:xfrm>
          <a:prstGeom prst="rect">
            <a:avLst/>
          </a:prstGeom>
          <a:noFill/>
          <a:ln/>
        </p:spPr>
        <p:txBody>
          <a:bodyPr wrap="square" lIns="0" tIns="0" rIns="0" bIns="0" rtlCol="0" anchor="ctr"/>
          <a:lstStyle/>
          <a:p>
            <a:pPr indent="0" marL="0">
              <a:buNone/>
            </a:pPr>
            <a:r>
              <a:rPr lang="en-US" sz="2200" b="1" dirty="0">
                <a:solidFill>
                  <a:srgbClr val="E6EDF3"/>
                </a:solidFill>
                <a:latin typeface="Calibri" pitchFamily="34" charset="0"/>
                <a:ea typeface="Calibri" pitchFamily="34" charset="-122"/>
                <a:cs typeface="Calibri" pitchFamily="34" charset="-120"/>
              </a:rPr>
              <a:t>Logic Vulnerability (Race Condition)</a:t>
            </a:r>
            <a:endParaRPr lang="en-US" sz="2200" dirty="0"/>
          </a:p>
        </p:txBody>
      </p:sp>
      <p:sp>
        <p:nvSpPr>
          <p:cNvPr id="6" name="Shape 4"/>
          <p:cNvSpPr/>
          <p:nvPr/>
        </p:nvSpPr>
        <p:spPr>
          <a:xfrm>
            <a:off x="457200" y="749808"/>
            <a:ext cx="4114800" cy="256032"/>
          </a:xfrm>
          <a:prstGeom prst="rect">
            <a:avLst/>
          </a:prstGeom>
          <a:solidFill>
            <a:srgbClr val="F78166">
              <a:alpha val="15000"/>
            </a:srgbClr>
          </a:solidFill>
          <a:ln w="12700">
            <a:solidFill>
              <a:srgbClr val="F78166"/>
            </a:solidFill>
            <a:prstDash val="solid"/>
          </a:ln>
        </p:spPr>
      </p:sp>
      <p:sp>
        <p:nvSpPr>
          <p:cNvPr id="7" name="Text 5"/>
          <p:cNvSpPr/>
          <p:nvPr/>
        </p:nvSpPr>
        <p:spPr>
          <a:xfrm>
            <a:off x="530352" y="749808"/>
            <a:ext cx="4114800" cy="256032"/>
          </a:xfrm>
          <a:prstGeom prst="rect">
            <a:avLst/>
          </a:prstGeom>
          <a:noFill/>
          <a:ln/>
        </p:spPr>
        <p:txBody>
          <a:bodyPr wrap="square" lIns="0" tIns="0" rIns="0" bIns="0" rtlCol="0" anchor="ctr"/>
          <a:lstStyle/>
          <a:p>
            <a:pPr indent="0" marL="0">
              <a:buNone/>
            </a:pPr>
            <a:r>
              <a:rPr lang="en-US" sz="1100" b="1" dirty="0">
                <a:solidFill>
                  <a:srgbClr val="F78166"/>
                </a:solidFill>
                <a:latin typeface="Calibri" pitchFamily="34" charset="0"/>
                <a:ea typeface="Calibri" pitchFamily="34" charset="-122"/>
                <a:cs typeface="Calibri" pitchFamily="34" charset="-120"/>
              </a:rPr>
              <a:t>Summary</a:t>
            </a:r>
            <a:endParaRPr lang="en-US" sz="1100" dirty="0"/>
          </a:p>
        </p:txBody>
      </p:sp>
      <p:sp>
        <p:nvSpPr>
          <p:cNvPr id="8" name="Shape 6"/>
          <p:cNvSpPr/>
          <p:nvPr/>
        </p:nvSpPr>
        <p:spPr>
          <a:xfrm>
            <a:off x="457200" y="1005840"/>
            <a:ext cx="4114800" cy="1005840"/>
          </a:xfrm>
          <a:prstGeom prst="rect">
            <a:avLst/>
          </a:prstGeom>
          <a:solidFill>
            <a:srgbClr val="161B22"/>
          </a:solidFill>
          <a:ln w="12700">
            <a:solidFill>
              <a:srgbClr val="30363D"/>
            </a:solidFill>
            <a:prstDash val="solid"/>
          </a:ln>
        </p:spPr>
      </p:sp>
      <p:sp>
        <p:nvSpPr>
          <p:cNvPr id="9" name="Text 7"/>
          <p:cNvSpPr/>
          <p:nvPr/>
        </p:nvSpPr>
        <p:spPr>
          <a:xfrm>
            <a:off x="548640" y="1024128"/>
            <a:ext cx="3931920" cy="969264"/>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A user could modify shipping details or send duplicate billing requests after an order was already paid. The shipping function only blocked updates at orderStatus &gt;= 200, but status 120 already means 'paid'.</a:t>
            </a:r>
            <a:endParaRPr lang="en-US" sz="1100" dirty="0"/>
          </a:p>
        </p:txBody>
      </p:sp>
      <p:sp>
        <p:nvSpPr>
          <p:cNvPr id="10" name="Shape 8"/>
          <p:cNvSpPr/>
          <p:nvPr/>
        </p:nvSpPr>
        <p:spPr>
          <a:xfrm>
            <a:off x="457200" y="2103120"/>
            <a:ext cx="4114800" cy="256032"/>
          </a:xfrm>
          <a:prstGeom prst="rect">
            <a:avLst/>
          </a:prstGeom>
          <a:solidFill>
            <a:srgbClr val="D29922">
              <a:alpha val="15000"/>
            </a:srgbClr>
          </a:solidFill>
          <a:ln w="12700">
            <a:solidFill>
              <a:srgbClr val="D29922"/>
            </a:solidFill>
            <a:prstDash val="solid"/>
          </a:ln>
        </p:spPr>
      </p:sp>
      <p:sp>
        <p:nvSpPr>
          <p:cNvPr id="11" name="Text 9"/>
          <p:cNvSpPr/>
          <p:nvPr/>
        </p:nvSpPr>
        <p:spPr>
          <a:xfrm>
            <a:off x="530352" y="2103120"/>
            <a:ext cx="4114800" cy="256032"/>
          </a:xfrm>
          <a:prstGeom prst="rect">
            <a:avLst/>
          </a:prstGeom>
          <a:noFill/>
          <a:ln/>
        </p:spPr>
        <p:txBody>
          <a:bodyPr wrap="square" lIns="0" tIns="0" rIns="0" bIns="0" rtlCol="0" anchor="ctr"/>
          <a:lstStyle/>
          <a:p>
            <a:pPr indent="0" marL="0">
              <a:buNone/>
            </a:pPr>
            <a:r>
              <a:rPr lang="en-US" sz="1100" b="1" dirty="0">
                <a:solidFill>
                  <a:srgbClr val="D29922"/>
                </a:solidFill>
                <a:latin typeface="Calibri" pitchFamily="34" charset="0"/>
                <a:ea typeface="Calibri" pitchFamily="34" charset="-122"/>
                <a:cs typeface="Calibri" pitchFamily="34" charset="-120"/>
              </a:rPr>
              <a:t>Root Cause</a:t>
            </a:r>
            <a:endParaRPr lang="en-US" sz="1100" dirty="0"/>
          </a:p>
        </p:txBody>
      </p:sp>
      <p:sp>
        <p:nvSpPr>
          <p:cNvPr id="12" name="Shape 10"/>
          <p:cNvSpPr/>
          <p:nvPr/>
        </p:nvSpPr>
        <p:spPr>
          <a:xfrm>
            <a:off x="457200" y="2359152"/>
            <a:ext cx="4114800" cy="777240"/>
          </a:xfrm>
          <a:prstGeom prst="rect">
            <a:avLst/>
          </a:prstGeom>
          <a:solidFill>
            <a:srgbClr val="161B22"/>
          </a:solidFill>
          <a:ln w="12700">
            <a:solidFill>
              <a:srgbClr val="30363D"/>
            </a:solidFill>
            <a:prstDash val="solid"/>
          </a:ln>
        </p:spPr>
      </p:sp>
      <p:sp>
        <p:nvSpPr>
          <p:cNvPr id="13" name="Text 11"/>
          <p:cNvSpPr/>
          <p:nvPr/>
        </p:nvSpPr>
        <p:spPr>
          <a:xfrm>
            <a:off x="548640" y="2377440"/>
            <a:ext cx="3931920" cy="740664"/>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Business logic flaw: The threshold for blocking updates was set too late in the status workflow. Status 120 = paid, but the check used &gt;= 200. This allowed concurrent billing+update requests to create inconsistent order states.</a:t>
            </a:r>
            <a:endParaRPr lang="en-US" sz="1100" dirty="0"/>
          </a:p>
        </p:txBody>
      </p:sp>
      <p:sp>
        <p:nvSpPr>
          <p:cNvPr id="14" name="Shape 12"/>
          <p:cNvSpPr/>
          <p:nvPr/>
        </p:nvSpPr>
        <p:spPr>
          <a:xfrm>
            <a:off x="457200" y="3218688"/>
            <a:ext cx="4114800" cy="256032"/>
          </a:xfrm>
          <a:prstGeom prst="rect">
            <a:avLst/>
          </a:prstGeom>
          <a:solidFill>
            <a:srgbClr val="58A6FF">
              <a:alpha val="15000"/>
            </a:srgbClr>
          </a:solidFill>
          <a:ln w="12700">
            <a:solidFill>
              <a:srgbClr val="58A6FF"/>
            </a:solidFill>
            <a:prstDash val="solid"/>
          </a:ln>
        </p:spPr>
      </p:sp>
      <p:sp>
        <p:nvSpPr>
          <p:cNvPr id="15" name="Text 13"/>
          <p:cNvSpPr/>
          <p:nvPr/>
        </p:nvSpPr>
        <p:spPr>
          <a:xfrm>
            <a:off x="530352" y="3218688"/>
            <a:ext cx="4114800" cy="256032"/>
          </a:xfrm>
          <a:prstGeom prst="rect">
            <a:avLst/>
          </a:prstGeom>
          <a:noFill/>
          <a:ln/>
        </p:spPr>
        <p:txBody>
          <a:bodyPr wrap="square" lIns="0" tIns="0" rIns="0" bIns="0" rtlCol="0" anchor="ctr"/>
          <a:lstStyle/>
          <a:p>
            <a:pPr indent="0" marL="0">
              <a:buNone/>
            </a:pPr>
            <a:r>
              <a:rPr lang="en-US" sz="1100" b="1" dirty="0">
                <a:solidFill>
                  <a:srgbClr val="58A6FF"/>
                </a:solidFill>
                <a:latin typeface="Calibri" pitchFamily="34" charset="0"/>
                <a:ea typeface="Calibri" pitchFamily="34" charset="-122"/>
                <a:cs typeface="Calibri" pitchFamily="34" charset="-120"/>
              </a:rPr>
              <a:t>Deviation Class</a:t>
            </a:r>
            <a:endParaRPr lang="en-US" sz="1100" dirty="0"/>
          </a:p>
        </p:txBody>
      </p:sp>
      <p:sp>
        <p:nvSpPr>
          <p:cNvPr id="16" name="Shape 14"/>
          <p:cNvSpPr/>
          <p:nvPr/>
        </p:nvSpPr>
        <p:spPr>
          <a:xfrm>
            <a:off x="457200" y="3474720"/>
            <a:ext cx="4114800" cy="457200"/>
          </a:xfrm>
          <a:prstGeom prst="rect">
            <a:avLst/>
          </a:prstGeom>
          <a:solidFill>
            <a:srgbClr val="161B22"/>
          </a:solidFill>
          <a:ln w="12700">
            <a:solidFill>
              <a:srgbClr val="30363D"/>
            </a:solidFill>
            <a:prstDash val="solid"/>
          </a:ln>
        </p:spPr>
      </p:sp>
      <p:sp>
        <p:nvSpPr>
          <p:cNvPr id="17" name="Text 15"/>
          <p:cNvSpPr/>
          <p:nvPr/>
        </p:nvSpPr>
        <p:spPr>
          <a:xfrm>
            <a:off x="548640" y="3493008"/>
            <a:ext cx="3931920" cy="420624"/>
          </a:xfrm>
          <a:prstGeom prst="rect">
            <a:avLst/>
          </a:prstGeom>
          <a:noFill/>
          <a:ln/>
        </p:spPr>
        <p:txBody>
          <a:bodyPr wrap="square" lIns="0" tIns="0" rIns="0" bIns="0" rtlCol="0" anchor="ctr"/>
          <a:lstStyle/>
          <a:p>
            <a:pPr indent="0" marL="0">
              <a:buNone/>
            </a:pPr>
            <a:r>
              <a:rPr lang="en-US" sz="1100" b="1" dirty="0">
                <a:solidFill>
                  <a:srgbClr val="58A6FF"/>
                </a:solidFill>
                <a:latin typeface="Calibri" pitchFamily="34" charset="0"/>
                <a:ea typeface="Calibri" pitchFamily="34" charset="-122"/>
                <a:cs typeface="Calibri" pitchFamily="34" charset="-120"/>
              </a:rPr>
              <a:t>Intentional misuse / Business logic flaw / Race condition</a:t>
            </a:r>
            <a:endParaRPr lang="en-US" sz="1100" dirty="0"/>
          </a:p>
        </p:txBody>
      </p:sp>
      <p:sp>
        <p:nvSpPr>
          <p:cNvPr id="18" name="Shape 16"/>
          <p:cNvSpPr/>
          <p:nvPr/>
        </p:nvSpPr>
        <p:spPr>
          <a:xfrm>
            <a:off x="4754880" y="749808"/>
            <a:ext cx="4114800" cy="256032"/>
          </a:xfrm>
          <a:prstGeom prst="rect">
            <a:avLst/>
          </a:prstGeom>
          <a:solidFill>
            <a:srgbClr val="000000"/>
          </a:solidFill>
          <a:ln w="12700">
            <a:solidFill>
              <a:srgbClr val="3FB950"/>
            </a:solidFill>
            <a:prstDash val="solid"/>
          </a:ln>
        </p:spPr>
      </p:sp>
      <p:sp>
        <p:nvSpPr>
          <p:cNvPr id="19" name="Text 17"/>
          <p:cNvSpPr/>
          <p:nvPr/>
        </p:nvSpPr>
        <p:spPr>
          <a:xfrm>
            <a:off x="4828032" y="749808"/>
            <a:ext cx="4114800" cy="256032"/>
          </a:xfrm>
          <a:prstGeom prst="rect">
            <a:avLst/>
          </a:prstGeom>
          <a:noFill/>
          <a:ln/>
        </p:spPr>
        <p:txBody>
          <a:bodyPr wrap="square" lIns="0" tIns="0" rIns="0" bIns="0" rtlCol="0" anchor="ctr"/>
          <a:lstStyle/>
          <a:p>
            <a:pPr indent="0" marL="0">
              <a:buNone/>
            </a:pPr>
            <a:r>
              <a:rPr lang="en-US" sz="1100" b="1" dirty="0">
                <a:solidFill>
                  <a:srgbClr val="3FB950"/>
                </a:solidFill>
                <a:latin typeface="Calibri" pitchFamily="34" charset="0"/>
                <a:ea typeface="Calibri" pitchFamily="34" charset="-122"/>
                <a:cs typeface="Calibri" pitchFamily="34" charset="-120"/>
              </a:rPr>
              <a:t>Fix Applied</a:t>
            </a:r>
            <a:endParaRPr lang="en-US" sz="1100" dirty="0"/>
          </a:p>
        </p:txBody>
      </p:sp>
      <p:sp>
        <p:nvSpPr>
          <p:cNvPr id="20" name="Shape 18"/>
          <p:cNvSpPr/>
          <p:nvPr/>
        </p:nvSpPr>
        <p:spPr>
          <a:xfrm>
            <a:off x="4754880" y="1005840"/>
            <a:ext cx="4114800" cy="868680"/>
          </a:xfrm>
          <a:prstGeom prst="rect">
            <a:avLst/>
          </a:prstGeom>
          <a:solidFill>
            <a:srgbClr val="161B22"/>
          </a:solidFill>
          <a:ln w="12700">
            <a:solidFill>
              <a:srgbClr val="30363D"/>
            </a:solidFill>
            <a:prstDash val="solid"/>
          </a:ln>
        </p:spPr>
      </p:sp>
      <p:sp>
        <p:nvSpPr>
          <p:cNvPr id="21" name="Text 19"/>
          <p:cNvSpPr/>
          <p:nvPr/>
        </p:nvSpPr>
        <p:spPr>
          <a:xfrm>
            <a:off x="4846320" y="1024128"/>
            <a:ext cx="3931920" cy="832104"/>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Added orderStatus &gt;= 120 check in DVSA-ORDER-SHIPPING, DVSA-ORDER-UPDATE, and DVSA-ORDER-BILLING. Used DynamoDB ConditionExpression to prevent race conditions atomically.</a:t>
            </a:r>
            <a:endParaRPr lang="en-US" sz="1100" dirty="0"/>
          </a:p>
        </p:txBody>
      </p:sp>
      <p:sp>
        <p:nvSpPr>
          <p:cNvPr id="22" name="Shape 20"/>
          <p:cNvSpPr/>
          <p:nvPr/>
        </p:nvSpPr>
        <p:spPr>
          <a:xfrm>
            <a:off x="4754880" y="1947672"/>
            <a:ext cx="4114800" cy="256032"/>
          </a:xfrm>
          <a:prstGeom prst="rect">
            <a:avLst/>
          </a:prstGeom>
          <a:solidFill>
            <a:srgbClr val="3FB950">
              <a:alpha val="15000"/>
            </a:srgbClr>
          </a:solidFill>
          <a:ln w="12700">
            <a:solidFill>
              <a:srgbClr val="3FB950"/>
            </a:solidFill>
            <a:prstDash val="solid"/>
          </a:ln>
        </p:spPr>
      </p:sp>
      <p:sp>
        <p:nvSpPr>
          <p:cNvPr id="23" name="Text 21"/>
          <p:cNvSpPr/>
          <p:nvPr/>
        </p:nvSpPr>
        <p:spPr>
          <a:xfrm>
            <a:off x="4828032" y="1947672"/>
            <a:ext cx="4114800" cy="256032"/>
          </a:xfrm>
          <a:prstGeom prst="rect">
            <a:avLst/>
          </a:prstGeom>
          <a:noFill/>
          <a:ln/>
        </p:spPr>
        <p:txBody>
          <a:bodyPr wrap="square" lIns="0" tIns="0" rIns="0" bIns="0" rtlCol="0" anchor="ctr"/>
          <a:lstStyle/>
          <a:p>
            <a:pPr indent="0" marL="0">
              <a:buNone/>
            </a:pPr>
            <a:r>
              <a:rPr lang="en-US" sz="1100" b="1" dirty="0">
                <a:solidFill>
                  <a:srgbClr val="3FB950"/>
                </a:solidFill>
                <a:latin typeface="Calibri" pitchFamily="34" charset="0"/>
                <a:ea typeface="Calibri" pitchFamily="34" charset="-122"/>
                <a:cs typeface="Calibri" pitchFamily="34" charset="-120"/>
              </a:rPr>
              <a:t>Code / Config Change</a:t>
            </a:r>
            <a:endParaRPr lang="en-US" sz="1100" dirty="0"/>
          </a:p>
        </p:txBody>
      </p:sp>
      <p:sp>
        <p:nvSpPr>
          <p:cNvPr id="24" name="Shape 22"/>
          <p:cNvSpPr/>
          <p:nvPr/>
        </p:nvSpPr>
        <p:spPr>
          <a:xfrm>
            <a:off x="4754880" y="2203704"/>
            <a:ext cx="4114800" cy="1097280"/>
          </a:xfrm>
          <a:prstGeom prst="rect">
            <a:avLst/>
          </a:prstGeom>
          <a:solidFill>
            <a:srgbClr val="0D1117"/>
          </a:solidFill>
          <a:ln w="12700">
            <a:solidFill>
              <a:srgbClr val="30363D"/>
            </a:solidFill>
            <a:prstDash val="solid"/>
          </a:ln>
        </p:spPr>
      </p:sp>
      <p:sp>
        <p:nvSpPr>
          <p:cNvPr id="25" name="Text 23"/>
          <p:cNvSpPr/>
          <p:nvPr/>
        </p:nvSpPr>
        <p:spPr>
          <a:xfrm>
            <a:off x="4846320" y="2221992"/>
            <a:ext cx="3931920" cy="1060704"/>
          </a:xfrm>
          <a:prstGeom prst="rect">
            <a:avLst/>
          </a:prstGeom>
          <a:noFill/>
          <a:ln/>
        </p:spPr>
        <p:txBody>
          <a:bodyPr wrap="square" lIns="0" tIns="0" rIns="0" bIns="0" rtlCol="0" anchor="t"/>
          <a:lstStyle/>
          <a:p>
            <a:pPr indent="0" marL="0">
              <a:buNone/>
            </a:pPr>
            <a:r>
              <a:rPr lang="en-US" sz="950" dirty="0">
                <a:solidFill>
                  <a:srgbClr val="3FB950"/>
                </a:solidFill>
                <a:latin typeface="Consolas" pitchFamily="34" charset="0"/>
                <a:ea typeface="Consolas" pitchFamily="34" charset="-122"/>
                <a:cs typeface="Consolas" pitchFamily="34" charset="-120"/>
              </a:rPr>
              <a:t>BEFORE: if orderStatus &gt;= 200: reject</a:t>
            </a:r>
            <a:endParaRPr lang="en-US" sz="950" dirty="0"/>
          </a:p>
          <a:p>
            <a:pPr indent="0" marL="0">
              <a:buNone/>
            </a:pP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AFTER:</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if int(orderStatus) &gt;= 120:</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  return {"status":"err",</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    "msg":"too late to update order"}</a:t>
            </a:r>
            <a:endParaRPr lang="en-US" sz="950" dirty="0"/>
          </a:p>
          <a:p>
            <a:pPr indent="0" marL="0">
              <a:buNone/>
            </a:pP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 DynamoDB atomic guard:</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ConditionExpression="orderStatus &lt; :paid"</a:t>
            </a:r>
            <a:endParaRPr lang="en-US" sz="950" dirty="0"/>
          </a:p>
        </p:txBody>
      </p:sp>
      <p:sp>
        <p:nvSpPr>
          <p:cNvPr id="26" name="Shape 24"/>
          <p:cNvSpPr/>
          <p:nvPr/>
        </p:nvSpPr>
        <p:spPr>
          <a:xfrm>
            <a:off x="4754880" y="3383280"/>
            <a:ext cx="4114800" cy="256032"/>
          </a:xfrm>
          <a:prstGeom prst="rect">
            <a:avLst/>
          </a:prstGeom>
          <a:solidFill>
            <a:srgbClr val="58A6FF">
              <a:alpha val="15000"/>
            </a:srgbClr>
          </a:solidFill>
          <a:ln w="12700">
            <a:solidFill>
              <a:srgbClr val="58A6FF"/>
            </a:solidFill>
            <a:prstDash val="solid"/>
          </a:ln>
        </p:spPr>
      </p:sp>
      <p:sp>
        <p:nvSpPr>
          <p:cNvPr id="27" name="Text 25"/>
          <p:cNvSpPr/>
          <p:nvPr/>
        </p:nvSpPr>
        <p:spPr>
          <a:xfrm>
            <a:off x="4828032" y="3383280"/>
            <a:ext cx="4114800" cy="256032"/>
          </a:xfrm>
          <a:prstGeom prst="rect">
            <a:avLst/>
          </a:prstGeom>
          <a:noFill/>
          <a:ln/>
        </p:spPr>
        <p:txBody>
          <a:bodyPr wrap="square" lIns="0" tIns="0" rIns="0" bIns="0" rtlCol="0" anchor="ctr"/>
          <a:lstStyle/>
          <a:p>
            <a:pPr indent="0" marL="0">
              <a:buNone/>
            </a:pPr>
            <a:r>
              <a:rPr lang="en-US" sz="1100" b="1" dirty="0">
                <a:solidFill>
                  <a:srgbClr val="58A6FF"/>
                </a:solidFill>
                <a:latin typeface="Calibri" pitchFamily="34" charset="0"/>
                <a:ea typeface="Calibri" pitchFamily="34" charset="-122"/>
                <a:cs typeface="Calibri" pitchFamily="34" charset="-120"/>
              </a:rPr>
              <a:t>Post-Fix Verification</a:t>
            </a:r>
            <a:endParaRPr lang="en-US" sz="1100" dirty="0"/>
          </a:p>
        </p:txBody>
      </p:sp>
      <p:sp>
        <p:nvSpPr>
          <p:cNvPr id="28" name="Shape 26"/>
          <p:cNvSpPr/>
          <p:nvPr/>
        </p:nvSpPr>
        <p:spPr>
          <a:xfrm>
            <a:off x="4754880" y="3639312"/>
            <a:ext cx="4114800" cy="566928"/>
          </a:xfrm>
          <a:prstGeom prst="rect">
            <a:avLst/>
          </a:prstGeom>
          <a:solidFill>
            <a:srgbClr val="161B22"/>
          </a:solidFill>
          <a:ln w="12700">
            <a:solidFill>
              <a:srgbClr val="30363D"/>
            </a:solidFill>
            <a:prstDash val="solid"/>
          </a:ln>
        </p:spPr>
      </p:sp>
      <p:sp>
        <p:nvSpPr>
          <p:cNvPr id="29" name="Text 27"/>
          <p:cNvSpPr/>
          <p:nvPr/>
        </p:nvSpPr>
        <p:spPr>
          <a:xfrm>
            <a:off x="4846320" y="3657600"/>
            <a:ext cx="3931920" cy="530352"/>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Duplicate billing returns: {status:"err",msg:"order already made"}</a:t>
            </a:r>
            <a:endParaRPr lang="en-US" sz="1100" dirty="0"/>
          </a:p>
          <a:p>
            <a:pPr indent="0" marL="0">
              <a:buNone/>
            </a:pPr>
            <a:r>
              <a:rPr lang="en-US" sz="1100" dirty="0">
                <a:solidFill>
                  <a:srgbClr val="E6EDF3"/>
                </a:solidFill>
                <a:latin typeface="Calibri" pitchFamily="34" charset="0"/>
                <a:ea typeface="Calibri" pitchFamily="34" charset="-122"/>
                <a:cs typeface="Calibri" pitchFamily="34" charset="-120"/>
              </a:rPr>
              <a:t>Post-payment shipping update returns: {status:"err",msg:"too late to update order"}</a:t>
            </a:r>
            <a:endParaRPr lang="en-US" sz="1100" dirty="0"/>
          </a:p>
          <a:p>
            <a:pPr indent="0" marL="0">
              <a:buNone/>
            </a:pPr>
            <a:r>
              <a:rPr lang="en-US" sz="1100" dirty="0">
                <a:solidFill>
                  <a:srgbClr val="E6EDF3"/>
                </a:solidFill>
                <a:latin typeface="Calibri" pitchFamily="34" charset="0"/>
                <a:ea typeface="Calibri" pitchFamily="34" charset="-122"/>
                <a:cs typeface="Calibri" pitchFamily="34" charset="-120"/>
              </a:rPr>
              <a:t>Normal order viewing still works.</a:t>
            </a:r>
            <a:endParaRPr lang="en-US" sz="1100" dirty="0"/>
          </a:p>
        </p:txBody>
      </p:sp>
      <p:sp>
        <p:nvSpPr>
          <p:cNvPr id="30" name="Shape 28"/>
          <p:cNvSpPr/>
          <p:nvPr/>
        </p:nvSpPr>
        <p:spPr>
          <a:xfrm>
            <a:off x="0" y="5097780"/>
            <a:ext cx="9144000" cy="45720"/>
          </a:xfrm>
          <a:prstGeom prst="rect">
            <a:avLst/>
          </a:prstGeom>
          <a:solidFill>
            <a:srgbClr val="161B22"/>
          </a:solidFill>
          <a:ln w="12700">
            <a:solidFill>
              <a:srgbClr val="161B22"/>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78166"/>
          </a:solidFill>
          <a:ln w="12700">
            <a:solidFill>
              <a:srgbClr val="F78166"/>
            </a:solidFill>
            <a:prstDash val="solid"/>
          </a:ln>
        </p:spPr>
      </p:sp>
      <p:sp>
        <p:nvSpPr>
          <p:cNvPr id="3" name="Shape 1"/>
          <p:cNvSpPr/>
          <p:nvPr/>
        </p:nvSpPr>
        <p:spPr>
          <a:xfrm>
            <a:off x="457200" y="137160"/>
            <a:ext cx="658368" cy="475488"/>
          </a:xfrm>
          <a:prstGeom prst="rect">
            <a:avLst/>
          </a:prstGeom>
          <a:solidFill>
            <a:srgbClr val="F78166"/>
          </a:solidFill>
          <a:ln w="12700">
            <a:solidFill>
              <a:srgbClr val="F78166"/>
            </a:solidFill>
            <a:prstDash val="solid"/>
          </a:ln>
        </p:spPr>
      </p:sp>
      <p:sp>
        <p:nvSpPr>
          <p:cNvPr id="4" name="Text 2"/>
          <p:cNvSpPr/>
          <p:nvPr/>
        </p:nvSpPr>
        <p:spPr>
          <a:xfrm>
            <a:off x="457200" y="137160"/>
            <a:ext cx="65836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V9</a:t>
            </a:r>
            <a:endParaRPr lang="en-US" sz="1400" dirty="0"/>
          </a:p>
        </p:txBody>
      </p:sp>
      <p:sp>
        <p:nvSpPr>
          <p:cNvPr id="5" name="Text 3"/>
          <p:cNvSpPr/>
          <p:nvPr/>
        </p:nvSpPr>
        <p:spPr>
          <a:xfrm>
            <a:off x="1188720" y="137160"/>
            <a:ext cx="7498080" cy="475488"/>
          </a:xfrm>
          <a:prstGeom prst="rect">
            <a:avLst/>
          </a:prstGeom>
          <a:noFill/>
          <a:ln/>
        </p:spPr>
        <p:txBody>
          <a:bodyPr wrap="square" lIns="0" tIns="0" rIns="0" bIns="0" rtlCol="0" anchor="ctr"/>
          <a:lstStyle/>
          <a:p>
            <a:pPr indent="0" marL="0">
              <a:buNone/>
            </a:pPr>
            <a:r>
              <a:rPr lang="en-US" sz="2200" b="1" dirty="0">
                <a:solidFill>
                  <a:srgbClr val="E6EDF3"/>
                </a:solidFill>
                <a:latin typeface="Calibri" pitchFamily="34" charset="0"/>
                <a:ea typeface="Calibri" pitchFamily="34" charset="-122"/>
                <a:cs typeface="Calibri" pitchFamily="34" charset="-120"/>
              </a:rPr>
              <a:t>Vulnerable Dependencies (node-serialize)</a:t>
            </a:r>
            <a:endParaRPr lang="en-US" sz="2200" dirty="0"/>
          </a:p>
        </p:txBody>
      </p:sp>
      <p:sp>
        <p:nvSpPr>
          <p:cNvPr id="6" name="Shape 4"/>
          <p:cNvSpPr/>
          <p:nvPr/>
        </p:nvSpPr>
        <p:spPr>
          <a:xfrm>
            <a:off x="457200" y="749808"/>
            <a:ext cx="4114800" cy="256032"/>
          </a:xfrm>
          <a:prstGeom prst="rect">
            <a:avLst/>
          </a:prstGeom>
          <a:solidFill>
            <a:srgbClr val="F78166">
              <a:alpha val="15000"/>
            </a:srgbClr>
          </a:solidFill>
          <a:ln w="12700">
            <a:solidFill>
              <a:srgbClr val="F78166"/>
            </a:solidFill>
            <a:prstDash val="solid"/>
          </a:ln>
        </p:spPr>
      </p:sp>
      <p:sp>
        <p:nvSpPr>
          <p:cNvPr id="7" name="Text 5"/>
          <p:cNvSpPr/>
          <p:nvPr/>
        </p:nvSpPr>
        <p:spPr>
          <a:xfrm>
            <a:off x="530352" y="749808"/>
            <a:ext cx="4114800" cy="256032"/>
          </a:xfrm>
          <a:prstGeom prst="rect">
            <a:avLst/>
          </a:prstGeom>
          <a:noFill/>
          <a:ln/>
        </p:spPr>
        <p:txBody>
          <a:bodyPr wrap="square" lIns="0" tIns="0" rIns="0" bIns="0" rtlCol="0" anchor="ctr"/>
          <a:lstStyle/>
          <a:p>
            <a:pPr indent="0" marL="0">
              <a:buNone/>
            </a:pPr>
            <a:r>
              <a:rPr lang="en-US" sz="1100" b="1" dirty="0">
                <a:solidFill>
                  <a:srgbClr val="F78166"/>
                </a:solidFill>
                <a:latin typeface="Calibri" pitchFamily="34" charset="0"/>
                <a:ea typeface="Calibri" pitchFamily="34" charset="-122"/>
                <a:cs typeface="Calibri" pitchFamily="34" charset="-120"/>
              </a:rPr>
              <a:t>Summary</a:t>
            </a:r>
            <a:endParaRPr lang="en-US" sz="1100" dirty="0"/>
          </a:p>
        </p:txBody>
      </p:sp>
      <p:sp>
        <p:nvSpPr>
          <p:cNvPr id="8" name="Shape 6"/>
          <p:cNvSpPr/>
          <p:nvPr/>
        </p:nvSpPr>
        <p:spPr>
          <a:xfrm>
            <a:off x="457200" y="1005840"/>
            <a:ext cx="4114800" cy="1005840"/>
          </a:xfrm>
          <a:prstGeom prst="rect">
            <a:avLst/>
          </a:prstGeom>
          <a:solidFill>
            <a:srgbClr val="161B22"/>
          </a:solidFill>
          <a:ln w="12700">
            <a:solidFill>
              <a:srgbClr val="30363D"/>
            </a:solidFill>
            <a:prstDash val="solid"/>
          </a:ln>
        </p:spPr>
      </p:sp>
      <p:sp>
        <p:nvSpPr>
          <p:cNvPr id="9" name="Text 7"/>
          <p:cNvSpPr/>
          <p:nvPr/>
        </p:nvSpPr>
        <p:spPr>
          <a:xfrm>
            <a:off x="548640" y="1024128"/>
            <a:ext cx="3931920" cy="969264"/>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The DVSA-ORDER-MANAGER Lambda uses node-serialize, a package with a known critical vulnerability. The $$ND_FUNC$$ marker allows arbitrary JavaScript execution from user-controlled input — enabling full RCE.</a:t>
            </a:r>
            <a:endParaRPr lang="en-US" sz="1100" dirty="0"/>
          </a:p>
        </p:txBody>
      </p:sp>
      <p:sp>
        <p:nvSpPr>
          <p:cNvPr id="10" name="Shape 8"/>
          <p:cNvSpPr/>
          <p:nvPr/>
        </p:nvSpPr>
        <p:spPr>
          <a:xfrm>
            <a:off x="457200" y="2103120"/>
            <a:ext cx="4114800" cy="256032"/>
          </a:xfrm>
          <a:prstGeom prst="rect">
            <a:avLst/>
          </a:prstGeom>
          <a:solidFill>
            <a:srgbClr val="D29922">
              <a:alpha val="15000"/>
            </a:srgbClr>
          </a:solidFill>
          <a:ln w="12700">
            <a:solidFill>
              <a:srgbClr val="D29922"/>
            </a:solidFill>
            <a:prstDash val="solid"/>
          </a:ln>
        </p:spPr>
      </p:sp>
      <p:sp>
        <p:nvSpPr>
          <p:cNvPr id="11" name="Text 9"/>
          <p:cNvSpPr/>
          <p:nvPr/>
        </p:nvSpPr>
        <p:spPr>
          <a:xfrm>
            <a:off x="530352" y="2103120"/>
            <a:ext cx="4114800" cy="256032"/>
          </a:xfrm>
          <a:prstGeom prst="rect">
            <a:avLst/>
          </a:prstGeom>
          <a:noFill/>
          <a:ln/>
        </p:spPr>
        <p:txBody>
          <a:bodyPr wrap="square" lIns="0" tIns="0" rIns="0" bIns="0" rtlCol="0" anchor="ctr"/>
          <a:lstStyle/>
          <a:p>
            <a:pPr indent="0" marL="0">
              <a:buNone/>
            </a:pPr>
            <a:r>
              <a:rPr lang="en-US" sz="1100" b="1" dirty="0">
                <a:solidFill>
                  <a:srgbClr val="D29922"/>
                </a:solidFill>
                <a:latin typeface="Calibri" pitchFamily="34" charset="0"/>
                <a:ea typeface="Calibri" pitchFamily="34" charset="-122"/>
                <a:cs typeface="Calibri" pitchFamily="34" charset="-120"/>
              </a:rPr>
              <a:t>Root Cause</a:t>
            </a:r>
            <a:endParaRPr lang="en-US" sz="1100" dirty="0"/>
          </a:p>
        </p:txBody>
      </p:sp>
      <p:sp>
        <p:nvSpPr>
          <p:cNvPr id="12" name="Shape 10"/>
          <p:cNvSpPr/>
          <p:nvPr/>
        </p:nvSpPr>
        <p:spPr>
          <a:xfrm>
            <a:off x="457200" y="2359152"/>
            <a:ext cx="4114800" cy="777240"/>
          </a:xfrm>
          <a:prstGeom prst="rect">
            <a:avLst/>
          </a:prstGeom>
          <a:solidFill>
            <a:srgbClr val="161B22"/>
          </a:solidFill>
          <a:ln w="12700">
            <a:solidFill>
              <a:srgbClr val="30363D"/>
            </a:solidFill>
            <a:prstDash val="solid"/>
          </a:ln>
        </p:spPr>
      </p:sp>
      <p:sp>
        <p:nvSpPr>
          <p:cNvPr id="13" name="Text 11"/>
          <p:cNvSpPr/>
          <p:nvPr/>
        </p:nvSpPr>
        <p:spPr>
          <a:xfrm>
            <a:off x="548640" y="2377440"/>
            <a:ext cx="3931920" cy="740664"/>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Insecure third-party dependency. node-serialize extends JSON with function serialization capability. The $$ND_FUNC$$ marker causes automatic evaluation of embedded function bodies during deserialization.</a:t>
            </a:r>
            <a:endParaRPr lang="en-US" sz="1100" dirty="0"/>
          </a:p>
        </p:txBody>
      </p:sp>
      <p:sp>
        <p:nvSpPr>
          <p:cNvPr id="14" name="Shape 12"/>
          <p:cNvSpPr/>
          <p:nvPr/>
        </p:nvSpPr>
        <p:spPr>
          <a:xfrm>
            <a:off x="457200" y="3218688"/>
            <a:ext cx="4114800" cy="256032"/>
          </a:xfrm>
          <a:prstGeom prst="rect">
            <a:avLst/>
          </a:prstGeom>
          <a:solidFill>
            <a:srgbClr val="58A6FF">
              <a:alpha val="15000"/>
            </a:srgbClr>
          </a:solidFill>
          <a:ln w="12700">
            <a:solidFill>
              <a:srgbClr val="58A6FF"/>
            </a:solidFill>
            <a:prstDash val="solid"/>
          </a:ln>
        </p:spPr>
      </p:sp>
      <p:sp>
        <p:nvSpPr>
          <p:cNvPr id="15" name="Text 13"/>
          <p:cNvSpPr/>
          <p:nvPr/>
        </p:nvSpPr>
        <p:spPr>
          <a:xfrm>
            <a:off x="530352" y="3218688"/>
            <a:ext cx="4114800" cy="256032"/>
          </a:xfrm>
          <a:prstGeom prst="rect">
            <a:avLst/>
          </a:prstGeom>
          <a:noFill/>
          <a:ln/>
        </p:spPr>
        <p:txBody>
          <a:bodyPr wrap="square" lIns="0" tIns="0" rIns="0" bIns="0" rtlCol="0" anchor="ctr"/>
          <a:lstStyle/>
          <a:p>
            <a:pPr indent="0" marL="0">
              <a:buNone/>
            </a:pPr>
            <a:r>
              <a:rPr lang="en-US" sz="1100" b="1" dirty="0">
                <a:solidFill>
                  <a:srgbClr val="58A6FF"/>
                </a:solidFill>
                <a:latin typeface="Calibri" pitchFamily="34" charset="0"/>
                <a:ea typeface="Calibri" pitchFamily="34" charset="-122"/>
                <a:cs typeface="Calibri" pitchFamily="34" charset="-120"/>
              </a:rPr>
              <a:t>Deviation Class</a:t>
            </a:r>
            <a:endParaRPr lang="en-US" sz="1100" dirty="0"/>
          </a:p>
        </p:txBody>
      </p:sp>
      <p:sp>
        <p:nvSpPr>
          <p:cNvPr id="16" name="Shape 14"/>
          <p:cNvSpPr/>
          <p:nvPr/>
        </p:nvSpPr>
        <p:spPr>
          <a:xfrm>
            <a:off x="457200" y="3474720"/>
            <a:ext cx="4114800" cy="457200"/>
          </a:xfrm>
          <a:prstGeom prst="rect">
            <a:avLst/>
          </a:prstGeom>
          <a:solidFill>
            <a:srgbClr val="161B22"/>
          </a:solidFill>
          <a:ln w="12700">
            <a:solidFill>
              <a:srgbClr val="30363D"/>
            </a:solidFill>
            <a:prstDash val="solid"/>
          </a:ln>
        </p:spPr>
      </p:sp>
      <p:sp>
        <p:nvSpPr>
          <p:cNvPr id="17" name="Text 15"/>
          <p:cNvSpPr/>
          <p:nvPr/>
        </p:nvSpPr>
        <p:spPr>
          <a:xfrm>
            <a:off x="548640" y="3493008"/>
            <a:ext cx="3931920" cy="420624"/>
          </a:xfrm>
          <a:prstGeom prst="rect">
            <a:avLst/>
          </a:prstGeom>
          <a:noFill/>
          <a:ln/>
        </p:spPr>
        <p:txBody>
          <a:bodyPr wrap="square" lIns="0" tIns="0" rIns="0" bIns="0" rtlCol="0" anchor="ctr"/>
          <a:lstStyle/>
          <a:p>
            <a:pPr indent="0" marL="0">
              <a:buNone/>
            </a:pPr>
            <a:r>
              <a:rPr lang="en-US" sz="1100" b="1" dirty="0">
                <a:solidFill>
                  <a:srgbClr val="58A6FF"/>
                </a:solidFill>
                <a:latin typeface="Calibri" pitchFamily="34" charset="0"/>
                <a:ea typeface="Calibri" pitchFamily="34" charset="-122"/>
                <a:cs typeface="Calibri" pitchFamily="34" charset="-120"/>
              </a:rPr>
              <a:t>Vulnerable dependency / Supply chain risk / RCE</a:t>
            </a:r>
            <a:endParaRPr lang="en-US" sz="1100" dirty="0"/>
          </a:p>
        </p:txBody>
      </p:sp>
      <p:sp>
        <p:nvSpPr>
          <p:cNvPr id="18" name="Shape 16"/>
          <p:cNvSpPr/>
          <p:nvPr/>
        </p:nvSpPr>
        <p:spPr>
          <a:xfrm>
            <a:off x="4754880" y="749808"/>
            <a:ext cx="4114800" cy="256032"/>
          </a:xfrm>
          <a:prstGeom prst="rect">
            <a:avLst/>
          </a:prstGeom>
          <a:solidFill>
            <a:srgbClr val="000000"/>
          </a:solidFill>
          <a:ln w="12700">
            <a:solidFill>
              <a:srgbClr val="3FB950"/>
            </a:solidFill>
            <a:prstDash val="solid"/>
          </a:ln>
        </p:spPr>
      </p:sp>
      <p:sp>
        <p:nvSpPr>
          <p:cNvPr id="19" name="Text 17"/>
          <p:cNvSpPr/>
          <p:nvPr/>
        </p:nvSpPr>
        <p:spPr>
          <a:xfrm>
            <a:off x="4828032" y="749808"/>
            <a:ext cx="4114800" cy="256032"/>
          </a:xfrm>
          <a:prstGeom prst="rect">
            <a:avLst/>
          </a:prstGeom>
          <a:noFill/>
          <a:ln/>
        </p:spPr>
        <p:txBody>
          <a:bodyPr wrap="square" lIns="0" tIns="0" rIns="0" bIns="0" rtlCol="0" anchor="ctr"/>
          <a:lstStyle/>
          <a:p>
            <a:pPr indent="0" marL="0">
              <a:buNone/>
            </a:pPr>
            <a:r>
              <a:rPr lang="en-US" sz="1100" b="1" dirty="0">
                <a:solidFill>
                  <a:srgbClr val="3FB950"/>
                </a:solidFill>
                <a:latin typeface="Calibri" pitchFamily="34" charset="0"/>
                <a:ea typeface="Calibri" pitchFamily="34" charset="-122"/>
                <a:cs typeface="Calibri" pitchFamily="34" charset="-120"/>
              </a:rPr>
              <a:t>Fix Applied</a:t>
            </a:r>
            <a:endParaRPr lang="en-US" sz="1100" dirty="0"/>
          </a:p>
        </p:txBody>
      </p:sp>
      <p:sp>
        <p:nvSpPr>
          <p:cNvPr id="20" name="Shape 18"/>
          <p:cNvSpPr/>
          <p:nvPr/>
        </p:nvSpPr>
        <p:spPr>
          <a:xfrm>
            <a:off x="4754880" y="1005840"/>
            <a:ext cx="4114800" cy="868680"/>
          </a:xfrm>
          <a:prstGeom prst="rect">
            <a:avLst/>
          </a:prstGeom>
          <a:solidFill>
            <a:srgbClr val="161B22"/>
          </a:solidFill>
          <a:ln w="12700">
            <a:solidFill>
              <a:srgbClr val="30363D"/>
            </a:solidFill>
            <a:prstDash val="solid"/>
          </a:ln>
        </p:spPr>
      </p:sp>
      <p:sp>
        <p:nvSpPr>
          <p:cNvPr id="21" name="Text 19"/>
          <p:cNvSpPr/>
          <p:nvPr/>
        </p:nvSpPr>
        <p:spPr>
          <a:xfrm>
            <a:off x="4846320" y="1024128"/>
            <a:ext cx="3931920" cy="832104"/>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Removed node-serialize from the Lambda function entirely. Replaced serialize.unserialize() with JSON.parse(). Added input validation and action allowlist. Performed dependency audit with npm audit.</a:t>
            </a:r>
            <a:endParaRPr lang="en-US" sz="1100" dirty="0"/>
          </a:p>
        </p:txBody>
      </p:sp>
      <p:sp>
        <p:nvSpPr>
          <p:cNvPr id="22" name="Shape 20"/>
          <p:cNvSpPr/>
          <p:nvPr/>
        </p:nvSpPr>
        <p:spPr>
          <a:xfrm>
            <a:off x="4754880" y="1947672"/>
            <a:ext cx="4114800" cy="256032"/>
          </a:xfrm>
          <a:prstGeom prst="rect">
            <a:avLst/>
          </a:prstGeom>
          <a:solidFill>
            <a:srgbClr val="3FB950">
              <a:alpha val="15000"/>
            </a:srgbClr>
          </a:solidFill>
          <a:ln w="12700">
            <a:solidFill>
              <a:srgbClr val="3FB950"/>
            </a:solidFill>
            <a:prstDash val="solid"/>
          </a:ln>
        </p:spPr>
      </p:sp>
      <p:sp>
        <p:nvSpPr>
          <p:cNvPr id="23" name="Text 21"/>
          <p:cNvSpPr/>
          <p:nvPr/>
        </p:nvSpPr>
        <p:spPr>
          <a:xfrm>
            <a:off x="4828032" y="1947672"/>
            <a:ext cx="4114800" cy="256032"/>
          </a:xfrm>
          <a:prstGeom prst="rect">
            <a:avLst/>
          </a:prstGeom>
          <a:noFill/>
          <a:ln/>
        </p:spPr>
        <p:txBody>
          <a:bodyPr wrap="square" lIns="0" tIns="0" rIns="0" bIns="0" rtlCol="0" anchor="ctr"/>
          <a:lstStyle/>
          <a:p>
            <a:pPr indent="0" marL="0">
              <a:buNone/>
            </a:pPr>
            <a:r>
              <a:rPr lang="en-US" sz="1100" b="1" dirty="0">
                <a:solidFill>
                  <a:srgbClr val="3FB950"/>
                </a:solidFill>
                <a:latin typeface="Calibri" pitchFamily="34" charset="0"/>
                <a:ea typeface="Calibri" pitchFamily="34" charset="-122"/>
                <a:cs typeface="Calibri" pitchFamily="34" charset="-120"/>
              </a:rPr>
              <a:t>Code / Config Change</a:t>
            </a:r>
            <a:endParaRPr lang="en-US" sz="1100" dirty="0"/>
          </a:p>
        </p:txBody>
      </p:sp>
      <p:sp>
        <p:nvSpPr>
          <p:cNvPr id="24" name="Shape 22"/>
          <p:cNvSpPr/>
          <p:nvPr/>
        </p:nvSpPr>
        <p:spPr>
          <a:xfrm>
            <a:off x="4754880" y="2203704"/>
            <a:ext cx="4114800" cy="1097280"/>
          </a:xfrm>
          <a:prstGeom prst="rect">
            <a:avLst/>
          </a:prstGeom>
          <a:solidFill>
            <a:srgbClr val="0D1117"/>
          </a:solidFill>
          <a:ln w="12700">
            <a:solidFill>
              <a:srgbClr val="30363D"/>
            </a:solidFill>
            <a:prstDash val="solid"/>
          </a:ln>
        </p:spPr>
      </p:sp>
      <p:sp>
        <p:nvSpPr>
          <p:cNvPr id="25" name="Text 23"/>
          <p:cNvSpPr/>
          <p:nvPr/>
        </p:nvSpPr>
        <p:spPr>
          <a:xfrm>
            <a:off x="4846320" y="2221992"/>
            <a:ext cx="3931920" cy="1060704"/>
          </a:xfrm>
          <a:prstGeom prst="rect">
            <a:avLst/>
          </a:prstGeom>
          <a:noFill/>
          <a:ln/>
        </p:spPr>
        <p:txBody>
          <a:bodyPr wrap="square" lIns="0" tIns="0" rIns="0" bIns="0" rtlCol="0" anchor="t"/>
          <a:lstStyle/>
          <a:p>
            <a:pPr indent="0" marL="0">
              <a:buNone/>
            </a:pPr>
            <a:r>
              <a:rPr lang="en-US" sz="950" dirty="0">
                <a:solidFill>
                  <a:srgbClr val="3FB950"/>
                </a:solidFill>
                <a:latin typeface="Consolas" pitchFamily="34" charset="0"/>
                <a:ea typeface="Consolas" pitchFamily="34" charset="-122"/>
                <a:cs typeface="Consolas" pitchFamily="34" charset="-120"/>
              </a:rPr>
              <a:t>BEFORE:</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const serialize = require("node-serialize");</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var req = serialize.unserialize(event.body);</a:t>
            </a:r>
            <a:endParaRPr lang="en-US" sz="950" dirty="0"/>
          </a:p>
          <a:p>
            <a:pPr indent="0" marL="0">
              <a:buNone/>
            </a:pP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AFTER:</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var req = JSON.parse(event.body);</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 node-serialize removed from package.json</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 npm audit shows 0 critical issues</a:t>
            </a:r>
            <a:endParaRPr lang="en-US" sz="950" dirty="0"/>
          </a:p>
        </p:txBody>
      </p:sp>
      <p:sp>
        <p:nvSpPr>
          <p:cNvPr id="26" name="Shape 24"/>
          <p:cNvSpPr/>
          <p:nvPr/>
        </p:nvSpPr>
        <p:spPr>
          <a:xfrm>
            <a:off x="4754880" y="3383280"/>
            <a:ext cx="4114800" cy="256032"/>
          </a:xfrm>
          <a:prstGeom prst="rect">
            <a:avLst/>
          </a:prstGeom>
          <a:solidFill>
            <a:srgbClr val="58A6FF">
              <a:alpha val="15000"/>
            </a:srgbClr>
          </a:solidFill>
          <a:ln w="12700">
            <a:solidFill>
              <a:srgbClr val="58A6FF"/>
            </a:solidFill>
            <a:prstDash val="solid"/>
          </a:ln>
        </p:spPr>
      </p:sp>
      <p:sp>
        <p:nvSpPr>
          <p:cNvPr id="27" name="Text 25"/>
          <p:cNvSpPr/>
          <p:nvPr/>
        </p:nvSpPr>
        <p:spPr>
          <a:xfrm>
            <a:off x="4828032" y="3383280"/>
            <a:ext cx="4114800" cy="256032"/>
          </a:xfrm>
          <a:prstGeom prst="rect">
            <a:avLst/>
          </a:prstGeom>
          <a:noFill/>
          <a:ln/>
        </p:spPr>
        <p:txBody>
          <a:bodyPr wrap="square" lIns="0" tIns="0" rIns="0" bIns="0" rtlCol="0" anchor="ctr"/>
          <a:lstStyle/>
          <a:p>
            <a:pPr indent="0" marL="0">
              <a:buNone/>
            </a:pPr>
            <a:r>
              <a:rPr lang="en-US" sz="1100" b="1" dirty="0">
                <a:solidFill>
                  <a:srgbClr val="58A6FF"/>
                </a:solidFill>
                <a:latin typeface="Calibri" pitchFamily="34" charset="0"/>
                <a:ea typeface="Calibri" pitchFamily="34" charset="-122"/>
                <a:cs typeface="Calibri" pitchFamily="34" charset="-120"/>
              </a:rPr>
              <a:t>Post-Fix Verification</a:t>
            </a:r>
            <a:endParaRPr lang="en-US" sz="1100" dirty="0"/>
          </a:p>
        </p:txBody>
      </p:sp>
      <p:sp>
        <p:nvSpPr>
          <p:cNvPr id="28" name="Shape 26"/>
          <p:cNvSpPr/>
          <p:nvPr/>
        </p:nvSpPr>
        <p:spPr>
          <a:xfrm>
            <a:off x="4754880" y="3639312"/>
            <a:ext cx="4114800" cy="566928"/>
          </a:xfrm>
          <a:prstGeom prst="rect">
            <a:avLst/>
          </a:prstGeom>
          <a:solidFill>
            <a:srgbClr val="161B22"/>
          </a:solidFill>
          <a:ln w="12700">
            <a:solidFill>
              <a:srgbClr val="30363D"/>
            </a:solidFill>
            <a:prstDash val="solid"/>
          </a:ln>
        </p:spPr>
      </p:sp>
      <p:sp>
        <p:nvSpPr>
          <p:cNvPr id="29" name="Text 27"/>
          <p:cNvSpPr/>
          <p:nvPr/>
        </p:nvSpPr>
        <p:spPr>
          <a:xfrm>
            <a:off x="4846320" y="3657600"/>
            <a:ext cx="3931920" cy="530352"/>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Same $$ND_FUNC$$ payload no longer executes. CloudWatch shows no FILE READ SUCCESS or injected output. Error occurs before any attacker-controlled code runs — vulnerability fully mitigated.</a:t>
            </a:r>
            <a:endParaRPr lang="en-US" sz="1100" dirty="0"/>
          </a:p>
        </p:txBody>
      </p:sp>
      <p:sp>
        <p:nvSpPr>
          <p:cNvPr id="30" name="Shape 28"/>
          <p:cNvSpPr/>
          <p:nvPr/>
        </p:nvSpPr>
        <p:spPr>
          <a:xfrm>
            <a:off x="0" y="5097780"/>
            <a:ext cx="9144000" cy="45720"/>
          </a:xfrm>
          <a:prstGeom prst="rect">
            <a:avLst/>
          </a:prstGeom>
          <a:solidFill>
            <a:srgbClr val="161B22"/>
          </a:solidFill>
          <a:ln w="12700">
            <a:solidFill>
              <a:srgbClr val="161B22"/>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78166"/>
          </a:solidFill>
          <a:ln w="12700">
            <a:solidFill>
              <a:srgbClr val="F78166"/>
            </a:solidFill>
            <a:prstDash val="solid"/>
          </a:ln>
        </p:spPr>
      </p:sp>
      <p:sp>
        <p:nvSpPr>
          <p:cNvPr id="3" name="Shape 1"/>
          <p:cNvSpPr/>
          <p:nvPr/>
        </p:nvSpPr>
        <p:spPr>
          <a:xfrm>
            <a:off x="457200" y="137160"/>
            <a:ext cx="658368" cy="475488"/>
          </a:xfrm>
          <a:prstGeom prst="rect">
            <a:avLst/>
          </a:prstGeom>
          <a:solidFill>
            <a:srgbClr val="F78166"/>
          </a:solidFill>
          <a:ln w="12700">
            <a:solidFill>
              <a:srgbClr val="F78166"/>
            </a:solidFill>
            <a:prstDash val="solid"/>
          </a:ln>
        </p:spPr>
      </p:sp>
      <p:sp>
        <p:nvSpPr>
          <p:cNvPr id="4" name="Text 2"/>
          <p:cNvSpPr/>
          <p:nvPr/>
        </p:nvSpPr>
        <p:spPr>
          <a:xfrm>
            <a:off x="457200" y="137160"/>
            <a:ext cx="65836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V10</a:t>
            </a:r>
            <a:endParaRPr lang="en-US" sz="1400" dirty="0"/>
          </a:p>
        </p:txBody>
      </p:sp>
      <p:sp>
        <p:nvSpPr>
          <p:cNvPr id="5" name="Text 3"/>
          <p:cNvSpPr/>
          <p:nvPr/>
        </p:nvSpPr>
        <p:spPr>
          <a:xfrm>
            <a:off x="1188720" y="137160"/>
            <a:ext cx="7498080" cy="475488"/>
          </a:xfrm>
          <a:prstGeom prst="rect">
            <a:avLst/>
          </a:prstGeom>
          <a:noFill/>
          <a:ln/>
        </p:spPr>
        <p:txBody>
          <a:bodyPr wrap="square" lIns="0" tIns="0" rIns="0" bIns="0" rtlCol="0" anchor="ctr"/>
          <a:lstStyle/>
          <a:p>
            <a:pPr indent="0" marL="0">
              <a:buNone/>
            </a:pPr>
            <a:r>
              <a:rPr lang="en-US" sz="2200" b="1" dirty="0">
                <a:solidFill>
                  <a:srgbClr val="E6EDF3"/>
                </a:solidFill>
                <a:latin typeface="Calibri" pitchFamily="34" charset="0"/>
                <a:ea typeface="Calibri" pitchFamily="34" charset="-122"/>
                <a:cs typeface="Calibri" pitchFamily="34" charset="-120"/>
              </a:rPr>
              <a:t>Unhandled Exceptions</a:t>
            </a:r>
            <a:endParaRPr lang="en-US" sz="2200" dirty="0"/>
          </a:p>
        </p:txBody>
      </p:sp>
      <p:sp>
        <p:nvSpPr>
          <p:cNvPr id="6" name="Shape 4"/>
          <p:cNvSpPr/>
          <p:nvPr/>
        </p:nvSpPr>
        <p:spPr>
          <a:xfrm>
            <a:off x="457200" y="749808"/>
            <a:ext cx="4114800" cy="256032"/>
          </a:xfrm>
          <a:prstGeom prst="rect">
            <a:avLst/>
          </a:prstGeom>
          <a:solidFill>
            <a:srgbClr val="F78166">
              <a:alpha val="15000"/>
            </a:srgbClr>
          </a:solidFill>
          <a:ln w="12700">
            <a:solidFill>
              <a:srgbClr val="F78166"/>
            </a:solidFill>
            <a:prstDash val="solid"/>
          </a:ln>
        </p:spPr>
      </p:sp>
      <p:sp>
        <p:nvSpPr>
          <p:cNvPr id="7" name="Text 5"/>
          <p:cNvSpPr/>
          <p:nvPr/>
        </p:nvSpPr>
        <p:spPr>
          <a:xfrm>
            <a:off x="530352" y="749808"/>
            <a:ext cx="4114800" cy="256032"/>
          </a:xfrm>
          <a:prstGeom prst="rect">
            <a:avLst/>
          </a:prstGeom>
          <a:noFill/>
          <a:ln/>
        </p:spPr>
        <p:txBody>
          <a:bodyPr wrap="square" lIns="0" tIns="0" rIns="0" bIns="0" rtlCol="0" anchor="ctr"/>
          <a:lstStyle/>
          <a:p>
            <a:pPr indent="0" marL="0">
              <a:buNone/>
            </a:pPr>
            <a:r>
              <a:rPr lang="en-US" sz="1100" b="1" dirty="0">
                <a:solidFill>
                  <a:srgbClr val="F78166"/>
                </a:solidFill>
                <a:latin typeface="Calibri" pitchFamily="34" charset="0"/>
                <a:ea typeface="Calibri" pitchFamily="34" charset="-122"/>
                <a:cs typeface="Calibri" pitchFamily="34" charset="-120"/>
              </a:rPr>
              <a:t>Summary</a:t>
            </a:r>
            <a:endParaRPr lang="en-US" sz="1100" dirty="0"/>
          </a:p>
        </p:txBody>
      </p:sp>
      <p:sp>
        <p:nvSpPr>
          <p:cNvPr id="8" name="Shape 6"/>
          <p:cNvSpPr/>
          <p:nvPr/>
        </p:nvSpPr>
        <p:spPr>
          <a:xfrm>
            <a:off x="457200" y="1005840"/>
            <a:ext cx="4114800" cy="1005840"/>
          </a:xfrm>
          <a:prstGeom prst="rect">
            <a:avLst/>
          </a:prstGeom>
          <a:solidFill>
            <a:srgbClr val="161B22"/>
          </a:solidFill>
          <a:ln w="12700">
            <a:solidFill>
              <a:srgbClr val="30363D"/>
            </a:solidFill>
            <a:prstDash val="solid"/>
          </a:ln>
        </p:spPr>
      </p:sp>
      <p:sp>
        <p:nvSpPr>
          <p:cNvPr id="9" name="Text 7"/>
          <p:cNvSpPr/>
          <p:nvPr/>
        </p:nvSpPr>
        <p:spPr>
          <a:xfrm>
            <a:off x="548640" y="1024128"/>
            <a:ext cx="3931920" cy="969264"/>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Sending a request without the required order-id field causes DVSA-ORDER-GET to throw a Python KeyError. The raw exception — including file path /var/task/get_order.py, code line, and stack trace — is returned to the user.</a:t>
            </a:r>
            <a:endParaRPr lang="en-US" sz="1100" dirty="0"/>
          </a:p>
        </p:txBody>
      </p:sp>
      <p:sp>
        <p:nvSpPr>
          <p:cNvPr id="10" name="Shape 8"/>
          <p:cNvSpPr/>
          <p:nvPr/>
        </p:nvSpPr>
        <p:spPr>
          <a:xfrm>
            <a:off x="457200" y="2103120"/>
            <a:ext cx="4114800" cy="256032"/>
          </a:xfrm>
          <a:prstGeom prst="rect">
            <a:avLst/>
          </a:prstGeom>
          <a:solidFill>
            <a:srgbClr val="D29922">
              <a:alpha val="15000"/>
            </a:srgbClr>
          </a:solidFill>
          <a:ln w="12700">
            <a:solidFill>
              <a:srgbClr val="D29922"/>
            </a:solidFill>
            <a:prstDash val="solid"/>
          </a:ln>
        </p:spPr>
      </p:sp>
      <p:sp>
        <p:nvSpPr>
          <p:cNvPr id="11" name="Text 9"/>
          <p:cNvSpPr/>
          <p:nvPr/>
        </p:nvSpPr>
        <p:spPr>
          <a:xfrm>
            <a:off x="530352" y="2103120"/>
            <a:ext cx="4114800" cy="256032"/>
          </a:xfrm>
          <a:prstGeom prst="rect">
            <a:avLst/>
          </a:prstGeom>
          <a:noFill/>
          <a:ln/>
        </p:spPr>
        <p:txBody>
          <a:bodyPr wrap="square" lIns="0" tIns="0" rIns="0" bIns="0" rtlCol="0" anchor="ctr"/>
          <a:lstStyle/>
          <a:p>
            <a:pPr indent="0" marL="0">
              <a:buNone/>
            </a:pPr>
            <a:r>
              <a:rPr lang="en-US" sz="1100" b="1" dirty="0">
                <a:solidFill>
                  <a:srgbClr val="D29922"/>
                </a:solidFill>
                <a:latin typeface="Calibri" pitchFamily="34" charset="0"/>
                <a:ea typeface="Calibri" pitchFamily="34" charset="-122"/>
                <a:cs typeface="Calibri" pitchFamily="34" charset="-120"/>
              </a:rPr>
              <a:t>Root Cause</a:t>
            </a:r>
            <a:endParaRPr lang="en-US" sz="1100" dirty="0"/>
          </a:p>
        </p:txBody>
      </p:sp>
      <p:sp>
        <p:nvSpPr>
          <p:cNvPr id="12" name="Shape 10"/>
          <p:cNvSpPr/>
          <p:nvPr/>
        </p:nvSpPr>
        <p:spPr>
          <a:xfrm>
            <a:off x="457200" y="2359152"/>
            <a:ext cx="4114800" cy="777240"/>
          </a:xfrm>
          <a:prstGeom prst="rect">
            <a:avLst/>
          </a:prstGeom>
          <a:solidFill>
            <a:srgbClr val="161B22"/>
          </a:solidFill>
          <a:ln w="12700">
            <a:solidFill>
              <a:srgbClr val="30363D"/>
            </a:solidFill>
            <a:prstDash val="solid"/>
          </a:ln>
        </p:spPr>
      </p:sp>
      <p:sp>
        <p:nvSpPr>
          <p:cNvPr id="13" name="Text 11"/>
          <p:cNvSpPr/>
          <p:nvPr/>
        </p:nvSpPr>
        <p:spPr>
          <a:xfrm>
            <a:off x="548640" y="2377440"/>
            <a:ext cx="3931920" cy="740664"/>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The backend used event['orderId'] direct dictionary access without validation. Missing keys raise unhandled KeyError exceptions. No try/except wrapper was present, so raw error details were exposed to the client.</a:t>
            </a:r>
            <a:endParaRPr lang="en-US" sz="1100" dirty="0"/>
          </a:p>
        </p:txBody>
      </p:sp>
      <p:sp>
        <p:nvSpPr>
          <p:cNvPr id="14" name="Shape 12"/>
          <p:cNvSpPr/>
          <p:nvPr/>
        </p:nvSpPr>
        <p:spPr>
          <a:xfrm>
            <a:off x="457200" y="3218688"/>
            <a:ext cx="4114800" cy="256032"/>
          </a:xfrm>
          <a:prstGeom prst="rect">
            <a:avLst/>
          </a:prstGeom>
          <a:solidFill>
            <a:srgbClr val="58A6FF">
              <a:alpha val="15000"/>
            </a:srgbClr>
          </a:solidFill>
          <a:ln w="12700">
            <a:solidFill>
              <a:srgbClr val="58A6FF"/>
            </a:solidFill>
            <a:prstDash val="solid"/>
          </a:ln>
        </p:spPr>
      </p:sp>
      <p:sp>
        <p:nvSpPr>
          <p:cNvPr id="15" name="Text 13"/>
          <p:cNvSpPr/>
          <p:nvPr/>
        </p:nvSpPr>
        <p:spPr>
          <a:xfrm>
            <a:off x="530352" y="3218688"/>
            <a:ext cx="4114800" cy="256032"/>
          </a:xfrm>
          <a:prstGeom prst="rect">
            <a:avLst/>
          </a:prstGeom>
          <a:noFill/>
          <a:ln/>
        </p:spPr>
        <p:txBody>
          <a:bodyPr wrap="square" lIns="0" tIns="0" rIns="0" bIns="0" rtlCol="0" anchor="ctr"/>
          <a:lstStyle/>
          <a:p>
            <a:pPr indent="0" marL="0">
              <a:buNone/>
            </a:pPr>
            <a:r>
              <a:rPr lang="en-US" sz="1100" b="1" dirty="0">
                <a:solidFill>
                  <a:srgbClr val="58A6FF"/>
                </a:solidFill>
                <a:latin typeface="Calibri" pitchFamily="34" charset="0"/>
                <a:ea typeface="Calibri" pitchFamily="34" charset="-122"/>
                <a:cs typeface="Calibri" pitchFamily="34" charset="-120"/>
              </a:rPr>
              <a:t>Deviation Class</a:t>
            </a:r>
            <a:endParaRPr lang="en-US" sz="1100" dirty="0"/>
          </a:p>
        </p:txBody>
      </p:sp>
      <p:sp>
        <p:nvSpPr>
          <p:cNvPr id="16" name="Shape 14"/>
          <p:cNvSpPr/>
          <p:nvPr/>
        </p:nvSpPr>
        <p:spPr>
          <a:xfrm>
            <a:off x="457200" y="3474720"/>
            <a:ext cx="4114800" cy="457200"/>
          </a:xfrm>
          <a:prstGeom prst="rect">
            <a:avLst/>
          </a:prstGeom>
          <a:solidFill>
            <a:srgbClr val="161B22"/>
          </a:solidFill>
          <a:ln w="12700">
            <a:solidFill>
              <a:srgbClr val="30363D"/>
            </a:solidFill>
            <a:prstDash val="solid"/>
          </a:ln>
        </p:spPr>
      </p:sp>
      <p:sp>
        <p:nvSpPr>
          <p:cNvPr id="17" name="Text 15"/>
          <p:cNvSpPr/>
          <p:nvPr/>
        </p:nvSpPr>
        <p:spPr>
          <a:xfrm>
            <a:off x="548640" y="3493008"/>
            <a:ext cx="3931920" cy="420624"/>
          </a:xfrm>
          <a:prstGeom prst="rect">
            <a:avLst/>
          </a:prstGeom>
          <a:noFill/>
          <a:ln/>
        </p:spPr>
        <p:txBody>
          <a:bodyPr wrap="square" lIns="0" tIns="0" rIns="0" bIns="0" rtlCol="0" anchor="ctr"/>
          <a:lstStyle/>
          <a:p>
            <a:pPr indent="0" marL="0">
              <a:buNone/>
            </a:pPr>
            <a:r>
              <a:rPr lang="en-US" sz="1100" b="1" dirty="0">
                <a:solidFill>
                  <a:srgbClr val="58A6FF"/>
                </a:solidFill>
                <a:latin typeface="Calibri" pitchFamily="34" charset="0"/>
                <a:ea typeface="Calibri" pitchFamily="34" charset="-122"/>
                <a:cs typeface="Calibri" pitchFamily="34" charset="-120"/>
              </a:rPr>
              <a:t>Poor input validation / Information disclosure / Improper error handling</a:t>
            </a:r>
            <a:endParaRPr lang="en-US" sz="1100" dirty="0"/>
          </a:p>
        </p:txBody>
      </p:sp>
      <p:sp>
        <p:nvSpPr>
          <p:cNvPr id="18" name="Shape 16"/>
          <p:cNvSpPr/>
          <p:nvPr/>
        </p:nvSpPr>
        <p:spPr>
          <a:xfrm>
            <a:off x="4754880" y="749808"/>
            <a:ext cx="4114800" cy="256032"/>
          </a:xfrm>
          <a:prstGeom prst="rect">
            <a:avLst/>
          </a:prstGeom>
          <a:solidFill>
            <a:srgbClr val="000000"/>
          </a:solidFill>
          <a:ln w="12700">
            <a:solidFill>
              <a:srgbClr val="3FB950"/>
            </a:solidFill>
            <a:prstDash val="solid"/>
          </a:ln>
        </p:spPr>
      </p:sp>
      <p:sp>
        <p:nvSpPr>
          <p:cNvPr id="19" name="Text 17"/>
          <p:cNvSpPr/>
          <p:nvPr/>
        </p:nvSpPr>
        <p:spPr>
          <a:xfrm>
            <a:off x="4828032" y="749808"/>
            <a:ext cx="4114800" cy="256032"/>
          </a:xfrm>
          <a:prstGeom prst="rect">
            <a:avLst/>
          </a:prstGeom>
          <a:noFill/>
          <a:ln/>
        </p:spPr>
        <p:txBody>
          <a:bodyPr wrap="square" lIns="0" tIns="0" rIns="0" bIns="0" rtlCol="0" anchor="ctr"/>
          <a:lstStyle/>
          <a:p>
            <a:pPr indent="0" marL="0">
              <a:buNone/>
            </a:pPr>
            <a:r>
              <a:rPr lang="en-US" sz="1100" b="1" dirty="0">
                <a:solidFill>
                  <a:srgbClr val="3FB950"/>
                </a:solidFill>
                <a:latin typeface="Calibri" pitchFamily="34" charset="0"/>
                <a:ea typeface="Calibri" pitchFamily="34" charset="-122"/>
                <a:cs typeface="Calibri" pitchFamily="34" charset="-120"/>
              </a:rPr>
              <a:t>Fix Applied</a:t>
            </a:r>
            <a:endParaRPr lang="en-US" sz="1100" dirty="0"/>
          </a:p>
        </p:txBody>
      </p:sp>
      <p:sp>
        <p:nvSpPr>
          <p:cNvPr id="20" name="Shape 18"/>
          <p:cNvSpPr/>
          <p:nvPr/>
        </p:nvSpPr>
        <p:spPr>
          <a:xfrm>
            <a:off x="4754880" y="1005840"/>
            <a:ext cx="4114800" cy="868680"/>
          </a:xfrm>
          <a:prstGeom prst="rect">
            <a:avLst/>
          </a:prstGeom>
          <a:solidFill>
            <a:srgbClr val="161B22"/>
          </a:solidFill>
          <a:ln w="12700">
            <a:solidFill>
              <a:srgbClr val="30363D"/>
            </a:solidFill>
            <a:prstDash val="solid"/>
          </a:ln>
        </p:spPr>
      </p:sp>
      <p:sp>
        <p:nvSpPr>
          <p:cNvPr id="21" name="Text 19"/>
          <p:cNvSpPr/>
          <p:nvPr/>
        </p:nvSpPr>
        <p:spPr>
          <a:xfrm>
            <a:off x="4846320" y="1024128"/>
            <a:ext cx="3931920" cy="832104"/>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Replaced direct dictionary access with event.get(). Added explicit presence checks for required fields. Wrapped all database logic in try/except. Returns only safe generic error messages to the client.</a:t>
            </a:r>
            <a:endParaRPr lang="en-US" sz="1100" dirty="0"/>
          </a:p>
        </p:txBody>
      </p:sp>
      <p:sp>
        <p:nvSpPr>
          <p:cNvPr id="22" name="Shape 20"/>
          <p:cNvSpPr/>
          <p:nvPr/>
        </p:nvSpPr>
        <p:spPr>
          <a:xfrm>
            <a:off x="4754880" y="1947672"/>
            <a:ext cx="4114800" cy="256032"/>
          </a:xfrm>
          <a:prstGeom prst="rect">
            <a:avLst/>
          </a:prstGeom>
          <a:solidFill>
            <a:srgbClr val="3FB950">
              <a:alpha val="15000"/>
            </a:srgbClr>
          </a:solidFill>
          <a:ln w="12700">
            <a:solidFill>
              <a:srgbClr val="3FB950"/>
            </a:solidFill>
            <a:prstDash val="solid"/>
          </a:ln>
        </p:spPr>
      </p:sp>
      <p:sp>
        <p:nvSpPr>
          <p:cNvPr id="23" name="Text 21"/>
          <p:cNvSpPr/>
          <p:nvPr/>
        </p:nvSpPr>
        <p:spPr>
          <a:xfrm>
            <a:off x="4828032" y="1947672"/>
            <a:ext cx="4114800" cy="256032"/>
          </a:xfrm>
          <a:prstGeom prst="rect">
            <a:avLst/>
          </a:prstGeom>
          <a:noFill/>
          <a:ln/>
        </p:spPr>
        <p:txBody>
          <a:bodyPr wrap="square" lIns="0" tIns="0" rIns="0" bIns="0" rtlCol="0" anchor="ctr"/>
          <a:lstStyle/>
          <a:p>
            <a:pPr indent="0" marL="0">
              <a:buNone/>
            </a:pPr>
            <a:r>
              <a:rPr lang="en-US" sz="1100" b="1" dirty="0">
                <a:solidFill>
                  <a:srgbClr val="3FB950"/>
                </a:solidFill>
                <a:latin typeface="Calibri" pitchFamily="34" charset="0"/>
                <a:ea typeface="Calibri" pitchFamily="34" charset="-122"/>
                <a:cs typeface="Calibri" pitchFamily="34" charset="-120"/>
              </a:rPr>
              <a:t>Code / Config Change</a:t>
            </a:r>
            <a:endParaRPr lang="en-US" sz="1100" dirty="0"/>
          </a:p>
        </p:txBody>
      </p:sp>
      <p:sp>
        <p:nvSpPr>
          <p:cNvPr id="24" name="Shape 22"/>
          <p:cNvSpPr/>
          <p:nvPr/>
        </p:nvSpPr>
        <p:spPr>
          <a:xfrm>
            <a:off x="4754880" y="2203704"/>
            <a:ext cx="4114800" cy="1097280"/>
          </a:xfrm>
          <a:prstGeom prst="rect">
            <a:avLst/>
          </a:prstGeom>
          <a:solidFill>
            <a:srgbClr val="0D1117"/>
          </a:solidFill>
          <a:ln w="12700">
            <a:solidFill>
              <a:srgbClr val="30363D"/>
            </a:solidFill>
            <a:prstDash val="solid"/>
          </a:ln>
        </p:spPr>
      </p:sp>
      <p:sp>
        <p:nvSpPr>
          <p:cNvPr id="25" name="Text 23"/>
          <p:cNvSpPr/>
          <p:nvPr/>
        </p:nvSpPr>
        <p:spPr>
          <a:xfrm>
            <a:off x="4846320" y="2221992"/>
            <a:ext cx="3931920" cy="1060704"/>
          </a:xfrm>
          <a:prstGeom prst="rect">
            <a:avLst/>
          </a:prstGeom>
          <a:noFill/>
          <a:ln/>
        </p:spPr>
        <p:txBody>
          <a:bodyPr wrap="square" lIns="0" tIns="0" rIns="0" bIns="0" rtlCol="0" anchor="t"/>
          <a:lstStyle/>
          <a:p>
            <a:pPr indent="0" marL="0">
              <a:buNone/>
            </a:pPr>
            <a:r>
              <a:rPr lang="en-US" sz="950" dirty="0">
                <a:solidFill>
                  <a:srgbClr val="3FB950"/>
                </a:solidFill>
                <a:latin typeface="Consolas" pitchFamily="34" charset="0"/>
                <a:ea typeface="Consolas" pitchFamily="34" charset="-122"/>
                <a:cs typeface="Consolas" pitchFamily="34" charset="-120"/>
              </a:rPr>
              <a:t>BEFORE:</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orderId = event["orderId"]  # KeyError!</a:t>
            </a:r>
            <a:endParaRPr lang="en-US" sz="950" dirty="0"/>
          </a:p>
          <a:p>
            <a:pPr indent="0" marL="0">
              <a:buNone/>
            </a:pP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AFTER:</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orderId = event.get("orderId")</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if not orderId:</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  return {"status":"err",</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    "msg":"Missing required field: orderId"}</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try:</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  # DB logic</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except Exception as e:</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  print("Internal:", str(e))</a:t>
            </a:r>
            <a:endParaRPr lang="en-US" sz="950" dirty="0"/>
          </a:p>
          <a:p>
            <a:pPr indent="0" marL="0">
              <a:buNone/>
            </a:pPr>
            <a:r>
              <a:rPr lang="en-US" sz="950" dirty="0">
                <a:solidFill>
                  <a:srgbClr val="3FB950"/>
                </a:solidFill>
                <a:latin typeface="Consolas" pitchFamily="34" charset="0"/>
                <a:ea typeface="Consolas" pitchFamily="34" charset="-122"/>
                <a:cs typeface="Consolas" pitchFamily="34" charset="-120"/>
              </a:rPr>
              <a:t>  return {"status":"err","msg":"Internal server error"}</a:t>
            </a:r>
            <a:endParaRPr lang="en-US" sz="950" dirty="0"/>
          </a:p>
        </p:txBody>
      </p:sp>
      <p:sp>
        <p:nvSpPr>
          <p:cNvPr id="26" name="Shape 24"/>
          <p:cNvSpPr/>
          <p:nvPr/>
        </p:nvSpPr>
        <p:spPr>
          <a:xfrm>
            <a:off x="4754880" y="3383280"/>
            <a:ext cx="4114800" cy="256032"/>
          </a:xfrm>
          <a:prstGeom prst="rect">
            <a:avLst/>
          </a:prstGeom>
          <a:solidFill>
            <a:srgbClr val="58A6FF">
              <a:alpha val="15000"/>
            </a:srgbClr>
          </a:solidFill>
          <a:ln w="12700">
            <a:solidFill>
              <a:srgbClr val="58A6FF"/>
            </a:solidFill>
            <a:prstDash val="solid"/>
          </a:ln>
        </p:spPr>
      </p:sp>
      <p:sp>
        <p:nvSpPr>
          <p:cNvPr id="27" name="Text 25"/>
          <p:cNvSpPr/>
          <p:nvPr/>
        </p:nvSpPr>
        <p:spPr>
          <a:xfrm>
            <a:off x="4828032" y="3383280"/>
            <a:ext cx="4114800" cy="256032"/>
          </a:xfrm>
          <a:prstGeom prst="rect">
            <a:avLst/>
          </a:prstGeom>
          <a:noFill/>
          <a:ln/>
        </p:spPr>
        <p:txBody>
          <a:bodyPr wrap="square" lIns="0" tIns="0" rIns="0" bIns="0" rtlCol="0" anchor="ctr"/>
          <a:lstStyle/>
          <a:p>
            <a:pPr indent="0" marL="0">
              <a:buNone/>
            </a:pPr>
            <a:r>
              <a:rPr lang="en-US" sz="1100" b="1" dirty="0">
                <a:solidFill>
                  <a:srgbClr val="58A6FF"/>
                </a:solidFill>
                <a:latin typeface="Calibri" pitchFamily="34" charset="0"/>
                <a:ea typeface="Calibri" pitchFamily="34" charset="-122"/>
                <a:cs typeface="Calibri" pitchFamily="34" charset="-120"/>
              </a:rPr>
              <a:t>Post-Fix Verification</a:t>
            </a:r>
            <a:endParaRPr lang="en-US" sz="1100" dirty="0"/>
          </a:p>
        </p:txBody>
      </p:sp>
      <p:sp>
        <p:nvSpPr>
          <p:cNvPr id="28" name="Shape 26"/>
          <p:cNvSpPr/>
          <p:nvPr/>
        </p:nvSpPr>
        <p:spPr>
          <a:xfrm>
            <a:off x="4754880" y="3639312"/>
            <a:ext cx="4114800" cy="566928"/>
          </a:xfrm>
          <a:prstGeom prst="rect">
            <a:avLst/>
          </a:prstGeom>
          <a:solidFill>
            <a:srgbClr val="161B22"/>
          </a:solidFill>
          <a:ln w="12700">
            <a:solidFill>
              <a:srgbClr val="30363D"/>
            </a:solidFill>
            <a:prstDash val="solid"/>
          </a:ln>
        </p:spPr>
      </p:sp>
      <p:sp>
        <p:nvSpPr>
          <p:cNvPr id="29" name="Text 27"/>
          <p:cNvSpPr/>
          <p:nvPr/>
        </p:nvSpPr>
        <p:spPr>
          <a:xfrm>
            <a:off x="4846320" y="3657600"/>
            <a:ext cx="3931920" cy="530352"/>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Same malformed request now returns:</a:t>
            </a:r>
            <a:endParaRPr lang="en-US" sz="1100" dirty="0"/>
          </a:p>
          <a:p>
            <a:pPr indent="0" marL="0">
              <a:buNone/>
            </a:pPr>
            <a:r>
              <a:rPr lang="en-US" sz="1100" dirty="0">
                <a:solidFill>
                  <a:srgbClr val="E6EDF3"/>
                </a:solidFill>
                <a:latin typeface="Calibri" pitchFamily="34" charset="0"/>
                <a:ea typeface="Calibri" pitchFamily="34" charset="-122"/>
                <a:cs typeface="Calibri" pitchFamily="34" charset="-120"/>
              </a:rPr>
              <a:t>{status:"err",msg:"Missing required field: orderId"}</a:t>
            </a:r>
            <a:endParaRPr lang="en-US" sz="1100" dirty="0"/>
          </a:p>
          <a:p>
            <a:pPr indent="0" marL="0">
              <a:buNone/>
            </a:pPr>
            <a:r>
              <a:rPr lang="en-US" sz="1100" dirty="0">
                <a:solidFill>
                  <a:srgbClr val="E6EDF3"/>
                </a:solidFill>
                <a:latin typeface="Calibri" pitchFamily="34" charset="0"/>
                <a:ea typeface="Calibri" pitchFamily="34" charset="-122"/>
                <a:cs typeface="Calibri" pitchFamily="34" charset="-120"/>
              </a:rPr>
              <a:t>No stack trace, file path, or source code line is exposed. Internal errors logged to CloudWatch only.</a:t>
            </a:r>
            <a:endParaRPr lang="en-US" sz="1100" dirty="0"/>
          </a:p>
        </p:txBody>
      </p:sp>
      <p:sp>
        <p:nvSpPr>
          <p:cNvPr id="30" name="Shape 28"/>
          <p:cNvSpPr/>
          <p:nvPr/>
        </p:nvSpPr>
        <p:spPr>
          <a:xfrm>
            <a:off x="0" y="5097780"/>
            <a:ext cx="9144000" cy="45720"/>
          </a:xfrm>
          <a:prstGeom prst="rect">
            <a:avLst/>
          </a:prstGeom>
          <a:solidFill>
            <a:srgbClr val="161B22"/>
          </a:solidFill>
          <a:ln w="12700">
            <a:solidFill>
              <a:srgbClr val="161B22"/>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8A6FF"/>
          </a:solidFill>
          <a:ln w="12700">
            <a:solidFill>
              <a:srgbClr val="58A6FF"/>
            </a:solidFill>
            <a:prstDash val="solid"/>
          </a:ln>
        </p:spPr>
      </p:sp>
      <p:sp>
        <p:nvSpPr>
          <p:cNvPr id="3" name="Text 1"/>
          <p:cNvSpPr/>
          <p:nvPr/>
        </p:nvSpPr>
        <p:spPr>
          <a:xfrm>
            <a:off x="457200" y="137160"/>
            <a:ext cx="8229600" cy="457200"/>
          </a:xfrm>
          <a:prstGeom prst="rect">
            <a:avLst/>
          </a:prstGeom>
          <a:noFill/>
          <a:ln/>
        </p:spPr>
        <p:txBody>
          <a:bodyPr wrap="square" lIns="0" tIns="0" rIns="0" bIns="0" rtlCol="0" anchor="ctr"/>
          <a:lstStyle/>
          <a:p>
            <a:pPr indent="0" marL="0">
              <a:buNone/>
            </a:pPr>
            <a:r>
              <a:rPr lang="en-US" sz="2200" b="1" dirty="0">
                <a:solidFill>
                  <a:srgbClr val="E6EDF3"/>
                </a:solidFill>
                <a:latin typeface="Calibri" pitchFamily="34" charset="0"/>
                <a:ea typeface="Calibri" pitchFamily="34" charset="-122"/>
                <a:cs typeface="Calibri" pitchFamily="34" charset="-120"/>
              </a:rPr>
              <a:t>Structured Security Analysis — Table A</a:t>
            </a:r>
            <a:endParaRPr lang="en-US" sz="2200" dirty="0"/>
          </a:p>
        </p:txBody>
      </p:sp>
      <p:sp>
        <p:nvSpPr>
          <p:cNvPr id="4" name="Text 2"/>
          <p:cNvSpPr/>
          <p:nvPr/>
        </p:nvSpPr>
        <p:spPr>
          <a:xfrm>
            <a:off x="457200" y="566928"/>
            <a:ext cx="8229600" cy="274320"/>
          </a:xfrm>
          <a:prstGeom prst="rect">
            <a:avLst/>
          </a:prstGeom>
          <a:noFill/>
          <a:ln/>
        </p:spPr>
        <p:txBody>
          <a:bodyPr wrap="square" lIns="0" tIns="0" rIns="0" bIns="0" rtlCol="0" anchor="ctr"/>
          <a:lstStyle/>
          <a:p>
            <a:pPr indent="0" marL="0">
              <a:buNone/>
            </a:pPr>
            <a:r>
              <a:rPr lang="en-US" sz="1300" dirty="0">
                <a:solidFill>
                  <a:srgbClr val="8B949E"/>
                </a:solidFill>
                <a:latin typeface="Calibri" pitchFamily="34" charset="0"/>
                <a:ea typeface="Calibri" pitchFamily="34" charset="-122"/>
                <a:cs typeface="Calibri" pitchFamily="34" charset="-120"/>
              </a:rPr>
              <a:t>Intended Rules vs. Exploit Behavior</a:t>
            </a:r>
            <a:endParaRPr lang="en-US" sz="1300" dirty="0"/>
          </a:p>
        </p:txBody>
      </p:sp>
      <p:sp>
        <p:nvSpPr>
          <p:cNvPr id="5" name="Shape 3"/>
          <p:cNvSpPr/>
          <p:nvPr/>
        </p:nvSpPr>
        <p:spPr>
          <a:xfrm>
            <a:off x="91440" y="896112"/>
            <a:ext cx="1828800" cy="365760"/>
          </a:xfrm>
          <a:prstGeom prst="rect">
            <a:avLst/>
          </a:prstGeom>
          <a:solidFill>
            <a:srgbClr val="58A6FF"/>
          </a:solidFill>
          <a:ln w="12700">
            <a:solidFill>
              <a:srgbClr val="30363D"/>
            </a:solidFill>
            <a:prstDash val="solid"/>
          </a:ln>
        </p:spPr>
      </p:sp>
      <p:sp>
        <p:nvSpPr>
          <p:cNvPr id="6" name="Text 4"/>
          <p:cNvSpPr/>
          <p:nvPr/>
        </p:nvSpPr>
        <p:spPr>
          <a:xfrm>
            <a:off x="137160" y="896112"/>
            <a:ext cx="1737360" cy="36576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Vulnerability</a:t>
            </a:r>
            <a:endParaRPr lang="en-US" sz="1000" dirty="0"/>
          </a:p>
        </p:txBody>
      </p:sp>
      <p:sp>
        <p:nvSpPr>
          <p:cNvPr id="7" name="Shape 5"/>
          <p:cNvSpPr/>
          <p:nvPr/>
        </p:nvSpPr>
        <p:spPr>
          <a:xfrm>
            <a:off x="1920240" y="896112"/>
            <a:ext cx="2194560" cy="365760"/>
          </a:xfrm>
          <a:prstGeom prst="rect">
            <a:avLst/>
          </a:prstGeom>
          <a:solidFill>
            <a:srgbClr val="58A6FF"/>
          </a:solidFill>
          <a:ln w="12700">
            <a:solidFill>
              <a:srgbClr val="30363D"/>
            </a:solidFill>
            <a:prstDash val="solid"/>
          </a:ln>
        </p:spPr>
      </p:sp>
      <p:sp>
        <p:nvSpPr>
          <p:cNvPr id="8" name="Text 6"/>
          <p:cNvSpPr/>
          <p:nvPr/>
        </p:nvSpPr>
        <p:spPr>
          <a:xfrm>
            <a:off x="1965960" y="896112"/>
            <a:ext cx="2103120" cy="36576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Intended Rule</a:t>
            </a:r>
            <a:endParaRPr lang="en-US" sz="1000" dirty="0"/>
          </a:p>
        </p:txBody>
      </p:sp>
      <p:sp>
        <p:nvSpPr>
          <p:cNvPr id="9" name="Shape 7"/>
          <p:cNvSpPr/>
          <p:nvPr/>
        </p:nvSpPr>
        <p:spPr>
          <a:xfrm>
            <a:off x="4114800" y="896112"/>
            <a:ext cx="2194560" cy="365760"/>
          </a:xfrm>
          <a:prstGeom prst="rect">
            <a:avLst/>
          </a:prstGeom>
          <a:solidFill>
            <a:srgbClr val="58A6FF"/>
          </a:solidFill>
          <a:ln w="12700">
            <a:solidFill>
              <a:srgbClr val="30363D"/>
            </a:solidFill>
            <a:prstDash val="solid"/>
          </a:ln>
        </p:spPr>
      </p:sp>
      <p:sp>
        <p:nvSpPr>
          <p:cNvPr id="10" name="Text 8"/>
          <p:cNvSpPr/>
          <p:nvPr/>
        </p:nvSpPr>
        <p:spPr>
          <a:xfrm>
            <a:off x="4160520" y="896112"/>
            <a:ext cx="2103120" cy="36576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Normal Behavior</a:t>
            </a:r>
            <a:endParaRPr lang="en-US" sz="1000" dirty="0"/>
          </a:p>
        </p:txBody>
      </p:sp>
      <p:sp>
        <p:nvSpPr>
          <p:cNvPr id="11" name="Shape 9"/>
          <p:cNvSpPr/>
          <p:nvPr/>
        </p:nvSpPr>
        <p:spPr>
          <a:xfrm>
            <a:off x="6309360" y="896112"/>
            <a:ext cx="2834640" cy="365760"/>
          </a:xfrm>
          <a:prstGeom prst="rect">
            <a:avLst/>
          </a:prstGeom>
          <a:solidFill>
            <a:srgbClr val="58A6FF"/>
          </a:solidFill>
          <a:ln w="12700">
            <a:solidFill>
              <a:srgbClr val="30363D"/>
            </a:solidFill>
            <a:prstDash val="solid"/>
          </a:ln>
        </p:spPr>
      </p:sp>
      <p:sp>
        <p:nvSpPr>
          <p:cNvPr id="12" name="Text 10"/>
          <p:cNvSpPr/>
          <p:nvPr/>
        </p:nvSpPr>
        <p:spPr>
          <a:xfrm>
            <a:off x="6355080" y="896112"/>
            <a:ext cx="2743200" cy="36576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Exploit Behavior</a:t>
            </a:r>
            <a:endParaRPr lang="en-US" sz="1000" dirty="0"/>
          </a:p>
        </p:txBody>
      </p:sp>
      <p:sp>
        <p:nvSpPr>
          <p:cNvPr id="13" name="Shape 11"/>
          <p:cNvSpPr/>
          <p:nvPr/>
        </p:nvSpPr>
        <p:spPr>
          <a:xfrm>
            <a:off x="91440" y="1261872"/>
            <a:ext cx="1828800" cy="365760"/>
          </a:xfrm>
          <a:prstGeom prst="rect">
            <a:avLst/>
          </a:prstGeom>
          <a:solidFill>
            <a:srgbClr val="0D1117"/>
          </a:solidFill>
          <a:ln w="12700">
            <a:solidFill>
              <a:srgbClr val="30363D"/>
            </a:solidFill>
            <a:prstDash val="solid"/>
          </a:ln>
        </p:spPr>
      </p:sp>
      <p:sp>
        <p:nvSpPr>
          <p:cNvPr id="14" name="Text 12"/>
          <p:cNvSpPr/>
          <p:nvPr/>
        </p:nvSpPr>
        <p:spPr>
          <a:xfrm>
            <a:off x="137160" y="1261872"/>
            <a:ext cx="1737360" cy="365760"/>
          </a:xfrm>
          <a:prstGeom prst="rect">
            <a:avLst/>
          </a:prstGeom>
          <a:noFill/>
          <a:ln/>
        </p:spPr>
        <p:txBody>
          <a:bodyPr wrap="square" lIns="0" tIns="0" rIns="0" bIns="0" rtlCol="0" anchor="ctr"/>
          <a:lstStyle/>
          <a:p>
            <a:pPr indent="0" marL="0">
              <a:buNone/>
            </a:pPr>
            <a:r>
              <a:rPr lang="en-US" sz="900" dirty="0">
                <a:solidFill>
                  <a:srgbClr val="F78166"/>
                </a:solidFill>
                <a:latin typeface="Calibri" pitchFamily="34" charset="0"/>
                <a:ea typeface="Calibri" pitchFamily="34" charset="-122"/>
                <a:cs typeface="Calibri" pitchFamily="34" charset="-120"/>
              </a:rPr>
              <a:t>V1 — Event Injection</a:t>
            </a:r>
            <a:endParaRPr lang="en-US" sz="900" dirty="0"/>
          </a:p>
        </p:txBody>
      </p:sp>
      <p:sp>
        <p:nvSpPr>
          <p:cNvPr id="15" name="Shape 13"/>
          <p:cNvSpPr/>
          <p:nvPr/>
        </p:nvSpPr>
        <p:spPr>
          <a:xfrm>
            <a:off x="1920240" y="1261872"/>
            <a:ext cx="2194560" cy="365760"/>
          </a:xfrm>
          <a:prstGeom prst="rect">
            <a:avLst/>
          </a:prstGeom>
          <a:solidFill>
            <a:srgbClr val="0D1117"/>
          </a:solidFill>
          <a:ln w="12700">
            <a:solidFill>
              <a:srgbClr val="30363D"/>
            </a:solidFill>
            <a:prstDash val="solid"/>
          </a:ln>
        </p:spPr>
      </p:sp>
      <p:sp>
        <p:nvSpPr>
          <p:cNvPr id="16" name="Text 14"/>
          <p:cNvSpPr/>
          <p:nvPr/>
        </p:nvSpPr>
        <p:spPr>
          <a:xfrm>
            <a:off x="1965960" y="1261872"/>
            <a:ext cx="2103120" cy="365760"/>
          </a:xfrm>
          <a:prstGeom prst="rect">
            <a:avLst/>
          </a:prstGeom>
          <a:noFill/>
          <a:ln/>
        </p:spPr>
        <p:txBody>
          <a:bodyPr wrap="square" lIns="0" tIns="0" rIns="0" bIns="0" rtlCol="0" anchor="ctr"/>
          <a:lstStyle/>
          <a:p>
            <a:pPr indent="0" marL="0">
              <a:buNone/>
            </a:pPr>
            <a:r>
              <a:rPr lang="en-US" sz="900" dirty="0">
                <a:solidFill>
                  <a:srgbClr val="E6EDF3"/>
                </a:solidFill>
                <a:latin typeface="Calibri" pitchFamily="34" charset="0"/>
                <a:ea typeface="Calibri" pitchFamily="34" charset="-122"/>
                <a:cs typeface="Calibri" pitchFamily="34" charset="-120"/>
              </a:rPr>
              <a:t>Input treated as data only</a:t>
            </a:r>
            <a:endParaRPr lang="en-US" sz="900" dirty="0"/>
          </a:p>
        </p:txBody>
      </p:sp>
      <p:sp>
        <p:nvSpPr>
          <p:cNvPr id="17" name="Shape 15"/>
          <p:cNvSpPr/>
          <p:nvPr/>
        </p:nvSpPr>
        <p:spPr>
          <a:xfrm>
            <a:off x="4114800" y="1261872"/>
            <a:ext cx="2194560" cy="365760"/>
          </a:xfrm>
          <a:prstGeom prst="rect">
            <a:avLst/>
          </a:prstGeom>
          <a:solidFill>
            <a:srgbClr val="0D1117"/>
          </a:solidFill>
          <a:ln w="12700">
            <a:solidFill>
              <a:srgbClr val="30363D"/>
            </a:solidFill>
            <a:prstDash val="solid"/>
          </a:ln>
        </p:spPr>
      </p:sp>
      <p:sp>
        <p:nvSpPr>
          <p:cNvPr id="18" name="Text 16"/>
          <p:cNvSpPr/>
          <p:nvPr/>
        </p:nvSpPr>
        <p:spPr>
          <a:xfrm>
            <a:off x="4160520" y="1261872"/>
            <a:ext cx="2103120" cy="365760"/>
          </a:xfrm>
          <a:prstGeom prst="rect">
            <a:avLst/>
          </a:prstGeom>
          <a:noFill/>
          <a:ln/>
        </p:spPr>
        <p:txBody>
          <a:bodyPr wrap="square" lIns="0" tIns="0" rIns="0" bIns="0" rtlCol="0" anchor="ctr"/>
          <a:lstStyle/>
          <a:p>
            <a:pPr indent="0" marL="0">
              <a:buNone/>
            </a:pPr>
            <a:r>
              <a:rPr lang="en-US" sz="900" dirty="0">
                <a:solidFill>
                  <a:srgbClr val="E6EDF3"/>
                </a:solidFill>
                <a:latin typeface="Calibri" pitchFamily="34" charset="0"/>
                <a:ea typeface="Calibri" pitchFamily="34" charset="-122"/>
                <a:cs typeface="Calibri" pitchFamily="34" charset="-120"/>
              </a:rPr>
              <a:t>Valid actions routed correctly</a:t>
            </a:r>
            <a:endParaRPr lang="en-US" sz="900" dirty="0"/>
          </a:p>
        </p:txBody>
      </p:sp>
      <p:sp>
        <p:nvSpPr>
          <p:cNvPr id="19" name="Shape 17"/>
          <p:cNvSpPr/>
          <p:nvPr/>
        </p:nvSpPr>
        <p:spPr>
          <a:xfrm>
            <a:off x="6309360" y="1261872"/>
            <a:ext cx="2834640" cy="365760"/>
          </a:xfrm>
          <a:prstGeom prst="rect">
            <a:avLst/>
          </a:prstGeom>
          <a:solidFill>
            <a:srgbClr val="0D1117"/>
          </a:solidFill>
          <a:ln w="12700">
            <a:solidFill>
              <a:srgbClr val="30363D"/>
            </a:solidFill>
            <a:prstDash val="solid"/>
          </a:ln>
        </p:spPr>
      </p:sp>
      <p:sp>
        <p:nvSpPr>
          <p:cNvPr id="20" name="Text 18"/>
          <p:cNvSpPr/>
          <p:nvPr/>
        </p:nvSpPr>
        <p:spPr>
          <a:xfrm>
            <a:off x="6355080" y="1261872"/>
            <a:ext cx="2743200" cy="365760"/>
          </a:xfrm>
          <a:prstGeom prst="rect">
            <a:avLst/>
          </a:prstGeom>
          <a:noFill/>
          <a:ln/>
        </p:spPr>
        <p:txBody>
          <a:bodyPr wrap="square" lIns="0" tIns="0" rIns="0" bIns="0" rtlCol="0" anchor="ctr"/>
          <a:lstStyle/>
          <a:p>
            <a:pPr indent="0" marL="0">
              <a:buNone/>
            </a:pPr>
            <a:r>
              <a:rPr lang="en-US" sz="900" dirty="0">
                <a:solidFill>
                  <a:srgbClr val="E6EDF3"/>
                </a:solidFill>
                <a:latin typeface="Calibri" pitchFamily="34" charset="0"/>
                <a:ea typeface="Calibri" pitchFamily="34" charset="-122"/>
                <a:cs typeface="Calibri" pitchFamily="34" charset="-120"/>
              </a:rPr>
              <a:t>$$ND_FUNC$$ payload executed in Lambda</a:t>
            </a:r>
            <a:endParaRPr lang="en-US" sz="900" dirty="0"/>
          </a:p>
        </p:txBody>
      </p:sp>
      <p:sp>
        <p:nvSpPr>
          <p:cNvPr id="21" name="Shape 19"/>
          <p:cNvSpPr/>
          <p:nvPr/>
        </p:nvSpPr>
        <p:spPr>
          <a:xfrm>
            <a:off x="91440" y="1627632"/>
            <a:ext cx="1828800" cy="365760"/>
          </a:xfrm>
          <a:prstGeom prst="rect">
            <a:avLst/>
          </a:prstGeom>
          <a:solidFill>
            <a:srgbClr val="161B22"/>
          </a:solidFill>
          <a:ln w="12700">
            <a:solidFill>
              <a:srgbClr val="30363D"/>
            </a:solidFill>
            <a:prstDash val="solid"/>
          </a:ln>
        </p:spPr>
      </p:sp>
      <p:sp>
        <p:nvSpPr>
          <p:cNvPr id="22" name="Text 20"/>
          <p:cNvSpPr/>
          <p:nvPr/>
        </p:nvSpPr>
        <p:spPr>
          <a:xfrm>
            <a:off x="137160" y="1627632"/>
            <a:ext cx="1737360" cy="365760"/>
          </a:xfrm>
          <a:prstGeom prst="rect">
            <a:avLst/>
          </a:prstGeom>
          <a:noFill/>
          <a:ln/>
        </p:spPr>
        <p:txBody>
          <a:bodyPr wrap="square" lIns="0" tIns="0" rIns="0" bIns="0" rtlCol="0" anchor="ctr"/>
          <a:lstStyle/>
          <a:p>
            <a:pPr indent="0" marL="0">
              <a:buNone/>
            </a:pPr>
            <a:r>
              <a:rPr lang="en-US" sz="900" dirty="0">
                <a:solidFill>
                  <a:srgbClr val="F78166"/>
                </a:solidFill>
                <a:latin typeface="Calibri" pitchFamily="34" charset="0"/>
                <a:ea typeface="Calibri" pitchFamily="34" charset="-122"/>
                <a:cs typeface="Calibri" pitchFamily="34" charset="-120"/>
              </a:rPr>
              <a:t>V2 — Broken Auth</a:t>
            </a:r>
            <a:endParaRPr lang="en-US" sz="900" dirty="0"/>
          </a:p>
        </p:txBody>
      </p:sp>
      <p:sp>
        <p:nvSpPr>
          <p:cNvPr id="23" name="Shape 21"/>
          <p:cNvSpPr/>
          <p:nvPr/>
        </p:nvSpPr>
        <p:spPr>
          <a:xfrm>
            <a:off x="1920240" y="1627632"/>
            <a:ext cx="2194560" cy="365760"/>
          </a:xfrm>
          <a:prstGeom prst="rect">
            <a:avLst/>
          </a:prstGeom>
          <a:solidFill>
            <a:srgbClr val="161B22"/>
          </a:solidFill>
          <a:ln w="12700">
            <a:solidFill>
              <a:srgbClr val="30363D"/>
            </a:solidFill>
            <a:prstDash val="solid"/>
          </a:ln>
        </p:spPr>
      </p:sp>
      <p:sp>
        <p:nvSpPr>
          <p:cNvPr id="24" name="Text 22"/>
          <p:cNvSpPr/>
          <p:nvPr/>
        </p:nvSpPr>
        <p:spPr>
          <a:xfrm>
            <a:off x="1965960" y="1627632"/>
            <a:ext cx="2103120" cy="365760"/>
          </a:xfrm>
          <a:prstGeom prst="rect">
            <a:avLst/>
          </a:prstGeom>
          <a:noFill/>
          <a:ln/>
        </p:spPr>
        <p:txBody>
          <a:bodyPr wrap="square" lIns="0" tIns="0" rIns="0" bIns="0" rtlCol="0" anchor="ctr"/>
          <a:lstStyle/>
          <a:p>
            <a:pPr indent="0" marL="0">
              <a:buNone/>
            </a:pPr>
            <a:r>
              <a:rPr lang="en-US" sz="900" dirty="0">
                <a:solidFill>
                  <a:srgbClr val="E6EDF3"/>
                </a:solidFill>
                <a:latin typeface="Calibri" pitchFamily="34" charset="0"/>
                <a:ea typeface="Calibri" pitchFamily="34" charset="-122"/>
                <a:cs typeface="Calibri" pitchFamily="34" charset="-120"/>
              </a:rPr>
              <a:t>JWT signature must be verified</a:t>
            </a:r>
            <a:endParaRPr lang="en-US" sz="900" dirty="0"/>
          </a:p>
        </p:txBody>
      </p:sp>
      <p:sp>
        <p:nvSpPr>
          <p:cNvPr id="25" name="Shape 23"/>
          <p:cNvSpPr/>
          <p:nvPr/>
        </p:nvSpPr>
        <p:spPr>
          <a:xfrm>
            <a:off x="4114800" y="1627632"/>
            <a:ext cx="2194560" cy="365760"/>
          </a:xfrm>
          <a:prstGeom prst="rect">
            <a:avLst/>
          </a:prstGeom>
          <a:solidFill>
            <a:srgbClr val="161B22"/>
          </a:solidFill>
          <a:ln w="12700">
            <a:solidFill>
              <a:srgbClr val="30363D"/>
            </a:solidFill>
            <a:prstDash val="solid"/>
          </a:ln>
        </p:spPr>
      </p:sp>
      <p:sp>
        <p:nvSpPr>
          <p:cNvPr id="26" name="Text 24"/>
          <p:cNvSpPr/>
          <p:nvPr/>
        </p:nvSpPr>
        <p:spPr>
          <a:xfrm>
            <a:off x="4160520" y="1627632"/>
            <a:ext cx="2103120" cy="365760"/>
          </a:xfrm>
          <a:prstGeom prst="rect">
            <a:avLst/>
          </a:prstGeom>
          <a:noFill/>
          <a:ln/>
        </p:spPr>
        <p:txBody>
          <a:bodyPr wrap="square" lIns="0" tIns="0" rIns="0" bIns="0" rtlCol="0" anchor="ctr"/>
          <a:lstStyle/>
          <a:p>
            <a:pPr indent="0" marL="0">
              <a:buNone/>
            </a:pPr>
            <a:r>
              <a:rPr lang="en-US" sz="900" dirty="0">
                <a:solidFill>
                  <a:srgbClr val="E6EDF3"/>
                </a:solidFill>
                <a:latin typeface="Calibri" pitchFamily="34" charset="0"/>
                <a:ea typeface="Calibri" pitchFamily="34" charset="-122"/>
                <a:cs typeface="Calibri" pitchFamily="34" charset="-120"/>
              </a:rPr>
              <a:t>Own token → own orders only</a:t>
            </a:r>
            <a:endParaRPr lang="en-US" sz="900" dirty="0"/>
          </a:p>
        </p:txBody>
      </p:sp>
      <p:sp>
        <p:nvSpPr>
          <p:cNvPr id="27" name="Shape 25"/>
          <p:cNvSpPr/>
          <p:nvPr/>
        </p:nvSpPr>
        <p:spPr>
          <a:xfrm>
            <a:off x="6309360" y="1627632"/>
            <a:ext cx="2834640" cy="365760"/>
          </a:xfrm>
          <a:prstGeom prst="rect">
            <a:avLst/>
          </a:prstGeom>
          <a:solidFill>
            <a:srgbClr val="161B22"/>
          </a:solidFill>
          <a:ln w="12700">
            <a:solidFill>
              <a:srgbClr val="30363D"/>
            </a:solidFill>
            <a:prstDash val="solid"/>
          </a:ln>
        </p:spPr>
      </p:sp>
      <p:sp>
        <p:nvSpPr>
          <p:cNvPr id="28" name="Text 26"/>
          <p:cNvSpPr/>
          <p:nvPr/>
        </p:nvSpPr>
        <p:spPr>
          <a:xfrm>
            <a:off x="6355080" y="1627632"/>
            <a:ext cx="2743200" cy="365760"/>
          </a:xfrm>
          <a:prstGeom prst="rect">
            <a:avLst/>
          </a:prstGeom>
          <a:noFill/>
          <a:ln/>
        </p:spPr>
        <p:txBody>
          <a:bodyPr wrap="square" lIns="0" tIns="0" rIns="0" bIns="0" rtlCol="0" anchor="ctr"/>
          <a:lstStyle/>
          <a:p>
            <a:pPr indent="0" marL="0">
              <a:buNone/>
            </a:pPr>
            <a:r>
              <a:rPr lang="en-US" sz="900" dirty="0">
                <a:solidFill>
                  <a:srgbClr val="E6EDF3"/>
                </a:solidFill>
                <a:latin typeface="Calibri" pitchFamily="34" charset="0"/>
                <a:ea typeface="Calibri" pitchFamily="34" charset="-122"/>
                <a:cs typeface="Calibri" pitchFamily="34" charset="-120"/>
              </a:rPr>
              <a:t>Forged token returns victim's orders</a:t>
            </a:r>
            <a:endParaRPr lang="en-US" sz="900" dirty="0"/>
          </a:p>
        </p:txBody>
      </p:sp>
      <p:sp>
        <p:nvSpPr>
          <p:cNvPr id="29" name="Shape 27"/>
          <p:cNvSpPr/>
          <p:nvPr/>
        </p:nvSpPr>
        <p:spPr>
          <a:xfrm>
            <a:off x="91440" y="1993392"/>
            <a:ext cx="1828800" cy="365760"/>
          </a:xfrm>
          <a:prstGeom prst="rect">
            <a:avLst/>
          </a:prstGeom>
          <a:solidFill>
            <a:srgbClr val="0D1117"/>
          </a:solidFill>
          <a:ln w="12700">
            <a:solidFill>
              <a:srgbClr val="30363D"/>
            </a:solidFill>
            <a:prstDash val="solid"/>
          </a:ln>
        </p:spPr>
      </p:sp>
      <p:sp>
        <p:nvSpPr>
          <p:cNvPr id="30" name="Text 28"/>
          <p:cNvSpPr/>
          <p:nvPr/>
        </p:nvSpPr>
        <p:spPr>
          <a:xfrm>
            <a:off x="137160" y="1993392"/>
            <a:ext cx="1737360" cy="365760"/>
          </a:xfrm>
          <a:prstGeom prst="rect">
            <a:avLst/>
          </a:prstGeom>
          <a:noFill/>
          <a:ln/>
        </p:spPr>
        <p:txBody>
          <a:bodyPr wrap="square" lIns="0" tIns="0" rIns="0" bIns="0" rtlCol="0" anchor="ctr"/>
          <a:lstStyle/>
          <a:p>
            <a:pPr indent="0" marL="0">
              <a:buNone/>
            </a:pPr>
            <a:r>
              <a:rPr lang="en-US" sz="900" dirty="0">
                <a:solidFill>
                  <a:srgbClr val="F78166"/>
                </a:solidFill>
                <a:latin typeface="Calibri" pitchFamily="34" charset="0"/>
                <a:ea typeface="Calibri" pitchFamily="34" charset="-122"/>
                <a:cs typeface="Calibri" pitchFamily="34" charset="-120"/>
              </a:rPr>
              <a:t>V3 — Info Disclosure</a:t>
            </a:r>
            <a:endParaRPr lang="en-US" sz="900" dirty="0"/>
          </a:p>
        </p:txBody>
      </p:sp>
      <p:sp>
        <p:nvSpPr>
          <p:cNvPr id="31" name="Shape 29"/>
          <p:cNvSpPr/>
          <p:nvPr/>
        </p:nvSpPr>
        <p:spPr>
          <a:xfrm>
            <a:off x="1920240" y="1993392"/>
            <a:ext cx="2194560" cy="365760"/>
          </a:xfrm>
          <a:prstGeom prst="rect">
            <a:avLst/>
          </a:prstGeom>
          <a:solidFill>
            <a:srgbClr val="0D1117"/>
          </a:solidFill>
          <a:ln w="12700">
            <a:solidFill>
              <a:srgbClr val="30363D"/>
            </a:solidFill>
            <a:prstDash val="solid"/>
          </a:ln>
        </p:spPr>
      </p:sp>
      <p:sp>
        <p:nvSpPr>
          <p:cNvPr id="32" name="Text 30"/>
          <p:cNvSpPr/>
          <p:nvPr/>
        </p:nvSpPr>
        <p:spPr>
          <a:xfrm>
            <a:off x="1965960" y="1993392"/>
            <a:ext cx="2103120" cy="365760"/>
          </a:xfrm>
          <a:prstGeom prst="rect">
            <a:avLst/>
          </a:prstGeom>
          <a:noFill/>
          <a:ln/>
        </p:spPr>
        <p:txBody>
          <a:bodyPr wrap="square" lIns="0" tIns="0" rIns="0" bIns="0" rtlCol="0" anchor="ctr"/>
          <a:lstStyle/>
          <a:p>
            <a:pPr indent="0" marL="0">
              <a:buNone/>
            </a:pPr>
            <a:r>
              <a:rPr lang="en-US" sz="900" dirty="0">
                <a:solidFill>
                  <a:srgbClr val="E6EDF3"/>
                </a:solidFill>
                <a:latin typeface="Calibri" pitchFamily="34" charset="0"/>
                <a:ea typeface="Calibri" pitchFamily="34" charset="-122"/>
                <a:cs typeface="Calibri" pitchFamily="34" charset="-120"/>
              </a:rPr>
              <a:t>Admin-only receipt generation</a:t>
            </a:r>
            <a:endParaRPr lang="en-US" sz="900" dirty="0"/>
          </a:p>
        </p:txBody>
      </p:sp>
      <p:sp>
        <p:nvSpPr>
          <p:cNvPr id="33" name="Shape 31"/>
          <p:cNvSpPr/>
          <p:nvPr/>
        </p:nvSpPr>
        <p:spPr>
          <a:xfrm>
            <a:off x="4114800" y="1993392"/>
            <a:ext cx="2194560" cy="365760"/>
          </a:xfrm>
          <a:prstGeom prst="rect">
            <a:avLst/>
          </a:prstGeom>
          <a:solidFill>
            <a:srgbClr val="0D1117"/>
          </a:solidFill>
          <a:ln w="12700">
            <a:solidFill>
              <a:srgbClr val="30363D"/>
            </a:solidFill>
            <a:prstDash val="solid"/>
          </a:ln>
        </p:spPr>
      </p:sp>
      <p:sp>
        <p:nvSpPr>
          <p:cNvPr id="34" name="Text 32"/>
          <p:cNvSpPr/>
          <p:nvPr/>
        </p:nvSpPr>
        <p:spPr>
          <a:xfrm>
            <a:off x="4160520" y="1993392"/>
            <a:ext cx="2103120" cy="365760"/>
          </a:xfrm>
          <a:prstGeom prst="rect">
            <a:avLst/>
          </a:prstGeom>
          <a:noFill/>
          <a:ln/>
        </p:spPr>
        <p:txBody>
          <a:bodyPr wrap="square" lIns="0" tIns="0" rIns="0" bIns="0" rtlCol="0" anchor="ctr"/>
          <a:lstStyle/>
          <a:p>
            <a:pPr indent="0" marL="0">
              <a:buNone/>
            </a:pPr>
            <a:r>
              <a:rPr lang="en-US" sz="900" dirty="0">
                <a:solidFill>
                  <a:srgbClr val="E6EDF3"/>
                </a:solidFill>
                <a:latin typeface="Calibri" pitchFamily="34" charset="0"/>
                <a:ea typeface="Calibri" pitchFamily="34" charset="-122"/>
                <a:cs typeface="Calibri" pitchFamily="34" charset="-120"/>
              </a:rPr>
              <a:t>User accesses own receipts</a:t>
            </a:r>
            <a:endParaRPr lang="en-US" sz="900" dirty="0"/>
          </a:p>
        </p:txBody>
      </p:sp>
      <p:sp>
        <p:nvSpPr>
          <p:cNvPr id="35" name="Shape 33"/>
          <p:cNvSpPr/>
          <p:nvPr/>
        </p:nvSpPr>
        <p:spPr>
          <a:xfrm>
            <a:off x="6309360" y="1993392"/>
            <a:ext cx="2834640" cy="365760"/>
          </a:xfrm>
          <a:prstGeom prst="rect">
            <a:avLst/>
          </a:prstGeom>
          <a:solidFill>
            <a:srgbClr val="0D1117"/>
          </a:solidFill>
          <a:ln w="12700">
            <a:solidFill>
              <a:srgbClr val="30363D"/>
            </a:solidFill>
            <a:prstDash val="solid"/>
          </a:ln>
        </p:spPr>
      </p:sp>
      <p:sp>
        <p:nvSpPr>
          <p:cNvPr id="36" name="Text 34"/>
          <p:cNvSpPr/>
          <p:nvPr/>
        </p:nvSpPr>
        <p:spPr>
          <a:xfrm>
            <a:off x="6355080" y="1993392"/>
            <a:ext cx="2743200" cy="365760"/>
          </a:xfrm>
          <a:prstGeom prst="rect">
            <a:avLst/>
          </a:prstGeom>
          <a:noFill/>
          <a:ln/>
        </p:spPr>
        <p:txBody>
          <a:bodyPr wrap="square" lIns="0" tIns="0" rIns="0" bIns="0" rtlCol="0" anchor="ctr"/>
          <a:lstStyle/>
          <a:p>
            <a:pPr indent="0" marL="0">
              <a:buNone/>
            </a:pPr>
            <a:r>
              <a:rPr lang="en-US" sz="900" dirty="0">
                <a:solidFill>
                  <a:srgbClr val="E6EDF3"/>
                </a:solidFill>
                <a:latin typeface="Calibri" pitchFamily="34" charset="0"/>
                <a:ea typeface="Calibri" pitchFamily="34" charset="-122"/>
                <a:cs typeface="Calibri" pitchFamily="34" charset="-120"/>
              </a:rPr>
              <a:t>Signed URLs generated for any order</a:t>
            </a:r>
            <a:endParaRPr lang="en-US" sz="900" dirty="0"/>
          </a:p>
        </p:txBody>
      </p:sp>
      <p:sp>
        <p:nvSpPr>
          <p:cNvPr id="37" name="Shape 35"/>
          <p:cNvSpPr/>
          <p:nvPr/>
        </p:nvSpPr>
        <p:spPr>
          <a:xfrm>
            <a:off x="91440" y="2359152"/>
            <a:ext cx="1828800" cy="365760"/>
          </a:xfrm>
          <a:prstGeom prst="rect">
            <a:avLst/>
          </a:prstGeom>
          <a:solidFill>
            <a:srgbClr val="161B22"/>
          </a:solidFill>
          <a:ln w="12700">
            <a:solidFill>
              <a:srgbClr val="30363D"/>
            </a:solidFill>
            <a:prstDash val="solid"/>
          </a:ln>
        </p:spPr>
      </p:sp>
      <p:sp>
        <p:nvSpPr>
          <p:cNvPr id="38" name="Text 36"/>
          <p:cNvSpPr/>
          <p:nvPr/>
        </p:nvSpPr>
        <p:spPr>
          <a:xfrm>
            <a:off x="137160" y="2359152"/>
            <a:ext cx="1737360" cy="365760"/>
          </a:xfrm>
          <a:prstGeom prst="rect">
            <a:avLst/>
          </a:prstGeom>
          <a:noFill/>
          <a:ln/>
        </p:spPr>
        <p:txBody>
          <a:bodyPr wrap="square" lIns="0" tIns="0" rIns="0" bIns="0" rtlCol="0" anchor="ctr"/>
          <a:lstStyle/>
          <a:p>
            <a:pPr indent="0" marL="0">
              <a:buNone/>
            </a:pPr>
            <a:r>
              <a:rPr lang="en-US" sz="900" dirty="0">
                <a:solidFill>
                  <a:srgbClr val="F78166"/>
                </a:solidFill>
                <a:latin typeface="Calibri" pitchFamily="34" charset="0"/>
                <a:ea typeface="Calibri" pitchFamily="34" charset="-122"/>
                <a:cs typeface="Calibri" pitchFamily="34" charset="-120"/>
              </a:rPr>
              <a:t>V4 — Insecure Config</a:t>
            </a:r>
            <a:endParaRPr lang="en-US" sz="900" dirty="0"/>
          </a:p>
        </p:txBody>
      </p:sp>
      <p:sp>
        <p:nvSpPr>
          <p:cNvPr id="39" name="Shape 37"/>
          <p:cNvSpPr/>
          <p:nvPr/>
        </p:nvSpPr>
        <p:spPr>
          <a:xfrm>
            <a:off x="1920240" y="2359152"/>
            <a:ext cx="2194560" cy="365760"/>
          </a:xfrm>
          <a:prstGeom prst="rect">
            <a:avLst/>
          </a:prstGeom>
          <a:solidFill>
            <a:srgbClr val="161B22"/>
          </a:solidFill>
          <a:ln w="12700">
            <a:solidFill>
              <a:srgbClr val="30363D"/>
            </a:solidFill>
            <a:prstDash val="solid"/>
          </a:ln>
        </p:spPr>
      </p:sp>
      <p:sp>
        <p:nvSpPr>
          <p:cNvPr id="40" name="Text 38"/>
          <p:cNvSpPr/>
          <p:nvPr/>
        </p:nvSpPr>
        <p:spPr>
          <a:xfrm>
            <a:off x="1965960" y="2359152"/>
            <a:ext cx="2103120" cy="365760"/>
          </a:xfrm>
          <a:prstGeom prst="rect">
            <a:avLst/>
          </a:prstGeom>
          <a:noFill/>
          <a:ln/>
        </p:spPr>
        <p:txBody>
          <a:bodyPr wrap="square" lIns="0" tIns="0" rIns="0" bIns="0" rtlCol="0" anchor="ctr"/>
          <a:lstStyle/>
          <a:p>
            <a:pPr indent="0" marL="0">
              <a:buNone/>
            </a:pPr>
            <a:r>
              <a:rPr lang="en-US" sz="900" dirty="0">
                <a:solidFill>
                  <a:srgbClr val="E6EDF3"/>
                </a:solidFill>
                <a:latin typeface="Calibri" pitchFamily="34" charset="0"/>
                <a:ea typeface="Calibri" pitchFamily="34" charset="-122"/>
                <a:cs typeface="Calibri" pitchFamily="34" charset="-120"/>
              </a:rPr>
              <a:t>No public write to S3</a:t>
            </a:r>
            <a:endParaRPr lang="en-US" sz="900" dirty="0"/>
          </a:p>
        </p:txBody>
      </p:sp>
      <p:sp>
        <p:nvSpPr>
          <p:cNvPr id="41" name="Shape 39"/>
          <p:cNvSpPr/>
          <p:nvPr/>
        </p:nvSpPr>
        <p:spPr>
          <a:xfrm>
            <a:off x="4114800" y="2359152"/>
            <a:ext cx="2194560" cy="365760"/>
          </a:xfrm>
          <a:prstGeom prst="rect">
            <a:avLst/>
          </a:prstGeom>
          <a:solidFill>
            <a:srgbClr val="161B22"/>
          </a:solidFill>
          <a:ln w="12700">
            <a:solidFill>
              <a:srgbClr val="30363D"/>
            </a:solidFill>
            <a:prstDash val="solid"/>
          </a:ln>
        </p:spPr>
      </p:sp>
      <p:sp>
        <p:nvSpPr>
          <p:cNvPr id="42" name="Text 40"/>
          <p:cNvSpPr/>
          <p:nvPr/>
        </p:nvSpPr>
        <p:spPr>
          <a:xfrm>
            <a:off x="4160520" y="2359152"/>
            <a:ext cx="2103120" cy="365760"/>
          </a:xfrm>
          <a:prstGeom prst="rect">
            <a:avLst/>
          </a:prstGeom>
          <a:noFill/>
          <a:ln/>
        </p:spPr>
        <p:txBody>
          <a:bodyPr wrap="square" lIns="0" tIns="0" rIns="0" bIns="0" rtlCol="0" anchor="ctr"/>
          <a:lstStyle/>
          <a:p>
            <a:pPr indent="0" marL="0">
              <a:buNone/>
            </a:pPr>
            <a:r>
              <a:rPr lang="en-US" sz="900" dirty="0">
                <a:solidFill>
                  <a:srgbClr val="E6EDF3"/>
                </a:solidFill>
                <a:latin typeface="Calibri" pitchFamily="34" charset="0"/>
                <a:ea typeface="Calibri" pitchFamily="34" charset="-122"/>
                <a:cs typeface="Calibri" pitchFamily="34" charset="-120"/>
              </a:rPr>
              <a:t>Upload restricted to system</a:t>
            </a:r>
            <a:endParaRPr lang="en-US" sz="900" dirty="0"/>
          </a:p>
        </p:txBody>
      </p:sp>
      <p:sp>
        <p:nvSpPr>
          <p:cNvPr id="43" name="Shape 41"/>
          <p:cNvSpPr/>
          <p:nvPr/>
        </p:nvSpPr>
        <p:spPr>
          <a:xfrm>
            <a:off x="6309360" y="2359152"/>
            <a:ext cx="2834640" cy="365760"/>
          </a:xfrm>
          <a:prstGeom prst="rect">
            <a:avLst/>
          </a:prstGeom>
          <a:solidFill>
            <a:srgbClr val="161B22"/>
          </a:solidFill>
          <a:ln w="12700">
            <a:solidFill>
              <a:srgbClr val="30363D"/>
            </a:solidFill>
            <a:prstDash val="solid"/>
          </a:ln>
        </p:spPr>
      </p:sp>
      <p:sp>
        <p:nvSpPr>
          <p:cNvPr id="44" name="Text 42"/>
          <p:cNvSpPr/>
          <p:nvPr/>
        </p:nvSpPr>
        <p:spPr>
          <a:xfrm>
            <a:off x="6355080" y="2359152"/>
            <a:ext cx="2743200" cy="365760"/>
          </a:xfrm>
          <a:prstGeom prst="rect">
            <a:avLst/>
          </a:prstGeom>
          <a:noFill/>
          <a:ln/>
        </p:spPr>
        <p:txBody>
          <a:bodyPr wrap="square" lIns="0" tIns="0" rIns="0" bIns="0" rtlCol="0" anchor="ctr"/>
          <a:lstStyle/>
          <a:p>
            <a:pPr indent="0" marL="0">
              <a:buNone/>
            </a:pPr>
            <a:r>
              <a:rPr lang="en-US" sz="900" dirty="0">
                <a:solidFill>
                  <a:srgbClr val="E6EDF3"/>
                </a:solidFill>
                <a:latin typeface="Calibri" pitchFamily="34" charset="0"/>
                <a:ea typeface="Calibri" pitchFamily="34" charset="-122"/>
                <a:cs typeface="Calibri" pitchFamily="34" charset="-120"/>
              </a:rPr>
              <a:t>Any AWS account could upload files</a:t>
            </a:r>
            <a:endParaRPr lang="en-US" sz="900" dirty="0"/>
          </a:p>
        </p:txBody>
      </p:sp>
      <p:sp>
        <p:nvSpPr>
          <p:cNvPr id="45" name="Shape 43"/>
          <p:cNvSpPr/>
          <p:nvPr/>
        </p:nvSpPr>
        <p:spPr>
          <a:xfrm>
            <a:off x="91440" y="2724912"/>
            <a:ext cx="1828800" cy="365760"/>
          </a:xfrm>
          <a:prstGeom prst="rect">
            <a:avLst/>
          </a:prstGeom>
          <a:solidFill>
            <a:srgbClr val="0D1117"/>
          </a:solidFill>
          <a:ln w="12700">
            <a:solidFill>
              <a:srgbClr val="30363D"/>
            </a:solidFill>
            <a:prstDash val="solid"/>
          </a:ln>
        </p:spPr>
      </p:sp>
      <p:sp>
        <p:nvSpPr>
          <p:cNvPr id="46" name="Text 44"/>
          <p:cNvSpPr/>
          <p:nvPr/>
        </p:nvSpPr>
        <p:spPr>
          <a:xfrm>
            <a:off x="137160" y="2724912"/>
            <a:ext cx="1737360" cy="365760"/>
          </a:xfrm>
          <a:prstGeom prst="rect">
            <a:avLst/>
          </a:prstGeom>
          <a:noFill/>
          <a:ln/>
        </p:spPr>
        <p:txBody>
          <a:bodyPr wrap="square" lIns="0" tIns="0" rIns="0" bIns="0" rtlCol="0" anchor="ctr"/>
          <a:lstStyle/>
          <a:p>
            <a:pPr indent="0" marL="0">
              <a:buNone/>
            </a:pPr>
            <a:r>
              <a:rPr lang="en-US" sz="900" dirty="0">
                <a:solidFill>
                  <a:srgbClr val="F78166"/>
                </a:solidFill>
                <a:latin typeface="Calibri" pitchFamily="34" charset="0"/>
                <a:ea typeface="Calibri" pitchFamily="34" charset="-122"/>
                <a:cs typeface="Calibri" pitchFamily="34" charset="-120"/>
              </a:rPr>
              <a:t>V5 — Broken Access</a:t>
            </a:r>
            <a:endParaRPr lang="en-US" sz="900" dirty="0"/>
          </a:p>
        </p:txBody>
      </p:sp>
      <p:sp>
        <p:nvSpPr>
          <p:cNvPr id="47" name="Shape 45"/>
          <p:cNvSpPr/>
          <p:nvPr/>
        </p:nvSpPr>
        <p:spPr>
          <a:xfrm>
            <a:off x="1920240" y="2724912"/>
            <a:ext cx="2194560" cy="365760"/>
          </a:xfrm>
          <a:prstGeom prst="rect">
            <a:avLst/>
          </a:prstGeom>
          <a:solidFill>
            <a:srgbClr val="0D1117"/>
          </a:solidFill>
          <a:ln w="12700">
            <a:solidFill>
              <a:srgbClr val="30363D"/>
            </a:solidFill>
            <a:prstDash val="solid"/>
          </a:ln>
        </p:spPr>
      </p:sp>
      <p:sp>
        <p:nvSpPr>
          <p:cNvPr id="48" name="Text 46"/>
          <p:cNvSpPr/>
          <p:nvPr/>
        </p:nvSpPr>
        <p:spPr>
          <a:xfrm>
            <a:off x="1965960" y="2724912"/>
            <a:ext cx="2103120" cy="365760"/>
          </a:xfrm>
          <a:prstGeom prst="rect">
            <a:avLst/>
          </a:prstGeom>
          <a:noFill/>
          <a:ln/>
        </p:spPr>
        <p:txBody>
          <a:bodyPr wrap="square" lIns="0" tIns="0" rIns="0" bIns="0" rtlCol="0" anchor="ctr"/>
          <a:lstStyle/>
          <a:p>
            <a:pPr indent="0" marL="0">
              <a:buNone/>
            </a:pPr>
            <a:r>
              <a:rPr lang="en-US" sz="900" dirty="0">
                <a:solidFill>
                  <a:srgbClr val="E6EDF3"/>
                </a:solidFill>
                <a:latin typeface="Calibri" pitchFamily="34" charset="0"/>
                <a:ea typeface="Calibri" pitchFamily="34" charset="-122"/>
                <a:cs typeface="Calibri" pitchFamily="34" charset="-120"/>
              </a:rPr>
              <a:t>Normal user cannot complete order</a:t>
            </a:r>
            <a:endParaRPr lang="en-US" sz="900" dirty="0"/>
          </a:p>
        </p:txBody>
      </p:sp>
      <p:sp>
        <p:nvSpPr>
          <p:cNvPr id="49" name="Shape 47"/>
          <p:cNvSpPr/>
          <p:nvPr/>
        </p:nvSpPr>
        <p:spPr>
          <a:xfrm>
            <a:off x="4114800" y="2724912"/>
            <a:ext cx="2194560" cy="365760"/>
          </a:xfrm>
          <a:prstGeom prst="rect">
            <a:avLst/>
          </a:prstGeom>
          <a:solidFill>
            <a:srgbClr val="0D1117"/>
          </a:solidFill>
          <a:ln w="12700">
            <a:solidFill>
              <a:srgbClr val="30363D"/>
            </a:solidFill>
            <a:prstDash val="solid"/>
          </a:ln>
        </p:spPr>
      </p:sp>
      <p:sp>
        <p:nvSpPr>
          <p:cNvPr id="50" name="Text 48"/>
          <p:cNvSpPr/>
          <p:nvPr/>
        </p:nvSpPr>
        <p:spPr>
          <a:xfrm>
            <a:off x="4160520" y="2724912"/>
            <a:ext cx="2103120" cy="365760"/>
          </a:xfrm>
          <a:prstGeom prst="rect">
            <a:avLst/>
          </a:prstGeom>
          <a:noFill/>
          <a:ln/>
        </p:spPr>
        <p:txBody>
          <a:bodyPr wrap="square" lIns="0" tIns="0" rIns="0" bIns="0" rtlCol="0" anchor="ctr"/>
          <a:lstStyle/>
          <a:p>
            <a:pPr indent="0" marL="0">
              <a:buNone/>
            </a:pPr>
            <a:r>
              <a:rPr lang="en-US" sz="900" dirty="0">
                <a:solidFill>
                  <a:srgbClr val="E6EDF3"/>
                </a:solidFill>
                <a:latin typeface="Calibri" pitchFamily="34" charset="0"/>
                <a:ea typeface="Calibri" pitchFamily="34" charset="-122"/>
                <a:cs typeface="Calibri" pitchFamily="34" charset="-120"/>
              </a:rPr>
              <a:t>User views own orders</a:t>
            </a:r>
            <a:endParaRPr lang="en-US" sz="900" dirty="0"/>
          </a:p>
        </p:txBody>
      </p:sp>
      <p:sp>
        <p:nvSpPr>
          <p:cNvPr id="51" name="Shape 49"/>
          <p:cNvSpPr/>
          <p:nvPr/>
        </p:nvSpPr>
        <p:spPr>
          <a:xfrm>
            <a:off x="6309360" y="2724912"/>
            <a:ext cx="2834640" cy="365760"/>
          </a:xfrm>
          <a:prstGeom prst="rect">
            <a:avLst/>
          </a:prstGeom>
          <a:solidFill>
            <a:srgbClr val="0D1117"/>
          </a:solidFill>
          <a:ln w="12700">
            <a:solidFill>
              <a:srgbClr val="30363D"/>
            </a:solidFill>
            <a:prstDash val="solid"/>
          </a:ln>
        </p:spPr>
      </p:sp>
      <p:sp>
        <p:nvSpPr>
          <p:cNvPr id="52" name="Text 50"/>
          <p:cNvSpPr/>
          <p:nvPr/>
        </p:nvSpPr>
        <p:spPr>
          <a:xfrm>
            <a:off x="6355080" y="2724912"/>
            <a:ext cx="2743200" cy="365760"/>
          </a:xfrm>
          <a:prstGeom prst="rect">
            <a:avLst/>
          </a:prstGeom>
          <a:noFill/>
          <a:ln/>
        </p:spPr>
        <p:txBody>
          <a:bodyPr wrap="square" lIns="0" tIns="0" rIns="0" bIns="0" rtlCol="0" anchor="ctr"/>
          <a:lstStyle/>
          <a:p>
            <a:pPr indent="0" marL="0">
              <a:buNone/>
            </a:pPr>
            <a:r>
              <a:rPr lang="en-US" sz="900" dirty="0">
                <a:solidFill>
                  <a:srgbClr val="E6EDF3"/>
                </a:solidFill>
                <a:latin typeface="Calibri" pitchFamily="34" charset="0"/>
                <a:ea typeface="Calibri" pitchFamily="34" charset="-122"/>
                <a:cs typeface="Calibri" pitchFamily="34" charset="-120"/>
              </a:rPr>
              <a:t>Complete action reached by normal user</a:t>
            </a:r>
            <a:endParaRPr lang="en-US" sz="900" dirty="0"/>
          </a:p>
        </p:txBody>
      </p:sp>
      <p:sp>
        <p:nvSpPr>
          <p:cNvPr id="53" name="Shape 51"/>
          <p:cNvSpPr/>
          <p:nvPr/>
        </p:nvSpPr>
        <p:spPr>
          <a:xfrm>
            <a:off x="91440" y="3090672"/>
            <a:ext cx="1828800" cy="365760"/>
          </a:xfrm>
          <a:prstGeom prst="rect">
            <a:avLst/>
          </a:prstGeom>
          <a:solidFill>
            <a:srgbClr val="161B22"/>
          </a:solidFill>
          <a:ln w="12700">
            <a:solidFill>
              <a:srgbClr val="30363D"/>
            </a:solidFill>
            <a:prstDash val="solid"/>
          </a:ln>
        </p:spPr>
      </p:sp>
      <p:sp>
        <p:nvSpPr>
          <p:cNvPr id="54" name="Text 52"/>
          <p:cNvSpPr/>
          <p:nvPr/>
        </p:nvSpPr>
        <p:spPr>
          <a:xfrm>
            <a:off x="137160" y="3090672"/>
            <a:ext cx="1737360" cy="365760"/>
          </a:xfrm>
          <a:prstGeom prst="rect">
            <a:avLst/>
          </a:prstGeom>
          <a:noFill/>
          <a:ln/>
        </p:spPr>
        <p:txBody>
          <a:bodyPr wrap="square" lIns="0" tIns="0" rIns="0" bIns="0" rtlCol="0" anchor="ctr"/>
          <a:lstStyle/>
          <a:p>
            <a:pPr indent="0" marL="0">
              <a:buNone/>
            </a:pPr>
            <a:r>
              <a:rPr lang="en-US" sz="900" dirty="0">
                <a:solidFill>
                  <a:srgbClr val="F78166"/>
                </a:solidFill>
                <a:latin typeface="Calibri" pitchFamily="34" charset="0"/>
                <a:ea typeface="Calibri" pitchFamily="34" charset="-122"/>
                <a:cs typeface="Calibri" pitchFamily="34" charset="-120"/>
              </a:rPr>
              <a:t>V6 — DoS</a:t>
            </a:r>
            <a:endParaRPr lang="en-US" sz="900" dirty="0"/>
          </a:p>
        </p:txBody>
      </p:sp>
      <p:sp>
        <p:nvSpPr>
          <p:cNvPr id="55" name="Shape 53"/>
          <p:cNvSpPr/>
          <p:nvPr/>
        </p:nvSpPr>
        <p:spPr>
          <a:xfrm>
            <a:off x="1920240" y="3090672"/>
            <a:ext cx="2194560" cy="365760"/>
          </a:xfrm>
          <a:prstGeom prst="rect">
            <a:avLst/>
          </a:prstGeom>
          <a:solidFill>
            <a:srgbClr val="161B22"/>
          </a:solidFill>
          <a:ln w="12700">
            <a:solidFill>
              <a:srgbClr val="30363D"/>
            </a:solidFill>
            <a:prstDash val="solid"/>
          </a:ln>
        </p:spPr>
      </p:sp>
      <p:sp>
        <p:nvSpPr>
          <p:cNvPr id="56" name="Text 54"/>
          <p:cNvSpPr/>
          <p:nvPr/>
        </p:nvSpPr>
        <p:spPr>
          <a:xfrm>
            <a:off x="1965960" y="3090672"/>
            <a:ext cx="2103120" cy="365760"/>
          </a:xfrm>
          <a:prstGeom prst="rect">
            <a:avLst/>
          </a:prstGeom>
          <a:noFill/>
          <a:ln/>
        </p:spPr>
        <p:txBody>
          <a:bodyPr wrap="square" lIns="0" tIns="0" rIns="0" bIns="0" rtlCol="0" anchor="ctr"/>
          <a:lstStyle/>
          <a:p>
            <a:pPr indent="0" marL="0">
              <a:buNone/>
            </a:pPr>
            <a:r>
              <a:rPr lang="en-US" sz="900" dirty="0">
                <a:solidFill>
                  <a:srgbClr val="E6EDF3"/>
                </a:solidFill>
                <a:latin typeface="Calibri" pitchFamily="34" charset="0"/>
                <a:ea typeface="Calibri" pitchFamily="34" charset="-122"/>
                <a:cs typeface="Calibri" pitchFamily="34" charset="-120"/>
              </a:rPr>
              <a:t>Fair rate-limited billing</a:t>
            </a:r>
            <a:endParaRPr lang="en-US" sz="900" dirty="0"/>
          </a:p>
        </p:txBody>
      </p:sp>
      <p:sp>
        <p:nvSpPr>
          <p:cNvPr id="57" name="Shape 55"/>
          <p:cNvSpPr/>
          <p:nvPr/>
        </p:nvSpPr>
        <p:spPr>
          <a:xfrm>
            <a:off x="4114800" y="3090672"/>
            <a:ext cx="2194560" cy="365760"/>
          </a:xfrm>
          <a:prstGeom prst="rect">
            <a:avLst/>
          </a:prstGeom>
          <a:solidFill>
            <a:srgbClr val="161B22"/>
          </a:solidFill>
          <a:ln w="12700">
            <a:solidFill>
              <a:srgbClr val="30363D"/>
            </a:solidFill>
            <a:prstDash val="solid"/>
          </a:ln>
        </p:spPr>
      </p:sp>
      <p:sp>
        <p:nvSpPr>
          <p:cNvPr id="58" name="Text 56"/>
          <p:cNvSpPr/>
          <p:nvPr/>
        </p:nvSpPr>
        <p:spPr>
          <a:xfrm>
            <a:off x="4160520" y="3090672"/>
            <a:ext cx="2103120" cy="365760"/>
          </a:xfrm>
          <a:prstGeom prst="rect">
            <a:avLst/>
          </a:prstGeom>
          <a:noFill/>
          <a:ln/>
        </p:spPr>
        <p:txBody>
          <a:bodyPr wrap="square" lIns="0" tIns="0" rIns="0" bIns="0" rtlCol="0" anchor="ctr"/>
          <a:lstStyle/>
          <a:p>
            <a:pPr indent="0" marL="0">
              <a:buNone/>
            </a:pPr>
            <a:r>
              <a:rPr lang="en-US" sz="900" dirty="0">
                <a:solidFill>
                  <a:srgbClr val="E6EDF3"/>
                </a:solidFill>
                <a:latin typeface="Calibri" pitchFamily="34" charset="0"/>
                <a:ea typeface="Calibri" pitchFamily="34" charset="-122"/>
                <a:cs typeface="Calibri" pitchFamily="34" charset="-120"/>
              </a:rPr>
              <a:t>Single request returns 200</a:t>
            </a:r>
            <a:endParaRPr lang="en-US" sz="900" dirty="0"/>
          </a:p>
        </p:txBody>
      </p:sp>
      <p:sp>
        <p:nvSpPr>
          <p:cNvPr id="59" name="Shape 57"/>
          <p:cNvSpPr/>
          <p:nvPr/>
        </p:nvSpPr>
        <p:spPr>
          <a:xfrm>
            <a:off x="6309360" y="3090672"/>
            <a:ext cx="2834640" cy="365760"/>
          </a:xfrm>
          <a:prstGeom prst="rect">
            <a:avLst/>
          </a:prstGeom>
          <a:solidFill>
            <a:srgbClr val="161B22"/>
          </a:solidFill>
          <a:ln w="12700">
            <a:solidFill>
              <a:srgbClr val="30363D"/>
            </a:solidFill>
            <a:prstDash val="solid"/>
          </a:ln>
        </p:spPr>
      </p:sp>
      <p:sp>
        <p:nvSpPr>
          <p:cNvPr id="60" name="Text 58"/>
          <p:cNvSpPr/>
          <p:nvPr/>
        </p:nvSpPr>
        <p:spPr>
          <a:xfrm>
            <a:off x="6355080" y="3090672"/>
            <a:ext cx="2743200" cy="365760"/>
          </a:xfrm>
          <a:prstGeom prst="rect">
            <a:avLst/>
          </a:prstGeom>
          <a:noFill/>
          <a:ln/>
        </p:spPr>
        <p:txBody>
          <a:bodyPr wrap="square" lIns="0" tIns="0" rIns="0" bIns="0" rtlCol="0" anchor="ctr"/>
          <a:lstStyle/>
          <a:p>
            <a:pPr indent="0" marL="0">
              <a:buNone/>
            </a:pPr>
            <a:r>
              <a:rPr lang="en-US" sz="900" dirty="0">
                <a:solidFill>
                  <a:srgbClr val="E6EDF3"/>
                </a:solidFill>
                <a:latin typeface="Calibri" pitchFamily="34" charset="0"/>
                <a:ea typeface="Calibri" pitchFamily="34" charset="-122"/>
                <a:cs typeface="Calibri" pitchFamily="34" charset="-120"/>
              </a:rPr>
              <a:t>500 concurrent requests exhaust Lambda</a:t>
            </a:r>
            <a:endParaRPr lang="en-US" sz="900" dirty="0"/>
          </a:p>
        </p:txBody>
      </p:sp>
      <p:sp>
        <p:nvSpPr>
          <p:cNvPr id="61" name="Shape 59"/>
          <p:cNvSpPr/>
          <p:nvPr/>
        </p:nvSpPr>
        <p:spPr>
          <a:xfrm>
            <a:off x="91440" y="3456432"/>
            <a:ext cx="1828800" cy="365760"/>
          </a:xfrm>
          <a:prstGeom prst="rect">
            <a:avLst/>
          </a:prstGeom>
          <a:solidFill>
            <a:srgbClr val="0D1117"/>
          </a:solidFill>
          <a:ln w="12700">
            <a:solidFill>
              <a:srgbClr val="30363D"/>
            </a:solidFill>
            <a:prstDash val="solid"/>
          </a:ln>
        </p:spPr>
      </p:sp>
      <p:sp>
        <p:nvSpPr>
          <p:cNvPr id="62" name="Text 60"/>
          <p:cNvSpPr/>
          <p:nvPr/>
        </p:nvSpPr>
        <p:spPr>
          <a:xfrm>
            <a:off x="137160" y="3456432"/>
            <a:ext cx="1737360" cy="365760"/>
          </a:xfrm>
          <a:prstGeom prst="rect">
            <a:avLst/>
          </a:prstGeom>
          <a:noFill/>
          <a:ln/>
        </p:spPr>
        <p:txBody>
          <a:bodyPr wrap="square" lIns="0" tIns="0" rIns="0" bIns="0" rtlCol="0" anchor="ctr"/>
          <a:lstStyle/>
          <a:p>
            <a:pPr indent="0" marL="0">
              <a:buNone/>
            </a:pPr>
            <a:r>
              <a:rPr lang="en-US" sz="900" dirty="0">
                <a:solidFill>
                  <a:srgbClr val="F78166"/>
                </a:solidFill>
                <a:latin typeface="Calibri" pitchFamily="34" charset="0"/>
                <a:ea typeface="Calibri" pitchFamily="34" charset="-122"/>
                <a:cs typeface="Calibri" pitchFamily="34" charset="-120"/>
              </a:rPr>
              <a:t>V7 — Over-Privilege</a:t>
            </a:r>
            <a:endParaRPr lang="en-US" sz="900" dirty="0"/>
          </a:p>
        </p:txBody>
      </p:sp>
      <p:sp>
        <p:nvSpPr>
          <p:cNvPr id="63" name="Shape 61"/>
          <p:cNvSpPr/>
          <p:nvPr/>
        </p:nvSpPr>
        <p:spPr>
          <a:xfrm>
            <a:off x="1920240" y="3456432"/>
            <a:ext cx="2194560" cy="365760"/>
          </a:xfrm>
          <a:prstGeom prst="rect">
            <a:avLst/>
          </a:prstGeom>
          <a:solidFill>
            <a:srgbClr val="0D1117"/>
          </a:solidFill>
          <a:ln w="12700">
            <a:solidFill>
              <a:srgbClr val="30363D"/>
            </a:solidFill>
            <a:prstDash val="solid"/>
          </a:ln>
        </p:spPr>
      </p:sp>
      <p:sp>
        <p:nvSpPr>
          <p:cNvPr id="64" name="Text 62"/>
          <p:cNvSpPr/>
          <p:nvPr/>
        </p:nvSpPr>
        <p:spPr>
          <a:xfrm>
            <a:off x="1965960" y="3456432"/>
            <a:ext cx="2103120" cy="365760"/>
          </a:xfrm>
          <a:prstGeom prst="rect">
            <a:avLst/>
          </a:prstGeom>
          <a:noFill/>
          <a:ln/>
        </p:spPr>
        <p:txBody>
          <a:bodyPr wrap="square" lIns="0" tIns="0" rIns="0" bIns="0" rtlCol="0" anchor="ctr"/>
          <a:lstStyle/>
          <a:p>
            <a:pPr indent="0" marL="0">
              <a:buNone/>
            </a:pPr>
            <a:r>
              <a:rPr lang="en-US" sz="900" dirty="0">
                <a:solidFill>
                  <a:srgbClr val="E6EDF3"/>
                </a:solidFill>
                <a:latin typeface="Calibri" pitchFamily="34" charset="0"/>
                <a:ea typeface="Calibri" pitchFamily="34" charset="-122"/>
                <a:cs typeface="Calibri" pitchFamily="34" charset="-120"/>
              </a:rPr>
              <a:t>Lambda has minimal IAM perms</a:t>
            </a:r>
            <a:endParaRPr lang="en-US" sz="900" dirty="0"/>
          </a:p>
        </p:txBody>
      </p:sp>
      <p:sp>
        <p:nvSpPr>
          <p:cNvPr id="65" name="Shape 63"/>
          <p:cNvSpPr/>
          <p:nvPr/>
        </p:nvSpPr>
        <p:spPr>
          <a:xfrm>
            <a:off x="4114800" y="3456432"/>
            <a:ext cx="2194560" cy="365760"/>
          </a:xfrm>
          <a:prstGeom prst="rect">
            <a:avLst/>
          </a:prstGeom>
          <a:solidFill>
            <a:srgbClr val="0D1117"/>
          </a:solidFill>
          <a:ln w="12700">
            <a:solidFill>
              <a:srgbClr val="30363D"/>
            </a:solidFill>
            <a:prstDash val="solid"/>
          </a:ln>
        </p:spPr>
      </p:sp>
      <p:sp>
        <p:nvSpPr>
          <p:cNvPr id="66" name="Text 64"/>
          <p:cNvSpPr/>
          <p:nvPr/>
        </p:nvSpPr>
        <p:spPr>
          <a:xfrm>
            <a:off x="4160520" y="3456432"/>
            <a:ext cx="2103120" cy="365760"/>
          </a:xfrm>
          <a:prstGeom prst="rect">
            <a:avLst/>
          </a:prstGeom>
          <a:noFill/>
          <a:ln/>
        </p:spPr>
        <p:txBody>
          <a:bodyPr wrap="square" lIns="0" tIns="0" rIns="0" bIns="0" rtlCol="0" anchor="ctr"/>
          <a:lstStyle/>
          <a:p>
            <a:pPr indent="0" marL="0">
              <a:buNone/>
            </a:pPr>
            <a:r>
              <a:rPr lang="en-US" sz="900" dirty="0">
                <a:solidFill>
                  <a:srgbClr val="E6EDF3"/>
                </a:solidFill>
                <a:latin typeface="Calibri" pitchFamily="34" charset="0"/>
                <a:ea typeface="Calibri" pitchFamily="34" charset="-122"/>
                <a:cs typeface="Calibri" pitchFamily="34" charset="-120"/>
              </a:rPr>
              <a:t>Only needed services accessed</a:t>
            </a:r>
            <a:endParaRPr lang="en-US" sz="900" dirty="0"/>
          </a:p>
        </p:txBody>
      </p:sp>
      <p:sp>
        <p:nvSpPr>
          <p:cNvPr id="67" name="Shape 65"/>
          <p:cNvSpPr/>
          <p:nvPr/>
        </p:nvSpPr>
        <p:spPr>
          <a:xfrm>
            <a:off x="6309360" y="3456432"/>
            <a:ext cx="2834640" cy="365760"/>
          </a:xfrm>
          <a:prstGeom prst="rect">
            <a:avLst/>
          </a:prstGeom>
          <a:solidFill>
            <a:srgbClr val="0D1117"/>
          </a:solidFill>
          <a:ln w="12700">
            <a:solidFill>
              <a:srgbClr val="30363D"/>
            </a:solidFill>
            <a:prstDash val="solid"/>
          </a:ln>
        </p:spPr>
      </p:sp>
      <p:sp>
        <p:nvSpPr>
          <p:cNvPr id="68" name="Text 66"/>
          <p:cNvSpPr/>
          <p:nvPr/>
        </p:nvSpPr>
        <p:spPr>
          <a:xfrm>
            <a:off x="6355080" y="3456432"/>
            <a:ext cx="2743200" cy="365760"/>
          </a:xfrm>
          <a:prstGeom prst="rect">
            <a:avLst/>
          </a:prstGeom>
          <a:noFill/>
          <a:ln/>
        </p:spPr>
        <p:txBody>
          <a:bodyPr wrap="square" lIns="0" tIns="0" rIns="0" bIns="0" rtlCol="0" anchor="ctr"/>
          <a:lstStyle/>
          <a:p>
            <a:pPr indent="0" marL="0">
              <a:buNone/>
            </a:pPr>
            <a:r>
              <a:rPr lang="en-US" sz="900" dirty="0">
                <a:solidFill>
                  <a:srgbClr val="E6EDF3"/>
                </a:solidFill>
                <a:latin typeface="Calibri" pitchFamily="34" charset="0"/>
                <a:ea typeface="Calibri" pitchFamily="34" charset="-122"/>
                <a:cs typeface="Calibri" pitchFamily="34" charset="-120"/>
              </a:rPr>
              <a:t>Action:* Resource:* grants full AWS access</a:t>
            </a:r>
            <a:endParaRPr lang="en-US" sz="900" dirty="0"/>
          </a:p>
        </p:txBody>
      </p:sp>
      <p:sp>
        <p:nvSpPr>
          <p:cNvPr id="69" name="Shape 67"/>
          <p:cNvSpPr/>
          <p:nvPr/>
        </p:nvSpPr>
        <p:spPr>
          <a:xfrm>
            <a:off x="91440" y="3822192"/>
            <a:ext cx="1828800" cy="365760"/>
          </a:xfrm>
          <a:prstGeom prst="rect">
            <a:avLst/>
          </a:prstGeom>
          <a:solidFill>
            <a:srgbClr val="161B22"/>
          </a:solidFill>
          <a:ln w="12700">
            <a:solidFill>
              <a:srgbClr val="30363D"/>
            </a:solidFill>
            <a:prstDash val="solid"/>
          </a:ln>
        </p:spPr>
      </p:sp>
      <p:sp>
        <p:nvSpPr>
          <p:cNvPr id="70" name="Text 68"/>
          <p:cNvSpPr/>
          <p:nvPr/>
        </p:nvSpPr>
        <p:spPr>
          <a:xfrm>
            <a:off x="137160" y="3822192"/>
            <a:ext cx="1737360" cy="365760"/>
          </a:xfrm>
          <a:prstGeom prst="rect">
            <a:avLst/>
          </a:prstGeom>
          <a:noFill/>
          <a:ln/>
        </p:spPr>
        <p:txBody>
          <a:bodyPr wrap="square" lIns="0" tIns="0" rIns="0" bIns="0" rtlCol="0" anchor="ctr"/>
          <a:lstStyle/>
          <a:p>
            <a:pPr indent="0" marL="0">
              <a:buNone/>
            </a:pPr>
            <a:r>
              <a:rPr lang="en-US" sz="900" dirty="0">
                <a:solidFill>
                  <a:srgbClr val="F78166"/>
                </a:solidFill>
                <a:latin typeface="Calibri" pitchFamily="34" charset="0"/>
                <a:ea typeface="Calibri" pitchFamily="34" charset="-122"/>
                <a:cs typeface="Calibri" pitchFamily="34" charset="-120"/>
              </a:rPr>
              <a:t>V8 — Logic Flaw</a:t>
            </a:r>
            <a:endParaRPr lang="en-US" sz="900" dirty="0"/>
          </a:p>
        </p:txBody>
      </p:sp>
      <p:sp>
        <p:nvSpPr>
          <p:cNvPr id="71" name="Shape 69"/>
          <p:cNvSpPr/>
          <p:nvPr/>
        </p:nvSpPr>
        <p:spPr>
          <a:xfrm>
            <a:off x="1920240" y="3822192"/>
            <a:ext cx="2194560" cy="365760"/>
          </a:xfrm>
          <a:prstGeom prst="rect">
            <a:avLst/>
          </a:prstGeom>
          <a:solidFill>
            <a:srgbClr val="161B22"/>
          </a:solidFill>
          <a:ln w="12700">
            <a:solidFill>
              <a:srgbClr val="30363D"/>
            </a:solidFill>
            <a:prstDash val="solid"/>
          </a:ln>
        </p:spPr>
      </p:sp>
      <p:sp>
        <p:nvSpPr>
          <p:cNvPr id="72" name="Text 70"/>
          <p:cNvSpPr/>
          <p:nvPr/>
        </p:nvSpPr>
        <p:spPr>
          <a:xfrm>
            <a:off x="1965960" y="3822192"/>
            <a:ext cx="2103120" cy="365760"/>
          </a:xfrm>
          <a:prstGeom prst="rect">
            <a:avLst/>
          </a:prstGeom>
          <a:noFill/>
          <a:ln/>
        </p:spPr>
        <p:txBody>
          <a:bodyPr wrap="square" lIns="0" tIns="0" rIns="0" bIns="0" rtlCol="0" anchor="ctr"/>
          <a:lstStyle/>
          <a:p>
            <a:pPr indent="0" marL="0">
              <a:buNone/>
            </a:pPr>
            <a:r>
              <a:rPr lang="en-US" sz="900" dirty="0">
                <a:solidFill>
                  <a:srgbClr val="E6EDF3"/>
                </a:solidFill>
                <a:latin typeface="Calibri" pitchFamily="34" charset="0"/>
                <a:ea typeface="Calibri" pitchFamily="34" charset="-122"/>
                <a:cs typeface="Calibri" pitchFamily="34" charset="-120"/>
              </a:rPr>
              <a:t>No modifications after payment</a:t>
            </a:r>
            <a:endParaRPr lang="en-US" sz="900" dirty="0"/>
          </a:p>
        </p:txBody>
      </p:sp>
      <p:sp>
        <p:nvSpPr>
          <p:cNvPr id="73" name="Shape 71"/>
          <p:cNvSpPr/>
          <p:nvPr/>
        </p:nvSpPr>
        <p:spPr>
          <a:xfrm>
            <a:off x="4114800" y="3822192"/>
            <a:ext cx="2194560" cy="365760"/>
          </a:xfrm>
          <a:prstGeom prst="rect">
            <a:avLst/>
          </a:prstGeom>
          <a:solidFill>
            <a:srgbClr val="161B22"/>
          </a:solidFill>
          <a:ln w="12700">
            <a:solidFill>
              <a:srgbClr val="30363D"/>
            </a:solidFill>
            <a:prstDash val="solid"/>
          </a:ln>
        </p:spPr>
      </p:sp>
      <p:sp>
        <p:nvSpPr>
          <p:cNvPr id="74" name="Text 72"/>
          <p:cNvSpPr/>
          <p:nvPr/>
        </p:nvSpPr>
        <p:spPr>
          <a:xfrm>
            <a:off x="4160520" y="3822192"/>
            <a:ext cx="2103120" cy="365760"/>
          </a:xfrm>
          <a:prstGeom prst="rect">
            <a:avLst/>
          </a:prstGeom>
          <a:noFill/>
          <a:ln/>
        </p:spPr>
        <p:txBody>
          <a:bodyPr wrap="square" lIns="0" tIns="0" rIns="0" bIns="0" rtlCol="0" anchor="ctr"/>
          <a:lstStyle/>
          <a:p>
            <a:pPr indent="0" marL="0">
              <a:buNone/>
            </a:pPr>
            <a:r>
              <a:rPr lang="en-US" sz="900" dirty="0">
                <a:solidFill>
                  <a:srgbClr val="E6EDF3"/>
                </a:solidFill>
                <a:latin typeface="Calibri" pitchFamily="34" charset="0"/>
                <a:ea typeface="Calibri" pitchFamily="34" charset="-122"/>
                <a:cs typeface="Calibri" pitchFamily="34" charset="-120"/>
              </a:rPr>
              <a:t>User can update pre-payment</a:t>
            </a:r>
            <a:endParaRPr lang="en-US" sz="900" dirty="0"/>
          </a:p>
        </p:txBody>
      </p:sp>
      <p:sp>
        <p:nvSpPr>
          <p:cNvPr id="75" name="Shape 73"/>
          <p:cNvSpPr/>
          <p:nvPr/>
        </p:nvSpPr>
        <p:spPr>
          <a:xfrm>
            <a:off x="6309360" y="3822192"/>
            <a:ext cx="2834640" cy="365760"/>
          </a:xfrm>
          <a:prstGeom prst="rect">
            <a:avLst/>
          </a:prstGeom>
          <a:solidFill>
            <a:srgbClr val="161B22"/>
          </a:solidFill>
          <a:ln w="12700">
            <a:solidFill>
              <a:srgbClr val="30363D"/>
            </a:solidFill>
            <a:prstDash val="solid"/>
          </a:ln>
        </p:spPr>
      </p:sp>
      <p:sp>
        <p:nvSpPr>
          <p:cNvPr id="76" name="Text 74"/>
          <p:cNvSpPr/>
          <p:nvPr/>
        </p:nvSpPr>
        <p:spPr>
          <a:xfrm>
            <a:off x="6355080" y="3822192"/>
            <a:ext cx="2743200" cy="365760"/>
          </a:xfrm>
          <a:prstGeom prst="rect">
            <a:avLst/>
          </a:prstGeom>
          <a:noFill/>
          <a:ln/>
        </p:spPr>
        <p:txBody>
          <a:bodyPr wrap="square" lIns="0" tIns="0" rIns="0" bIns="0" rtlCol="0" anchor="ctr"/>
          <a:lstStyle/>
          <a:p>
            <a:pPr indent="0" marL="0">
              <a:buNone/>
            </a:pPr>
            <a:r>
              <a:rPr lang="en-US" sz="900" dirty="0">
                <a:solidFill>
                  <a:srgbClr val="E6EDF3"/>
                </a:solidFill>
                <a:latin typeface="Calibri" pitchFamily="34" charset="0"/>
                <a:ea typeface="Calibri" pitchFamily="34" charset="-122"/>
                <a:cs typeface="Calibri" pitchFamily="34" charset="-120"/>
              </a:rPr>
              <a:t>Shipping changed after billing completed</a:t>
            </a:r>
            <a:endParaRPr lang="en-US" sz="900" dirty="0"/>
          </a:p>
        </p:txBody>
      </p:sp>
      <p:sp>
        <p:nvSpPr>
          <p:cNvPr id="77" name="Shape 75"/>
          <p:cNvSpPr/>
          <p:nvPr/>
        </p:nvSpPr>
        <p:spPr>
          <a:xfrm>
            <a:off x="91440" y="4187952"/>
            <a:ext cx="1828800" cy="365760"/>
          </a:xfrm>
          <a:prstGeom prst="rect">
            <a:avLst/>
          </a:prstGeom>
          <a:solidFill>
            <a:srgbClr val="0D1117"/>
          </a:solidFill>
          <a:ln w="12700">
            <a:solidFill>
              <a:srgbClr val="30363D"/>
            </a:solidFill>
            <a:prstDash val="solid"/>
          </a:ln>
        </p:spPr>
      </p:sp>
      <p:sp>
        <p:nvSpPr>
          <p:cNvPr id="78" name="Text 76"/>
          <p:cNvSpPr/>
          <p:nvPr/>
        </p:nvSpPr>
        <p:spPr>
          <a:xfrm>
            <a:off x="137160" y="4187952"/>
            <a:ext cx="1737360" cy="365760"/>
          </a:xfrm>
          <a:prstGeom prst="rect">
            <a:avLst/>
          </a:prstGeom>
          <a:noFill/>
          <a:ln/>
        </p:spPr>
        <p:txBody>
          <a:bodyPr wrap="square" lIns="0" tIns="0" rIns="0" bIns="0" rtlCol="0" anchor="ctr"/>
          <a:lstStyle/>
          <a:p>
            <a:pPr indent="0" marL="0">
              <a:buNone/>
            </a:pPr>
            <a:r>
              <a:rPr lang="en-US" sz="900" dirty="0">
                <a:solidFill>
                  <a:srgbClr val="F78166"/>
                </a:solidFill>
                <a:latin typeface="Calibri" pitchFamily="34" charset="0"/>
                <a:ea typeface="Calibri" pitchFamily="34" charset="-122"/>
                <a:cs typeface="Calibri" pitchFamily="34" charset="-120"/>
              </a:rPr>
              <a:t>V9 — Vulnerable Dep.</a:t>
            </a:r>
            <a:endParaRPr lang="en-US" sz="900" dirty="0"/>
          </a:p>
        </p:txBody>
      </p:sp>
      <p:sp>
        <p:nvSpPr>
          <p:cNvPr id="79" name="Shape 77"/>
          <p:cNvSpPr/>
          <p:nvPr/>
        </p:nvSpPr>
        <p:spPr>
          <a:xfrm>
            <a:off x="1920240" y="4187952"/>
            <a:ext cx="2194560" cy="365760"/>
          </a:xfrm>
          <a:prstGeom prst="rect">
            <a:avLst/>
          </a:prstGeom>
          <a:solidFill>
            <a:srgbClr val="0D1117"/>
          </a:solidFill>
          <a:ln w="12700">
            <a:solidFill>
              <a:srgbClr val="30363D"/>
            </a:solidFill>
            <a:prstDash val="solid"/>
          </a:ln>
        </p:spPr>
      </p:sp>
      <p:sp>
        <p:nvSpPr>
          <p:cNvPr id="80" name="Text 78"/>
          <p:cNvSpPr/>
          <p:nvPr/>
        </p:nvSpPr>
        <p:spPr>
          <a:xfrm>
            <a:off x="1965960" y="4187952"/>
            <a:ext cx="2103120" cy="365760"/>
          </a:xfrm>
          <a:prstGeom prst="rect">
            <a:avLst/>
          </a:prstGeom>
          <a:noFill/>
          <a:ln/>
        </p:spPr>
        <p:txBody>
          <a:bodyPr wrap="square" lIns="0" tIns="0" rIns="0" bIns="0" rtlCol="0" anchor="ctr"/>
          <a:lstStyle/>
          <a:p>
            <a:pPr indent="0" marL="0">
              <a:buNone/>
            </a:pPr>
            <a:r>
              <a:rPr lang="en-US" sz="900" dirty="0">
                <a:solidFill>
                  <a:srgbClr val="E6EDF3"/>
                </a:solidFill>
                <a:latin typeface="Calibri" pitchFamily="34" charset="0"/>
                <a:ea typeface="Calibri" pitchFamily="34" charset="-122"/>
                <a:cs typeface="Calibri" pitchFamily="34" charset="-120"/>
              </a:rPr>
              <a:t>Input never executed as code</a:t>
            </a:r>
            <a:endParaRPr lang="en-US" sz="900" dirty="0"/>
          </a:p>
        </p:txBody>
      </p:sp>
      <p:sp>
        <p:nvSpPr>
          <p:cNvPr id="81" name="Shape 79"/>
          <p:cNvSpPr/>
          <p:nvPr/>
        </p:nvSpPr>
        <p:spPr>
          <a:xfrm>
            <a:off x="4114800" y="4187952"/>
            <a:ext cx="2194560" cy="365760"/>
          </a:xfrm>
          <a:prstGeom prst="rect">
            <a:avLst/>
          </a:prstGeom>
          <a:solidFill>
            <a:srgbClr val="0D1117"/>
          </a:solidFill>
          <a:ln w="12700">
            <a:solidFill>
              <a:srgbClr val="30363D"/>
            </a:solidFill>
            <a:prstDash val="solid"/>
          </a:ln>
        </p:spPr>
      </p:sp>
      <p:sp>
        <p:nvSpPr>
          <p:cNvPr id="82" name="Text 80"/>
          <p:cNvSpPr/>
          <p:nvPr/>
        </p:nvSpPr>
        <p:spPr>
          <a:xfrm>
            <a:off x="4160520" y="4187952"/>
            <a:ext cx="2103120" cy="365760"/>
          </a:xfrm>
          <a:prstGeom prst="rect">
            <a:avLst/>
          </a:prstGeom>
          <a:noFill/>
          <a:ln/>
        </p:spPr>
        <p:txBody>
          <a:bodyPr wrap="square" lIns="0" tIns="0" rIns="0" bIns="0" rtlCol="0" anchor="ctr"/>
          <a:lstStyle/>
          <a:p>
            <a:pPr indent="0" marL="0">
              <a:buNone/>
            </a:pPr>
            <a:r>
              <a:rPr lang="en-US" sz="900" dirty="0">
                <a:solidFill>
                  <a:srgbClr val="E6EDF3"/>
                </a:solidFill>
                <a:latin typeface="Calibri" pitchFamily="34" charset="0"/>
                <a:ea typeface="Calibri" pitchFamily="34" charset="-122"/>
                <a:cs typeface="Calibri" pitchFamily="34" charset="-120"/>
              </a:rPr>
              <a:t>Actions processed as JSON data</a:t>
            </a:r>
            <a:endParaRPr lang="en-US" sz="900" dirty="0"/>
          </a:p>
        </p:txBody>
      </p:sp>
      <p:sp>
        <p:nvSpPr>
          <p:cNvPr id="83" name="Shape 81"/>
          <p:cNvSpPr/>
          <p:nvPr/>
        </p:nvSpPr>
        <p:spPr>
          <a:xfrm>
            <a:off x="6309360" y="4187952"/>
            <a:ext cx="2834640" cy="365760"/>
          </a:xfrm>
          <a:prstGeom prst="rect">
            <a:avLst/>
          </a:prstGeom>
          <a:solidFill>
            <a:srgbClr val="0D1117"/>
          </a:solidFill>
          <a:ln w="12700">
            <a:solidFill>
              <a:srgbClr val="30363D"/>
            </a:solidFill>
            <a:prstDash val="solid"/>
          </a:ln>
        </p:spPr>
      </p:sp>
      <p:sp>
        <p:nvSpPr>
          <p:cNvPr id="84" name="Text 82"/>
          <p:cNvSpPr/>
          <p:nvPr/>
        </p:nvSpPr>
        <p:spPr>
          <a:xfrm>
            <a:off x="6355080" y="4187952"/>
            <a:ext cx="2743200" cy="365760"/>
          </a:xfrm>
          <a:prstGeom prst="rect">
            <a:avLst/>
          </a:prstGeom>
          <a:noFill/>
          <a:ln/>
        </p:spPr>
        <p:txBody>
          <a:bodyPr wrap="square" lIns="0" tIns="0" rIns="0" bIns="0" rtlCol="0" anchor="ctr"/>
          <a:lstStyle/>
          <a:p>
            <a:pPr indent="0" marL="0">
              <a:buNone/>
            </a:pPr>
            <a:r>
              <a:rPr lang="en-US" sz="900" dirty="0">
                <a:solidFill>
                  <a:srgbClr val="E6EDF3"/>
                </a:solidFill>
                <a:latin typeface="Calibri" pitchFamily="34" charset="0"/>
                <a:ea typeface="Calibri" pitchFamily="34" charset="-122"/>
                <a:cs typeface="Calibri" pitchFamily="34" charset="-120"/>
              </a:rPr>
              <a:t>node-serialize executes function payload</a:t>
            </a:r>
            <a:endParaRPr lang="en-US" sz="900" dirty="0"/>
          </a:p>
        </p:txBody>
      </p:sp>
      <p:sp>
        <p:nvSpPr>
          <p:cNvPr id="85" name="Shape 83"/>
          <p:cNvSpPr/>
          <p:nvPr/>
        </p:nvSpPr>
        <p:spPr>
          <a:xfrm>
            <a:off x="91440" y="4553712"/>
            <a:ext cx="1828800" cy="365760"/>
          </a:xfrm>
          <a:prstGeom prst="rect">
            <a:avLst/>
          </a:prstGeom>
          <a:solidFill>
            <a:srgbClr val="161B22"/>
          </a:solidFill>
          <a:ln w="12700">
            <a:solidFill>
              <a:srgbClr val="30363D"/>
            </a:solidFill>
            <a:prstDash val="solid"/>
          </a:ln>
        </p:spPr>
      </p:sp>
      <p:sp>
        <p:nvSpPr>
          <p:cNvPr id="86" name="Text 84"/>
          <p:cNvSpPr/>
          <p:nvPr/>
        </p:nvSpPr>
        <p:spPr>
          <a:xfrm>
            <a:off x="137160" y="4553712"/>
            <a:ext cx="1737360" cy="365760"/>
          </a:xfrm>
          <a:prstGeom prst="rect">
            <a:avLst/>
          </a:prstGeom>
          <a:noFill/>
          <a:ln/>
        </p:spPr>
        <p:txBody>
          <a:bodyPr wrap="square" lIns="0" tIns="0" rIns="0" bIns="0" rtlCol="0" anchor="ctr"/>
          <a:lstStyle/>
          <a:p>
            <a:pPr indent="0" marL="0">
              <a:buNone/>
            </a:pPr>
            <a:r>
              <a:rPr lang="en-US" sz="900" dirty="0">
                <a:solidFill>
                  <a:srgbClr val="F78166"/>
                </a:solidFill>
                <a:latin typeface="Calibri" pitchFamily="34" charset="0"/>
                <a:ea typeface="Calibri" pitchFamily="34" charset="-122"/>
                <a:cs typeface="Calibri" pitchFamily="34" charset="-120"/>
              </a:rPr>
              <a:t>V10 — Unhandled Exc.</a:t>
            </a:r>
            <a:endParaRPr lang="en-US" sz="900" dirty="0"/>
          </a:p>
        </p:txBody>
      </p:sp>
      <p:sp>
        <p:nvSpPr>
          <p:cNvPr id="87" name="Shape 85"/>
          <p:cNvSpPr/>
          <p:nvPr/>
        </p:nvSpPr>
        <p:spPr>
          <a:xfrm>
            <a:off x="1920240" y="4553712"/>
            <a:ext cx="2194560" cy="365760"/>
          </a:xfrm>
          <a:prstGeom prst="rect">
            <a:avLst/>
          </a:prstGeom>
          <a:solidFill>
            <a:srgbClr val="161B22"/>
          </a:solidFill>
          <a:ln w="12700">
            <a:solidFill>
              <a:srgbClr val="30363D"/>
            </a:solidFill>
            <a:prstDash val="solid"/>
          </a:ln>
        </p:spPr>
      </p:sp>
      <p:sp>
        <p:nvSpPr>
          <p:cNvPr id="88" name="Text 86"/>
          <p:cNvSpPr/>
          <p:nvPr/>
        </p:nvSpPr>
        <p:spPr>
          <a:xfrm>
            <a:off x="1965960" y="4553712"/>
            <a:ext cx="2103120" cy="365760"/>
          </a:xfrm>
          <a:prstGeom prst="rect">
            <a:avLst/>
          </a:prstGeom>
          <a:noFill/>
          <a:ln/>
        </p:spPr>
        <p:txBody>
          <a:bodyPr wrap="square" lIns="0" tIns="0" rIns="0" bIns="0" rtlCol="0" anchor="ctr"/>
          <a:lstStyle/>
          <a:p>
            <a:pPr indent="0" marL="0">
              <a:buNone/>
            </a:pPr>
            <a:r>
              <a:rPr lang="en-US" sz="900" dirty="0">
                <a:solidFill>
                  <a:srgbClr val="E6EDF3"/>
                </a:solidFill>
                <a:latin typeface="Calibri" pitchFamily="34" charset="0"/>
                <a:ea typeface="Calibri" pitchFamily="34" charset="-122"/>
                <a:cs typeface="Calibri" pitchFamily="34" charset="-120"/>
              </a:rPr>
              <a:t>Safe error messages only</a:t>
            </a:r>
            <a:endParaRPr lang="en-US" sz="900" dirty="0"/>
          </a:p>
        </p:txBody>
      </p:sp>
      <p:sp>
        <p:nvSpPr>
          <p:cNvPr id="89" name="Shape 87"/>
          <p:cNvSpPr/>
          <p:nvPr/>
        </p:nvSpPr>
        <p:spPr>
          <a:xfrm>
            <a:off x="4114800" y="4553712"/>
            <a:ext cx="2194560" cy="365760"/>
          </a:xfrm>
          <a:prstGeom prst="rect">
            <a:avLst/>
          </a:prstGeom>
          <a:solidFill>
            <a:srgbClr val="161B22"/>
          </a:solidFill>
          <a:ln w="12700">
            <a:solidFill>
              <a:srgbClr val="30363D"/>
            </a:solidFill>
            <a:prstDash val="solid"/>
          </a:ln>
        </p:spPr>
      </p:sp>
      <p:sp>
        <p:nvSpPr>
          <p:cNvPr id="90" name="Text 88"/>
          <p:cNvSpPr/>
          <p:nvPr/>
        </p:nvSpPr>
        <p:spPr>
          <a:xfrm>
            <a:off x="4160520" y="4553712"/>
            <a:ext cx="2103120" cy="365760"/>
          </a:xfrm>
          <a:prstGeom prst="rect">
            <a:avLst/>
          </a:prstGeom>
          <a:noFill/>
          <a:ln/>
        </p:spPr>
        <p:txBody>
          <a:bodyPr wrap="square" lIns="0" tIns="0" rIns="0" bIns="0" rtlCol="0" anchor="ctr"/>
          <a:lstStyle/>
          <a:p>
            <a:pPr indent="0" marL="0">
              <a:buNone/>
            </a:pPr>
            <a:r>
              <a:rPr lang="en-US" sz="900" dirty="0">
                <a:solidFill>
                  <a:srgbClr val="E6EDF3"/>
                </a:solidFill>
                <a:latin typeface="Calibri" pitchFamily="34" charset="0"/>
                <a:ea typeface="Calibri" pitchFamily="34" charset="-122"/>
                <a:cs typeface="Calibri" pitchFamily="34" charset="-120"/>
              </a:rPr>
              <a:t>Validation error returned safely</a:t>
            </a:r>
            <a:endParaRPr lang="en-US" sz="900" dirty="0"/>
          </a:p>
        </p:txBody>
      </p:sp>
      <p:sp>
        <p:nvSpPr>
          <p:cNvPr id="91" name="Shape 89"/>
          <p:cNvSpPr/>
          <p:nvPr/>
        </p:nvSpPr>
        <p:spPr>
          <a:xfrm>
            <a:off x="6309360" y="4553712"/>
            <a:ext cx="2834640" cy="365760"/>
          </a:xfrm>
          <a:prstGeom prst="rect">
            <a:avLst/>
          </a:prstGeom>
          <a:solidFill>
            <a:srgbClr val="161B22"/>
          </a:solidFill>
          <a:ln w="12700">
            <a:solidFill>
              <a:srgbClr val="30363D"/>
            </a:solidFill>
            <a:prstDash val="solid"/>
          </a:ln>
        </p:spPr>
      </p:sp>
      <p:sp>
        <p:nvSpPr>
          <p:cNvPr id="92" name="Text 90"/>
          <p:cNvSpPr/>
          <p:nvPr/>
        </p:nvSpPr>
        <p:spPr>
          <a:xfrm>
            <a:off x="6355080" y="4553712"/>
            <a:ext cx="2743200" cy="365760"/>
          </a:xfrm>
          <a:prstGeom prst="rect">
            <a:avLst/>
          </a:prstGeom>
          <a:noFill/>
          <a:ln/>
        </p:spPr>
        <p:txBody>
          <a:bodyPr wrap="square" lIns="0" tIns="0" rIns="0" bIns="0" rtlCol="0" anchor="ctr"/>
          <a:lstStyle/>
          <a:p>
            <a:pPr indent="0" marL="0">
              <a:buNone/>
            </a:pPr>
            <a:r>
              <a:rPr lang="en-US" sz="900" dirty="0">
                <a:solidFill>
                  <a:srgbClr val="E6EDF3"/>
                </a:solidFill>
                <a:latin typeface="Calibri" pitchFamily="34" charset="0"/>
                <a:ea typeface="Calibri" pitchFamily="34" charset="-122"/>
                <a:cs typeface="Calibri" pitchFamily="34" charset="-120"/>
              </a:rPr>
              <a:t>Stack trace + file path exposed to user</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8A6FF"/>
          </a:solidFill>
          <a:ln w="12700">
            <a:solidFill>
              <a:srgbClr val="58A6FF"/>
            </a:solidFill>
            <a:prstDash val="solid"/>
          </a:ln>
        </p:spPr>
      </p:sp>
      <p:sp>
        <p:nvSpPr>
          <p:cNvPr id="3" name="Text 1"/>
          <p:cNvSpPr/>
          <p:nvPr/>
        </p:nvSpPr>
        <p:spPr>
          <a:xfrm>
            <a:off x="457200" y="137160"/>
            <a:ext cx="8229600" cy="457200"/>
          </a:xfrm>
          <a:prstGeom prst="rect">
            <a:avLst/>
          </a:prstGeom>
          <a:noFill/>
          <a:ln/>
        </p:spPr>
        <p:txBody>
          <a:bodyPr wrap="square" lIns="0" tIns="0" rIns="0" bIns="0" rtlCol="0" anchor="ctr"/>
          <a:lstStyle/>
          <a:p>
            <a:pPr indent="0" marL="0">
              <a:buNone/>
            </a:pPr>
            <a:r>
              <a:rPr lang="en-US" sz="2200" b="1" dirty="0">
                <a:solidFill>
                  <a:srgbClr val="E6EDF3"/>
                </a:solidFill>
                <a:latin typeface="Calibri" pitchFamily="34" charset="0"/>
                <a:ea typeface="Calibri" pitchFamily="34" charset="-122"/>
                <a:cs typeface="Calibri" pitchFamily="34" charset="-120"/>
              </a:rPr>
              <a:t>Structured Security Analysis — Table B</a:t>
            </a:r>
            <a:endParaRPr lang="en-US" sz="2200" dirty="0"/>
          </a:p>
        </p:txBody>
      </p:sp>
      <p:sp>
        <p:nvSpPr>
          <p:cNvPr id="4" name="Text 2"/>
          <p:cNvSpPr/>
          <p:nvPr/>
        </p:nvSpPr>
        <p:spPr>
          <a:xfrm>
            <a:off x="457200" y="566928"/>
            <a:ext cx="8229600" cy="274320"/>
          </a:xfrm>
          <a:prstGeom prst="rect">
            <a:avLst/>
          </a:prstGeom>
          <a:noFill/>
          <a:ln/>
        </p:spPr>
        <p:txBody>
          <a:bodyPr wrap="square" lIns="0" tIns="0" rIns="0" bIns="0" rtlCol="0" anchor="ctr"/>
          <a:lstStyle/>
          <a:p>
            <a:pPr indent="0" marL="0">
              <a:buNone/>
            </a:pPr>
            <a:r>
              <a:rPr lang="en-US" sz="1300" dirty="0">
                <a:solidFill>
                  <a:srgbClr val="8B949E"/>
                </a:solidFill>
                <a:latin typeface="Calibri" pitchFamily="34" charset="0"/>
                <a:ea typeface="Calibri" pitchFamily="34" charset="-122"/>
                <a:cs typeface="Calibri" pitchFamily="34" charset="-120"/>
              </a:rPr>
              <a:t>Deviation Class · Fix Applied · Post-Fix Verification</a:t>
            </a:r>
            <a:endParaRPr lang="en-US" sz="1300" dirty="0"/>
          </a:p>
        </p:txBody>
      </p:sp>
      <p:sp>
        <p:nvSpPr>
          <p:cNvPr id="5" name="Shape 3"/>
          <p:cNvSpPr/>
          <p:nvPr/>
        </p:nvSpPr>
        <p:spPr>
          <a:xfrm>
            <a:off x="91440" y="896112"/>
            <a:ext cx="1828800" cy="365760"/>
          </a:xfrm>
          <a:prstGeom prst="rect">
            <a:avLst/>
          </a:prstGeom>
          <a:solidFill>
            <a:srgbClr val="F78166"/>
          </a:solidFill>
          <a:ln w="12700">
            <a:solidFill>
              <a:srgbClr val="30363D"/>
            </a:solidFill>
            <a:prstDash val="solid"/>
          </a:ln>
        </p:spPr>
      </p:sp>
      <p:sp>
        <p:nvSpPr>
          <p:cNvPr id="6" name="Text 4"/>
          <p:cNvSpPr/>
          <p:nvPr/>
        </p:nvSpPr>
        <p:spPr>
          <a:xfrm>
            <a:off x="137160" y="896112"/>
            <a:ext cx="1737360" cy="36576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Vulnerability</a:t>
            </a:r>
            <a:endParaRPr lang="en-US" sz="1000" dirty="0"/>
          </a:p>
        </p:txBody>
      </p:sp>
      <p:sp>
        <p:nvSpPr>
          <p:cNvPr id="7" name="Shape 5"/>
          <p:cNvSpPr/>
          <p:nvPr/>
        </p:nvSpPr>
        <p:spPr>
          <a:xfrm>
            <a:off x="1920240" y="896112"/>
            <a:ext cx="2011680" cy="365760"/>
          </a:xfrm>
          <a:prstGeom prst="rect">
            <a:avLst/>
          </a:prstGeom>
          <a:solidFill>
            <a:srgbClr val="F78166"/>
          </a:solidFill>
          <a:ln w="12700">
            <a:solidFill>
              <a:srgbClr val="30363D"/>
            </a:solidFill>
            <a:prstDash val="solid"/>
          </a:ln>
        </p:spPr>
      </p:sp>
      <p:sp>
        <p:nvSpPr>
          <p:cNvPr id="8" name="Text 6"/>
          <p:cNvSpPr/>
          <p:nvPr/>
        </p:nvSpPr>
        <p:spPr>
          <a:xfrm>
            <a:off x="1965960" y="896112"/>
            <a:ext cx="1920240" cy="36576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Why It Deviates</a:t>
            </a:r>
            <a:endParaRPr lang="en-US" sz="1000" dirty="0"/>
          </a:p>
        </p:txBody>
      </p:sp>
      <p:sp>
        <p:nvSpPr>
          <p:cNvPr id="9" name="Shape 7"/>
          <p:cNvSpPr/>
          <p:nvPr/>
        </p:nvSpPr>
        <p:spPr>
          <a:xfrm>
            <a:off x="3931920" y="896112"/>
            <a:ext cx="1280160" cy="365760"/>
          </a:xfrm>
          <a:prstGeom prst="rect">
            <a:avLst/>
          </a:prstGeom>
          <a:solidFill>
            <a:srgbClr val="F78166"/>
          </a:solidFill>
          <a:ln w="12700">
            <a:solidFill>
              <a:srgbClr val="30363D"/>
            </a:solidFill>
            <a:prstDash val="solid"/>
          </a:ln>
        </p:spPr>
      </p:sp>
      <p:sp>
        <p:nvSpPr>
          <p:cNvPr id="10" name="Text 8"/>
          <p:cNvSpPr/>
          <p:nvPr/>
        </p:nvSpPr>
        <p:spPr>
          <a:xfrm>
            <a:off x="3977640" y="896112"/>
            <a:ext cx="1188720" cy="36576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Class</a:t>
            </a:r>
            <a:endParaRPr lang="en-US" sz="1000" dirty="0"/>
          </a:p>
        </p:txBody>
      </p:sp>
      <p:sp>
        <p:nvSpPr>
          <p:cNvPr id="11" name="Shape 9"/>
          <p:cNvSpPr/>
          <p:nvPr/>
        </p:nvSpPr>
        <p:spPr>
          <a:xfrm>
            <a:off x="5212080" y="896112"/>
            <a:ext cx="2011680" cy="365760"/>
          </a:xfrm>
          <a:prstGeom prst="rect">
            <a:avLst/>
          </a:prstGeom>
          <a:solidFill>
            <a:srgbClr val="F78166"/>
          </a:solidFill>
          <a:ln w="12700">
            <a:solidFill>
              <a:srgbClr val="30363D"/>
            </a:solidFill>
            <a:prstDash val="solid"/>
          </a:ln>
        </p:spPr>
      </p:sp>
      <p:sp>
        <p:nvSpPr>
          <p:cNvPr id="12" name="Text 10"/>
          <p:cNvSpPr/>
          <p:nvPr/>
        </p:nvSpPr>
        <p:spPr>
          <a:xfrm>
            <a:off x="5257800" y="896112"/>
            <a:ext cx="1920240" cy="36576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Fix</a:t>
            </a:r>
            <a:endParaRPr lang="en-US" sz="1000" dirty="0"/>
          </a:p>
        </p:txBody>
      </p:sp>
      <p:sp>
        <p:nvSpPr>
          <p:cNvPr id="13" name="Shape 11"/>
          <p:cNvSpPr/>
          <p:nvPr/>
        </p:nvSpPr>
        <p:spPr>
          <a:xfrm>
            <a:off x="7223760" y="896112"/>
            <a:ext cx="1920240" cy="365760"/>
          </a:xfrm>
          <a:prstGeom prst="rect">
            <a:avLst/>
          </a:prstGeom>
          <a:solidFill>
            <a:srgbClr val="F78166"/>
          </a:solidFill>
          <a:ln w="12700">
            <a:solidFill>
              <a:srgbClr val="30363D"/>
            </a:solidFill>
            <a:prstDash val="solid"/>
          </a:ln>
        </p:spPr>
      </p:sp>
      <p:sp>
        <p:nvSpPr>
          <p:cNvPr id="14" name="Text 12"/>
          <p:cNvSpPr/>
          <p:nvPr/>
        </p:nvSpPr>
        <p:spPr>
          <a:xfrm>
            <a:off x="7269480" y="896112"/>
            <a:ext cx="1828800" cy="36576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Verified</a:t>
            </a:r>
            <a:endParaRPr lang="en-US" sz="1000" dirty="0"/>
          </a:p>
        </p:txBody>
      </p:sp>
      <p:sp>
        <p:nvSpPr>
          <p:cNvPr id="15" name="Shape 13"/>
          <p:cNvSpPr/>
          <p:nvPr/>
        </p:nvSpPr>
        <p:spPr>
          <a:xfrm>
            <a:off x="91440" y="1261872"/>
            <a:ext cx="1828800" cy="365760"/>
          </a:xfrm>
          <a:prstGeom prst="rect">
            <a:avLst/>
          </a:prstGeom>
          <a:solidFill>
            <a:srgbClr val="0D1117"/>
          </a:solidFill>
          <a:ln w="12700">
            <a:solidFill>
              <a:srgbClr val="30363D"/>
            </a:solidFill>
            <a:prstDash val="solid"/>
          </a:ln>
        </p:spPr>
      </p:sp>
      <p:sp>
        <p:nvSpPr>
          <p:cNvPr id="16" name="Text 14"/>
          <p:cNvSpPr/>
          <p:nvPr/>
        </p:nvSpPr>
        <p:spPr>
          <a:xfrm>
            <a:off x="137160" y="1261872"/>
            <a:ext cx="1737360" cy="365760"/>
          </a:xfrm>
          <a:prstGeom prst="rect">
            <a:avLst/>
          </a:prstGeom>
          <a:noFill/>
          <a:ln/>
        </p:spPr>
        <p:txBody>
          <a:bodyPr wrap="square" lIns="0" tIns="0" rIns="0" bIns="0" rtlCol="0" anchor="ctr"/>
          <a:lstStyle/>
          <a:p>
            <a:pPr indent="0" marL="0">
              <a:buNone/>
            </a:pPr>
            <a:r>
              <a:rPr lang="en-US" sz="850" dirty="0">
                <a:solidFill>
                  <a:srgbClr val="E6EDF3"/>
                </a:solidFill>
                <a:latin typeface="Calibri" pitchFamily="34" charset="0"/>
                <a:ea typeface="Calibri" pitchFamily="34" charset="-122"/>
                <a:cs typeface="Calibri" pitchFamily="34" charset="-120"/>
              </a:rPr>
              <a:t>V1 — Event Injection</a:t>
            </a:r>
            <a:endParaRPr lang="en-US" sz="850" dirty="0"/>
          </a:p>
        </p:txBody>
      </p:sp>
      <p:sp>
        <p:nvSpPr>
          <p:cNvPr id="17" name="Shape 15"/>
          <p:cNvSpPr/>
          <p:nvPr/>
        </p:nvSpPr>
        <p:spPr>
          <a:xfrm>
            <a:off x="1920240" y="1261872"/>
            <a:ext cx="2011680" cy="365760"/>
          </a:xfrm>
          <a:prstGeom prst="rect">
            <a:avLst/>
          </a:prstGeom>
          <a:solidFill>
            <a:srgbClr val="0D1117"/>
          </a:solidFill>
          <a:ln w="12700">
            <a:solidFill>
              <a:srgbClr val="30363D"/>
            </a:solidFill>
            <a:prstDash val="solid"/>
          </a:ln>
        </p:spPr>
      </p:sp>
      <p:sp>
        <p:nvSpPr>
          <p:cNvPr id="18" name="Text 16"/>
          <p:cNvSpPr/>
          <p:nvPr/>
        </p:nvSpPr>
        <p:spPr>
          <a:xfrm>
            <a:off x="1965960" y="1261872"/>
            <a:ext cx="1920240" cy="365760"/>
          </a:xfrm>
          <a:prstGeom prst="rect">
            <a:avLst/>
          </a:prstGeom>
          <a:noFill/>
          <a:ln/>
        </p:spPr>
        <p:txBody>
          <a:bodyPr wrap="square" lIns="0" tIns="0" rIns="0" bIns="0" rtlCol="0" anchor="ctr"/>
          <a:lstStyle/>
          <a:p>
            <a:pPr indent="0" marL="0">
              <a:buNone/>
            </a:pPr>
            <a:r>
              <a:rPr lang="en-US" sz="850" dirty="0">
                <a:solidFill>
                  <a:srgbClr val="E6EDF3"/>
                </a:solidFill>
                <a:latin typeface="Calibri" pitchFamily="34" charset="0"/>
                <a:ea typeface="Calibri" pitchFamily="34" charset="-122"/>
                <a:cs typeface="Calibri" pitchFamily="34" charset="-120"/>
              </a:rPr>
              <a:t>User input executed as code</a:t>
            </a:r>
            <a:endParaRPr lang="en-US" sz="850" dirty="0"/>
          </a:p>
        </p:txBody>
      </p:sp>
      <p:sp>
        <p:nvSpPr>
          <p:cNvPr id="19" name="Shape 17"/>
          <p:cNvSpPr/>
          <p:nvPr/>
        </p:nvSpPr>
        <p:spPr>
          <a:xfrm>
            <a:off x="3931920" y="1261872"/>
            <a:ext cx="1280160" cy="365760"/>
          </a:xfrm>
          <a:prstGeom prst="rect">
            <a:avLst/>
          </a:prstGeom>
          <a:solidFill>
            <a:srgbClr val="0D1117"/>
          </a:solidFill>
          <a:ln w="12700">
            <a:solidFill>
              <a:srgbClr val="30363D"/>
            </a:solidFill>
            <a:prstDash val="solid"/>
          </a:ln>
        </p:spPr>
      </p:sp>
      <p:sp>
        <p:nvSpPr>
          <p:cNvPr id="20" name="Text 18"/>
          <p:cNvSpPr/>
          <p:nvPr/>
        </p:nvSpPr>
        <p:spPr>
          <a:xfrm>
            <a:off x="3977640" y="1261872"/>
            <a:ext cx="1188720" cy="365760"/>
          </a:xfrm>
          <a:prstGeom prst="rect">
            <a:avLst/>
          </a:prstGeom>
          <a:noFill/>
          <a:ln/>
        </p:spPr>
        <p:txBody>
          <a:bodyPr wrap="square" lIns="0" tIns="0" rIns="0" bIns="0" rtlCol="0" anchor="ctr"/>
          <a:lstStyle/>
          <a:p>
            <a:pPr indent="0" marL="0">
              <a:buNone/>
            </a:pPr>
            <a:r>
              <a:rPr lang="en-US" sz="850" dirty="0">
                <a:solidFill>
                  <a:srgbClr val="D29922"/>
                </a:solidFill>
                <a:latin typeface="Calibri" pitchFamily="34" charset="0"/>
                <a:ea typeface="Calibri" pitchFamily="34" charset="-122"/>
                <a:cs typeface="Calibri" pitchFamily="34" charset="-120"/>
              </a:rPr>
              <a:t>Misuse/RCE</a:t>
            </a:r>
            <a:endParaRPr lang="en-US" sz="850" dirty="0"/>
          </a:p>
        </p:txBody>
      </p:sp>
      <p:sp>
        <p:nvSpPr>
          <p:cNvPr id="21" name="Shape 19"/>
          <p:cNvSpPr/>
          <p:nvPr/>
        </p:nvSpPr>
        <p:spPr>
          <a:xfrm>
            <a:off x="5212080" y="1261872"/>
            <a:ext cx="2011680" cy="365760"/>
          </a:xfrm>
          <a:prstGeom prst="rect">
            <a:avLst/>
          </a:prstGeom>
          <a:solidFill>
            <a:srgbClr val="0D1117"/>
          </a:solidFill>
          <a:ln w="12700">
            <a:solidFill>
              <a:srgbClr val="30363D"/>
            </a:solidFill>
            <a:prstDash val="solid"/>
          </a:ln>
        </p:spPr>
      </p:sp>
      <p:sp>
        <p:nvSpPr>
          <p:cNvPr id="22" name="Text 20"/>
          <p:cNvSpPr/>
          <p:nvPr/>
        </p:nvSpPr>
        <p:spPr>
          <a:xfrm>
            <a:off x="5257800" y="1261872"/>
            <a:ext cx="1920240" cy="365760"/>
          </a:xfrm>
          <a:prstGeom prst="rect">
            <a:avLst/>
          </a:prstGeom>
          <a:noFill/>
          <a:ln/>
        </p:spPr>
        <p:txBody>
          <a:bodyPr wrap="square" lIns="0" tIns="0" rIns="0" bIns="0" rtlCol="0" anchor="ctr"/>
          <a:lstStyle/>
          <a:p>
            <a:pPr indent="0" marL="0">
              <a:buNone/>
            </a:pPr>
            <a:r>
              <a:rPr lang="en-US" sz="850" dirty="0">
                <a:solidFill>
                  <a:srgbClr val="E6EDF3"/>
                </a:solidFill>
                <a:latin typeface="Calibri" pitchFamily="34" charset="0"/>
                <a:ea typeface="Calibri" pitchFamily="34" charset="-122"/>
                <a:cs typeface="Calibri" pitchFamily="34" charset="-120"/>
              </a:rPr>
              <a:t>JSON.parse + allowlist</a:t>
            </a:r>
            <a:endParaRPr lang="en-US" sz="850" dirty="0"/>
          </a:p>
        </p:txBody>
      </p:sp>
      <p:sp>
        <p:nvSpPr>
          <p:cNvPr id="23" name="Shape 21"/>
          <p:cNvSpPr/>
          <p:nvPr/>
        </p:nvSpPr>
        <p:spPr>
          <a:xfrm>
            <a:off x="7223760" y="1261872"/>
            <a:ext cx="1920240" cy="365760"/>
          </a:xfrm>
          <a:prstGeom prst="rect">
            <a:avLst/>
          </a:prstGeom>
          <a:solidFill>
            <a:srgbClr val="0D1117"/>
          </a:solidFill>
          <a:ln w="12700">
            <a:solidFill>
              <a:srgbClr val="30363D"/>
            </a:solidFill>
            <a:prstDash val="solid"/>
          </a:ln>
        </p:spPr>
      </p:sp>
      <p:sp>
        <p:nvSpPr>
          <p:cNvPr id="24" name="Text 22"/>
          <p:cNvSpPr/>
          <p:nvPr/>
        </p:nvSpPr>
        <p:spPr>
          <a:xfrm>
            <a:off x="7269480" y="1261872"/>
            <a:ext cx="1828800" cy="365760"/>
          </a:xfrm>
          <a:prstGeom prst="rect">
            <a:avLst/>
          </a:prstGeom>
          <a:noFill/>
          <a:ln/>
        </p:spPr>
        <p:txBody>
          <a:bodyPr wrap="square" lIns="0" tIns="0" rIns="0" bIns="0" rtlCol="0" anchor="ctr"/>
          <a:lstStyle/>
          <a:p>
            <a:pPr indent="0" marL="0">
              <a:buNone/>
            </a:pPr>
            <a:r>
              <a:rPr lang="en-US" sz="850" dirty="0">
                <a:solidFill>
                  <a:srgbClr val="3FB950"/>
                </a:solidFill>
                <a:latin typeface="Calibri" pitchFamily="34" charset="0"/>
                <a:ea typeface="Calibri" pitchFamily="34" charset="-122"/>
                <a:cs typeface="Calibri" pitchFamily="34" charset="-120"/>
              </a:rPr>
              <a:t>Unauthorized action returned</a:t>
            </a:r>
            <a:endParaRPr lang="en-US" sz="850" dirty="0"/>
          </a:p>
        </p:txBody>
      </p:sp>
      <p:sp>
        <p:nvSpPr>
          <p:cNvPr id="25" name="Shape 23"/>
          <p:cNvSpPr/>
          <p:nvPr/>
        </p:nvSpPr>
        <p:spPr>
          <a:xfrm>
            <a:off x="91440" y="1627632"/>
            <a:ext cx="1828800" cy="365760"/>
          </a:xfrm>
          <a:prstGeom prst="rect">
            <a:avLst/>
          </a:prstGeom>
          <a:solidFill>
            <a:srgbClr val="161B22"/>
          </a:solidFill>
          <a:ln w="12700">
            <a:solidFill>
              <a:srgbClr val="30363D"/>
            </a:solidFill>
            <a:prstDash val="solid"/>
          </a:ln>
        </p:spPr>
      </p:sp>
      <p:sp>
        <p:nvSpPr>
          <p:cNvPr id="26" name="Text 24"/>
          <p:cNvSpPr/>
          <p:nvPr/>
        </p:nvSpPr>
        <p:spPr>
          <a:xfrm>
            <a:off x="137160" y="1627632"/>
            <a:ext cx="1737360" cy="365760"/>
          </a:xfrm>
          <a:prstGeom prst="rect">
            <a:avLst/>
          </a:prstGeom>
          <a:noFill/>
          <a:ln/>
        </p:spPr>
        <p:txBody>
          <a:bodyPr wrap="square" lIns="0" tIns="0" rIns="0" bIns="0" rtlCol="0" anchor="ctr"/>
          <a:lstStyle/>
          <a:p>
            <a:pPr indent="0" marL="0">
              <a:buNone/>
            </a:pPr>
            <a:r>
              <a:rPr lang="en-US" sz="850" dirty="0">
                <a:solidFill>
                  <a:srgbClr val="E6EDF3"/>
                </a:solidFill>
                <a:latin typeface="Calibri" pitchFamily="34" charset="0"/>
                <a:ea typeface="Calibri" pitchFamily="34" charset="-122"/>
                <a:cs typeface="Calibri" pitchFamily="34" charset="-120"/>
              </a:rPr>
              <a:t>V2 — Broken Auth</a:t>
            </a:r>
            <a:endParaRPr lang="en-US" sz="850" dirty="0"/>
          </a:p>
        </p:txBody>
      </p:sp>
      <p:sp>
        <p:nvSpPr>
          <p:cNvPr id="27" name="Shape 25"/>
          <p:cNvSpPr/>
          <p:nvPr/>
        </p:nvSpPr>
        <p:spPr>
          <a:xfrm>
            <a:off x="1920240" y="1627632"/>
            <a:ext cx="2011680" cy="365760"/>
          </a:xfrm>
          <a:prstGeom prst="rect">
            <a:avLst/>
          </a:prstGeom>
          <a:solidFill>
            <a:srgbClr val="161B22"/>
          </a:solidFill>
          <a:ln w="12700">
            <a:solidFill>
              <a:srgbClr val="30363D"/>
            </a:solidFill>
            <a:prstDash val="solid"/>
          </a:ln>
        </p:spPr>
      </p:sp>
      <p:sp>
        <p:nvSpPr>
          <p:cNvPr id="28" name="Text 26"/>
          <p:cNvSpPr/>
          <p:nvPr/>
        </p:nvSpPr>
        <p:spPr>
          <a:xfrm>
            <a:off x="1965960" y="1627632"/>
            <a:ext cx="1920240" cy="365760"/>
          </a:xfrm>
          <a:prstGeom prst="rect">
            <a:avLst/>
          </a:prstGeom>
          <a:noFill/>
          <a:ln/>
        </p:spPr>
        <p:txBody>
          <a:bodyPr wrap="square" lIns="0" tIns="0" rIns="0" bIns="0" rtlCol="0" anchor="ctr"/>
          <a:lstStyle/>
          <a:p>
            <a:pPr indent="0" marL="0">
              <a:buNone/>
            </a:pPr>
            <a:r>
              <a:rPr lang="en-US" sz="850" dirty="0">
                <a:solidFill>
                  <a:srgbClr val="E6EDF3"/>
                </a:solidFill>
                <a:latin typeface="Calibri" pitchFamily="34" charset="0"/>
                <a:ea typeface="Calibri" pitchFamily="34" charset="-122"/>
                <a:cs typeface="Calibri" pitchFamily="34" charset="-120"/>
              </a:rPr>
              <a:t>Unsigned JWT payload trusted</a:t>
            </a:r>
            <a:endParaRPr lang="en-US" sz="850" dirty="0"/>
          </a:p>
        </p:txBody>
      </p:sp>
      <p:sp>
        <p:nvSpPr>
          <p:cNvPr id="29" name="Shape 27"/>
          <p:cNvSpPr/>
          <p:nvPr/>
        </p:nvSpPr>
        <p:spPr>
          <a:xfrm>
            <a:off x="3931920" y="1627632"/>
            <a:ext cx="1280160" cy="365760"/>
          </a:xfrm>
          <a:prstGeom prst="rect">
            <a:avLst/>
          </a:prstGeom>
          <a:solidFill>
            <a:srgbClr val="161B22"/>
          </a:solidFill>
          <a:ln w="12700">
            <a:solidFill>
              <a:srgbClr val="30363D"/>
            </a:solidFill>
            <a:prstDash val="solid"/>
          </a:ln>
        </p:spPr>
      </p:sp>
      <p:sp>
        <p:nvSpPr>
          <p:cNvPr id="30" name="Text 28"/>
          <p:cNvSpPr/>
          <p:nvPr/>
        </p:nvSpPr>
        <p:spPr>
          <a:xfrm>
            <a:off x="3977640" y="1627632"/>
            <a:ext cx="1188720" cy="365760"/>
          </a:xfrm>
          <a:prstGeom prst="rect">
            <a:avLst/>
          </a:prstGeom>
          <a:noFill/>
          <a:ln/>
        </p:spPr>
        <p:txBody>
          <a:bodyPr wrap="square" lIns="0" tIns="0" rIns="0" bIns="0" rtlCol="0" anchor="ctr"/>
          <a:lstStyle/>
          <a:p>
            <a:pPr indent="0" marL="0">
              <a:buNone/>
            </a:pPr>
            <a:r>
              <a:rPr lang="en-US" sz="850" dirty="0">
                <a:solidFill>
                  <a:srgbClr val="D29922"/>
                </a:solidFill>
                <a:latin typeface="Calibri" pitchFamily="34" charset="0"/>
                <a:ea typeface="Calibri" pitchFamily="34" charset="-122"/>
                <a:cs typeface="Calibri" pitchFamily="34" charset="-120"/>
              </a:rPr>
              <a:t>Misuse/Auth</a:t>
            </a:r>
            <a:endParaRPr lang="en-US" sz="850" dirty="0"/>
          </a:p>
        </p:txBody>
      </p:sp>
      <p:sp>
        <p:nvSpPr>
          <p:cNvPr id="31" name="Shape 29"/>
          <p:cNvSpPr/>
          <p:nvPr/>
        </p:nvSpPr>
        <p:spPr>
          <a:xfrm>
            <a:off x="5212080" y="1627632"/>
            <a:ext cx="2011680" cy="365760"/>
          </a:xfrm>
          <a:prstGeom prst="rect">
            <a:avLst/>
          </a:prstGeom>
          <a:solidFill>
            <a:srgbClr val="161B22"/>
          </a:solidFill>
          <a:ln w="12700">
            <a:solidFill>
              <a:srgbClr val="30363D"/>
            </a:solidFill>
            <a:prstDash val="solid"/>
          </a:ln>
        </p:spPr>
      </p:sp>
      <p:sp>
        <p:nvSpPr>
          <p:cNvPr id="32" name="Text 30"/>
          <p:cNvSpPr/>
          <p:nvPr/>
        </p:nvSpPr>
        <p:spPr>
          <a:xfrm>
            <a:off x="5257800" y="1627632"/>
            <a:ext cx="1920240" cy="365760"/>
          </a:xfrm>
          <a:prstGeom prst="rect">
            <a:avLst/>
          </a:prstGeom>
          <a:noFill/>
          <a:ln/>
        </p:spPr>
        <p:txBody>
          <a:bodyPr wrap="square" lIns="0" tIns="0" rIns="0" bIns="0" rtlCol="0" anchor="ctr"/>
          <a:lstStyle/>
          <a:p>
            <a:pPr indent="0" marL="0">
              <a:buNone/>
            </a:pPr>
            <a:r>
              <a:rPr lang="en-US" sz="850" dirty="0">
                <a:solidFill>
                  <a:srgbClr val="E6EDF3"/>
                </a:solidFill>
                <a:latin typeface="Calibri" pitchFamily="34" charset="0"/>
                <a:ea typeface="Calibri" pitchFamily="34" charset="-122"/>
                <a:cs typeface="Calibri" pitchFamily="34" charset="-120"/>
              </a:rPr>
              <a:t>Cognito Authorizer on API GW</a:t>
            </a:r>
            <a:endParaRPr lang="en-US" sz="850" dirty="0"/>
          </a:p>
        </p:txBody>
      </p:sp>
      <p:sp>
        <p:nvSpPr>
          <p:cNvPr id="33" name="Shape 31"/>
          <p:cNvSpPr/>
          <p:nvPr/>
        </p:nvSpPr>
        <p:spPr>
          <a:xfrm>
            <a:off x="7223760" y="1627632"/>
            <a:ext cx="1920240" cy="365760"/>
          </a:xfrm>
          <a:prstGeom prst="rect">
            <a:avLst/>
          </a:prstGeom>
          <a:solidFill>
            <a:srgbClr val="161B22"/>
          </a:solidFill>
          <a:ln w="12700">
            <a:solidFill>
              <a:srgbClr val="30363D"/>
            </a:solidFill>
            <a:prstDash val="solid"/>
          </a:ln>
        </p:spPr>
      </p:sp>
      <p:sp>
        <p:nvSpPr>
          <p:cNvPr id="34" name="Text 32"/>
          <p:cNvSpPr/>
          <p:nvPr/>
        </p:nvSpPr>
        <p:spPr>
          <a:xfrm>
            <a:off x="7269480" y="1627632"/>
            <a:ext cx="1828800" cy="365760"/>
          </a:xfrm>
          <a:prstGeom prst="rect">
            <a:avLst/>
          </a:prstGeom>
          <a:noFill/>
          <a:ln/>
        </p:spPr>
        <p:txBody>
          <a:bodyPr wrap="square" lIns="0" tIns="0" rIns="0" bIns="0" rtlCol="0" anchor="ctr"/>
          <a:lstStyle/>
          <a:p>
            <a:pPr indent="0" marL="0">
              <a:buNone/>
            </a:pPr>
            <a:r>
              <a:rPr lang="en-US" sz="850" dirty="0">
                <a:solidFill>
                  <a:srgbClr val="3FB950"/>
                </a:solidFill>
                <a:latin typeface="Calibri" pitchFamily="34" charset="0"/>
                <a:ea typeface="Calibri" pitchFamily="34" charset="-122"/>
                <a:cs typeface="Calibri" pitchFamily="34" charset="-120"/>
              </a:rPr>
              <a:t>Forged token → Unauthorized</a:t>
            </a:r>
            <a:endParaRPr lang="en-US" sz="850" dirty="0"/>
          </a:p>
        </p:txBody>
      </p:sp>
      <p:sp>
        <p:nvSpPr>
          <p:cNvPr id="35" name="Shape 33"/>
          <p:cNvSpPr/>
          <p:nvPr/>
        </p:nvSpPr>
        <p:spPr>
          <a:xfrm>
            <a:off x="91440" y="1993392"/>
            <a:ext cx="1828800" cy="365760"/>
          </a:xfrm>
          <a:prstGeom prst="rect">
            <a:avLst/>
          </a:prstGeom>
          <a:solidFill>
            <a:srgbClr val="0D1117"/>
          </a:solidFill>
          <a:ln w="12700">
            <a:solidFill>
              <a:srgbClr val="30363D"/>
            </a:solidFill>
            <a:prstDash val="solid"/>
          </a:ln>
        </p:spPr>
      </p:sp>
      <p:sp>
        <p:nvSpPr>
          <p:cNvPr id="36" name="Text 34"/>
          <p:cNvSpPr/>
          <p:nvPr/>
        </p:nvSpPr>
        <p:spPr>
          <a:xfrm>
            <a:off x="137160" y="1993392"/>
            <a:ext cx="1737360" cy="365760"/>
          </a:xfrm>
          <a:prstGeom prst="rect">
            <a:avLst/>
          </a:prstGeom>
          <a:noFill/>
          <a:ln/>
        </p:spPr>
        <p:txBody>
          <a:bodyPr wrap="square" lIns="0" tIns="0" rIns="0" bIns="0" rtlCol="0" anchor="ctr"/>
          <a:lstStyle/>
          <a:p>
            <a:pPr indent="0" marL="0">
              <a:buNone/>
            </a:pPr>
            <a:r>
              <a:rPr lang="en-US" sz="850" dirty="0">
                <a:solidFill>
                  <a:srgbClr val="E6EDF3"/>
                </a:solidFill>
                <a:latin typeface="Calibri" pitchFamily="34" charset="0"/>
                <a:ea typeface="Calibri" pitchFamily="34" charset="-122"/>
                <a:cs typeface="Calibri" pitchFamily="34" charset="-120"/>
              </a:rPr>
              <a:t>V3 — Info Disclosure</a:t>
            </a:r>
            <a:endParaRPr lang="en-US" sz="850" dirty="0"/>
          </a:p>
        </p:txBody>
      </p:sp>
      <p:sp>
        <p:nvSpPr>
          <p:cNvPr id="37" name="Shape 35"/>
          <p:cNvSpPr/>
          <p:nvPr/>
        </p:nvSpPr>
        <p:spPr>
          <a:xfrm>
            <a:off x="1920240" y="1993392"/>
            <a:ext cx="2011680" cy="365760"/>
          </a:xfrm>
          <a:prstGeom prst="rect">
            <a:avLst/>
          </a:prstGeom>
          <a:solidFill>
            <a:srgbClr val="0D1117"/>
          </a:solidFill>
          <a:ln w="12700">
            <a:solidFill>
              <a:srgbClr val="30363D"/>
            </a:solidFill>
            <a:prstDash val="solid"/>
          </a:ln>
        </p:spPr>
      </p:sp>
      <p:sp>
        <p:nvSpPr>
          <p:cNvPr id="38" name="Text 36"/>
          <p:cNvSpPr/>
          <p:nvPr/>
        </p:nvSpPr>
        <p:spPr>
          <a:xfrm>
            <a:off x="1965960" y="1993392"/>
            <a:ext cx="1920240" cy="365760"/>
          </a:xfrm>
          <a:prstGeom prst="rect">
            <a:avLst/>
          </a:prstGeom>
          <a:noFill/>
          <a:ln/>
        </p:spPr>
        <p:txBody>
          <a:bodyPr wrap="square" lIns="0" tIns="0" rIns="0" bIns="0" rtlCol="0" anchor="ctr"/>
          <a:lstStyle/>
          <a:p>
            <a:pPr indent="0" marL="0">
              <a:buNone/>
            </a:pPr>
            <a:r>
              <a:rPr lang="en-US" sz="850" dirty="0">
                <a:solidFill>
                  <a:srgbClr val="E6EDF3"/>
                </a:solidFill>
                <a:latin typeface="Calibri" pitchFamily="34" charset="0"/>
                <a:ea typeface="Calibri" pitchFamily="34" charset="-122"/>
                <a:cs typeface="Calibri" pitchFamily="34" charset="-120"/>
              </a:rPr>
              <a:t>No admin check on receipts</a:t>
            </a:r>
            <a:endParaRPr lang="en-US" sz="850" dirty="0"/>
          </a:p>
        </p:txBody>
      </p:sp>
      <p:sp>
        <p:nvSpPr>
          <p:cNvPr id="39" name="Shape 37"/>
          <p:cNvSpPr/>
          <p:nvPr/>
        </p:nvSpPr>
        <p:spPr>
          <a:xfrm>
            <a:off x="3931920" y="1993392"/>
            <a:ext cx="1280160" cy="365760"/>
          </a:xfrm>
          <a:prstGeom prst="rect">
            <a:avLst/>
          </a:prstGeom>
          <a:solidFill>
            <a:srgbClr val="0D1117"/>
          </a:solidFill>
          <a:ln w="12700">
            <a:solidFill>
              <a:srgbClr val="30363D"/>
            </a:solidFill>
            <a:prstDash val="solid"/>
          </a:ln>
        </p:spPr>
      </p:sp>
      <p:sp>
        <p:nvSpPr>
          <p:cNvPr id="40" name="Text 38"/>
          <p:cNvSpPr/>
          <p:nvPr/>
        </p:nvSpPr>
        <p:spPr>
          <a:xfrm>
            <a:off x="3977640" y="1993392"/>
            <a:ext cx="1188720" cy="365760"/>
          </a:xfrm>
          <a:prstGeom prst="rect">
            <a:avLst/>
          </a:prstGeom>
          <a:noFill/>
          <a:ln/>
        </p:spPr>
        <p:txBody>
          <a:bodyPr wrap="square" lIns="0" tIns="0" rIns="0" bIns="0" rtlCol="0" anchor="ctr"/>
          <a:lstStyle/>
          <a:p>
            <a:pPr indent="0" marL="0">
              <a:buNone/>
            </a:pPr>
            <a:r>
              <a:rPr lang="en-US" sz="850" dirty="0">
                <a:solidFill>
                  <a:srgbClr val="D29922"/>
                </a:solidFill>
                <a:latin typeface="Calibri" pitchFamily="34" charset="0"/>
                <a:ea typeface="Calibri" pitchFamily="34" charset="-122"/>
                <a:cs typeface="Calibri" pitchFamily="34" charset="-120"/>
              </a:rPr>
              <a:t>Misuse/Access</a:t>
            </a:r>
            <a:endParaRPr lang="en-US" sz="850" dirty="0"/>
          </a:p>
        </p:txBody>
      </p:sp>
      <p:sp>
        <p:nvSpPr>
          <p:cNvPr id="41" name="Shape 39"/>
          <p:cNvSpPr/>
          <p:nvPr/>
        </p:nvSpPr>
        <p:spPr>
          <a:xfrm>
            <a:off x="5212080" y="1993392"/>
            <a:ext cx="2011680" cy="365760"/>
          </a:xfrm>
          <a:prstGeom prst="rect">
            <a:avLst/>
          </a:prstGeom>
          <a:solidFill>
            <a:srgbClr val="0D1117"/>
          </a:solidFill>
          <a:ln w="12700">
            <a:solidFill>
              <a:srgbClr val="30363D"/>
            </a:solidFill>
            <a:prstDash val="solid"/>
          </a:ln>
        </p:spPr>
      </p:sp>
      <p:sp>
        <p:nvSpPr>
          <p:cNvPr id="42" name="Text 40"/>
          <p:cNvSpPr/>
          <p:nvPr/>
        </p:nvSpPr>
        <p:spPr>
          <a:xfrm>
            <a:off x="5257800" y="1993392"/>
            <a:ext cx="1920240" cy="365760"/>
          </a:xfrm>
          <a:prstGeom prst="rect">
            <a:avLst/>
          </a:prstGeom>
          <a:noFill/>
          <a:ln/>
        </p:spPr>
        <p:txBody>
          <a:bodyPr wrap="square" lIns="0" tIns="0" rIns="0" bIns="0" rtlCol="0" anchor="ctr"/>
          <a:lstStyle/>
          <a:p>
            <a:pPr indent="0" marL="0">
              <a:buNone/>
            </a:pPr>
            <a:r>
              <a:rPr lang="en-US" sz="850" dirty="0">
                <a:solidFill>
                  <a:srgbClr val="E6EDF3"/>
                </a:solidFill>
                <a:latin typeface="Calibri" pitchFamily="34" charset="0"/>
                <a:ea typeface="Calibri" pitchFamily="34" charset="-122"/>
                <a:cs typeface="Calibri" pitchFamily="34" charset="-120"/>
              </a:rPr>
              <a:t>isAdmin server-side check</a:t>
            </a:r>
            <a:endParaRPr lang="en-US" sz="850" dirty="0"/>
          </a:p>
        </p:txBody>
      </p:sp>
      <p:sp>
        <p:nvSpPr>
          <p:cNvPr id="43" name="Shape 41"/>
          <p:cNvSpPr/>
          <p:nvPr/>
        </p:nvSpPr>
        <p:spPr>
          <a:xfrm>
            <a:off x="7223760" y="1993392"/>
            <a:ext cx="1920240" cy="365760"/>
          </a:xfrm>
          <a:prstGeom prst="rect">
            <a:avLst/>
          </a:prstGeom>
          <a:solidFill>
            <a:srgbClr val="0D1117"/>
          </a:solidFill>
          <a:ln w="12700">
            <a:solidFill>
              <a:srgbClr val="30363D"/>
            </a:solidFill>
            <a:prstDash val="solid"/>
          </a:ln>
        </p:spPr>
      </p:sp>
      <p:sp>
        <p:nvSpPr>
          <p:cNvPr id="44" name="Text 42"/>
          <p:cNvSpPr/>
          <p:nvPr/>
        </p:nvSpPr>
        <p:spPr>
          <a:xfrm>
            <a:off x="7269480" y="1993392"/>
            <a:ext cx="1828800" cy="365760"/>
          </a:xfrm>
          <a:prstGeom prst="rect">
            <a:avLst/>
          </a:prstGeom>
          <a:noFill/>
          <a:ln/>
        </p:spPr>
        <p:txBody>
          <a:bodyPr wrap="square" lIns="0" tIns="0" rIns="0" bIns="0" rtlCol="0" anchor="ctr"/>
          <a:lstStyle/>
          <a:p>
            <a:pPr indent="0" marL="0">
              <a:buNone/>
            </a:pPr>
            <a:r>
              <a:rPr lang="en-US" sz="850" dirty="0">
                <a:solidFill>
                  <a:srgbClr val="3FB950"/>
                </a:solidFill>
                <a:latin typeface="Calibri" pitchFamily="34" charset="0"/>
                <a:ea typeface="Calibri" pitchFamily="34" charset="-122"/>
                <a:cs typeface="Calibri" pitchFamily="34" charset="-120"/>
              </a:rPr>
              <a:t>Normal users blocked</a:t>
            </a:r>
            <a:endParaRPr lang="en-US" sz="850" dirty="0"/>
          </a:p>
        </p:txBody>
      </p:sp>
      <p:sp>
        <p:nvSpPr>
          <p:cNvPr id="45" name="Shape 43"/>
          <p:cNvSpPr/>
          <p:nvPr/>
        </p:nvSpPr>
        <p:spPr>
          <a:xfrm>
            <a:off x="91440" y="2359152"/>
            <a:ext cx="1828800" cy="365760"/>
          </a:xfrm>
          <a:prstGeom prst="rect">
            <a:avLst/>
          </a:prstGeom>
          <a:solidFill>
            <a:srgbClr val="161B22"/>
          </a:solidFill>
          <a:ln w="12700">
            <a:solidFill>
              <a:srgbClr val="30363D"/>
            </a:solidFill>
            <a:prstDash val="solid"/>
          </a:ln>
        </p:spPr>
      </p:sp>
      <p:sp>
        <p:nvSpPr>
          <p:cNvPr id="46" name="Text 44"/>
          <p:cNvSpPr/>
          <p:nvPr/>
        </p:nvSpPr>
        <p:spPr>
          <a:xfrm>
            <a:off x="137160" y="2359152"/>
            <a:ext cx="1737360" cy="365760"/>
          </a:xfrm>
          <a:prstGeom prst="rect">
            <a:avLst/>
          </a:prstGeom>
          <a:noFill/>
          <a:ln/>
        </p:spPr>
        <p:txBody>
          <a:bodyPr wrap="square" lIns="0" tIns="0" rIns="0" bIns="0" rtlCol="0" anchor="ctr"/>
          <a:lstStyle/>
          <a:p>
            <a:pPr indent="0" marL="0">
              <a:buNone/>
            </a:pPr>
            <a:r>
              <a:rPr lang="en-US" sz="850" dirty="0">
                <a:solidFill>
                  <a:srgbClr val="E6EDF3"/>
                </a:solidFill>
                <a:latin typeface="Calibri" pitchFamily="34" charset="0"/>
                <a:ea typeface="Calibri" pitchFamily="34" charset="-122"/>
                <a:cs typeface="Calibri" pitchFamily="34" charset="-120"/>
              </a:rPr>
              <a:t>V4 — Insecure Config</a:t>
            </a:r>
            <a:endParaRPr lang="en-US" sz="850" dirty="0"/>
          </a:p>
        </p:txBody>
      </p:sp>
      <p:sp>
        <p:nvSpPr>
          <p:cNvPr id="47" name="Shape 45"/>
          <p:cNvSpPr/>
          <p:nvPr/>
        </p:nvSpPr>
        <p:spPr>
          <a:xfrm>
            <a:off x="1920240" y="2359152"/>
            <a:ext cx="2011680" cy="365760"/>
          </a:xfrm>
          <a:prstGeom prst="rect">
            <a:avLst/>
          </a:prstGeom>
          <a:solidFill>
            <a:srgbClr val="161B22"/>
          </a:solidFill>
          <a:ln w="12700">
            <a:solidFill>
              <a:srgbClr val="30363D"/>
            </a:solidFill>
            <a:prstDash val="solid"/>
          </a:ln>
        </p:spPr>
      </p:sp>
      <p:sp>
        <p:nvSpPr>
          <p:cNvPr id="48" name="Text 46"/>
          <p:cNvSpPr/>
          <p:nvPr/>
        </p:nvSpPr>
        <p:spPr>
          <a:xfrm>
            <a:off x="1965960" y="2359152"/>
            <a:ext cx="1920240" cy="365760"/>
          </a:xfrm>
          <a:prstGeom prst="rect">
            <a:avLst/>
          </a:prstGeom>
          <a:noFill/>
          <a:ln/>
        </p:spPr>
        <p:txBody>
          <a:bodyPr wrap="square" lIns="0" tIns="0" rIns="0" bIns="0" rtlCol="0" anchor="ctr"/>
          <a:lstStyle/>
          <a:p>
            <a:pPr indent="0" marL="0">
              <a:buNone/>
            </a:pPr>
            <a:r>
              <a:rPr lang="en-US" sz="850" dirty="0">
                <a:solidFill>
                  <a:srgbClr val="E6EDF3"/>
                </a:solidFill>
                <a:latin typeface="Calibri" pitchFamily="34" charset="0"/>
                <a:ea typeface="Calibri" pitchFamily="34" charset="-122"/>
                <a:cs typeface="Calibri" pitchFamily="34" charset="-120"/>
              </a:rPr>
              <a:t>Public S3 write allowed</a:t>
            </a:r>
            <a:endParaRPr lang="en-US" sz="850" dirty="0"/>
          </a:p>
        </p:txBody>
      </p:sp>
      <p:sp>
        <p:nvSpPr>
          <p:cNvPr id="49" name="Shape 47"/>
          <p:cNvSpPr/>
          <p:nvPr/>
        </p:nvSpPr>
        <p:spPr>
          <a:xfrm>
            <a:off x="3931920" y="2359152"/>
            <a:ext cx="1280160" cy="365760"/>
          </a:xfrm>
          <a:prstGeom prst="rect">
            <a:avLst/>
          </a:prstGeom>
          <a:solidFill>
            <a:srgbClr val="161B22"/>
          </a:solidFill>
          <a:ln w="12700">
            <a:solidFill>
              <a:srgbClr val="30363D"/>
            </a:solidFill>
            <a:prstDash val="solid"/>
          </a:ln>
        </p:spPr>
      </p:sp>
      <p:sp>
        <p:nvSpPr>
          <p:cNvPr id="50" name="Text 48"/>
          <p:cNvSpPr/>
          <p:nvPr/>
        </p:nvSpPr>
        <p:spPr>
          <a:xfrm>
            <a:off x="3977640" y="2359152"/>
            <a:ext cx="1188720" cy="365760"/>
          </a:xfrm>
          <a:prstGeom prst="rect">
            <a:avLst/>
          </a:prstGeom>
          <a:noFill/>
          <a:ln/>
        </p:spPr>
        <p:txBody>
          <a:bodyPr wrap="square" lIns="0" tIns="0" rIns="0" bIns="0" rtlCol="0" anchor="ctr"/>
          <a:lstStyle/>
          <a:p>
            <a:pPr indent="0" marL="0">
              <a:buNone/>
            </a:pPr>
            <a:r>
              <a:rPr lang="en-US" sz="850" dirty="0">
                <a:solidFill>
                  <a:srgbClr val="D29922"/>
                </a:solidFill>
                <a:latin typeface="Calibri" pitchFamily="34" charset="0"/>
                <a:ea typeface="Calibri" pitchFamily="34" charset="-122"/>
                <a:cs typeface="Calibri" pitchFamily="34" charset="-120"/>
              </a:rPr>
              <a:t>Misconfiguration</a:t>
            </a:r>
            <a:endParaRPr lang="en-US" sz="850" dirty="0"/>
          </a:p>
        </p:txBody>
      </p:sp>
      <p:sp>
        <p:nvSpPr>
          <p:cNvPr id="51" name="Shape 49"/>
          <p:cNvSpPr/>
          <p:nvPr/>
        </p:nvSpPr>
        <p:spPr>
          <a:xfrm>
            <a:off x="5212080" y="2359152"/>
            <a:ext cx="2011680" cy="365760"/>
          </a:xfrm>
          <a:prstGeom prst="rect">
            <a:avLst/>
          </a:prstGeom>
          <a:solidFill>
            <a:srgbClr val="161B22"/>
          </a:solidFill>
          <a:ln w="12700">
            <a:solidFill>
              <a:srgbClr val="30363D"/>
            </a:solidFill>
            <a:prstDash val="solid"/>
          </a:ln>
        </p:spPr>
      </p:sp>
      <p:sp>
        <p:nvSpPr>
          <p:cNvPr id="52" name="Text 50"/>
          <p:cNvSpPr/>
          <p:nvPr/>
        </p:nvSpPr>
        <p:spPr>
          <a:xfrm>
            <a:off x="5257800" y="2359152"/>
            <a:ext cx="1920240" cy="365760"/>
          </a:xfrm>
          <a:prstGeom prst="rect">
            <a:avLst/>
          </a:prstGeom>
          <a:noFill/>
          <a:ln/>
        </p:spPr>
        <p:txBody>
          <a:bodyPr wrap="square" lIns="0" tIns="0" rIns="0" bIns="0" rtlCol="0" anchor="ctr"/>
          <a:lstStyle/>
          <a:p>
            <a:pPr indent="0" marL="0">
              <a:buNone/>
            </a:pPr>
            <a:r>
              <a:rPr lang="en-US" sz="850" dirty="0">
                <a:solidFill>
                  <a:srgbClr val="E6EDF3"/>
                </a:solidFill>
                <a:latin typeface="Calibri" pitchFamily="34" charset="0"/>
                <a:ea typeface="Calibri" pitchFamily="34" charset="-122"/>
                <a:cs typeface="Calibri" pitchFamily="34" charset="-120"/>
              </a:rPr>
              <a:t>Block Public Access ON</a:t>
            </a:r>
            <a:endParaRPr lang="en-US" sz="850" dirty="0"/>
          </a:p>
        </p:txBody>
      </p:sp>
      <p:sp>
        <p:nvSpPr>
          <p:cNvPr id="53" name="Shape 51"/>
          <p:cNvSpPr/>
          <p:nvPr/>
        </p:nvSpPr>
        <p:spPr>
          <a:xfrm>
            <a:off x="7223760" y="2359152"/>
            <a:ext cx="1920240" cy="365760"/>
          </a:xfrm>
          <a:prstGeom prst="rect">
            <a:avLst/>
          </a:prstGeom>
          <a:solidFill>
            <a:srgbClr val="161B22"/>
          </a:solidFill>
          <a:ln w="12700">
            <a:solidFill>
              <a:srgbClr val="30363D"/>
            </a:solidFill>
            <a:prstDash val="solid"/>
          </a:ln>
        </p:spPr>
      </p:sp>
      <p:sp>
        <p:nvSpPr>
          <p:cNvPr id="54" name="Text 52"/>
          <p:cNvSpPr/>
          <p:nvPr/>
        </p:nvSpPr>
        <p:spPr>
          <a:xfrm>
            <a:off x="7269480" y="2359152"/>
            <a:ext cx="1828800" cy="365760"/>
          </a:xfrm>
          <a:prstGeom prst="rect">
            <a:avLst/>
          </a:prstGeom>
          <a:noFill/>
          <a:ln/>
        </p:spPr>
        <p:txBody>
          <a:bodyPr wrap="square" lIns="0" tIns="0" rIns="0" bIns="0" rtlCol="0" anchor="ctr"/>
          <a:lstStyle/>
          <a:p>
            <a:pPr indent="0" marL="0">
              <a:buNone/>
            </a:pPr>
            <a:r>
              <a:rPr lang="en-US" sz="850" dirty="0">
                <a:solidFill>
                  <a:srgbClr val="3FB950"/>
                </a:solidFill>
                <a:latin typeface="Calibri" pitchFamily="34" charset="0"/>
                <a:ea typeface="Calibri" pitchFamily="34" charset="-122"/>
                <a:cs typeface="Calibri" pitchFamily="34" charset="-120"/>
              </a:rPr>
              <a:t>Upload → AccessDenied</a:t>
            </a:r>
            <a:endParaRPr lang="en-US" sz="850" dirty="0"/>
          </a:p>
        </p:txBody>
      </p:sp>
      <p:sp>
        <p:nvSpPr>
          <p:cNvPr id="55" name="Shape 53"/>
          <p:cNvSpPr/>
          <p:nvPr/>
        </p:nvSpPr>
        <p:spPr>
          <a:xfrm>
            <a:off x="91440" y="2724912"/>
            <a:ext cx="1828800" cy="365760"/>
          </a:xfrm>
          <a:prstGeom prst="rect">
            <a:avLst/>
          </a:prstGeom>
          <a:solidFill>
            <a:srgbClr val="0D1117"/>
          </a:solidFill>
          <a:ln w="12700">
            <a:solidFill>
              <a:srgbClr val="30363D"/>
            </a:solidFill>
            <a:prstDash val="solid"/>
          </a:ln>
        </p:spPr>
      </p:sp>
      <p:sp>
        <p:nvSpPr>
          <p:cNvPr id="56" name="Text 54"/>
          <p:cNvSpPr/>
          <p:nvPr/>
        </p:nvSpPr>
        <p:spPr>
          <a:xfrm>
            <a:off x="137160" y="2724912"/>
            <a:ext cx="1737360" cy="365760"/>
          </a:xfrm>
          <a:prstGeom prst="rect">
            <a:avLst/>
          </a:prstGeom>
          <a:noFill/>
          <a:ln/>
        </p:spPr>
        <p:txBody>
          <a:bodyPr wrap="square" lIns="0" tIns="0" rIns="0" bIns="0" rtlCol="0" anchor="ctr"/>
          <a:lstStyle/>
          <a:p>
            <a:pPr indent="0" marL="0">
              <a:buNone/>
            </a:pPr>
            <a:r>
              <a:rPr lang="en-US" sz="850" dirty="0">
                <a:solidFill>
                  <a:srgbClr val="E6EDF3"/>
                </a:solidFill>
                <a:latin typeface="Calibri" pitchFamily="34" charset="0"/>
                <a:ea typeface="Calibri" pitchFamily="34" charset="-122"/>
                <a:cs typeface="Calibri" pitchFamily="34" charset="-120"/>
              </a:rPr>
              <a:t>V5 — Broken Access</a:t>
            </a:r>
            <a:endParaRPr lang="en-US" sz="850" dirty="0"/>
          </a:p>
        </p:txBody>
      </p:sp>
      <p:sp>
        <p:nvSpPr>
          <p:cNvPr id="57" name="Shape 55"/>
          <p:cNvSpPr/>
          <p:nvPr/>
        </p:nvSpPr>
        <p:spPr>
          <a:xfrm>
            <a:off x="1920240" y="2724912"/>
            <a:ext cx="2011680" cy="365760"/>
          </a:xfrm>
          <a:prstGeom prst="rect">
            <a:avLst/>
          </a:prstGeom>
          <a:solidFill>
            <a:srgbClr val="0D1117"/>
          </a:solidFill>
          <a:ln w="12700">
            <a:solidFill>
              <a:srgbClr val="30363D"/>
            </a:solidFill>
            <a:prstDash val="solid"/>
          </a:ln>
        </p:spPr>
      </p:sp>
      <p:sp>
        <p:nvSpPr>
          <p:cNvPr id="58" name="Text 56"/>
          <p:cNvSpPr/>
          <p:nvPr/>
        </p:nvSpPr>
        <p:spPr>
          <a:xfrm>
            <a:off x="1965960" y="2724912"/>
            <a:ext cx="1920240" cy="365760"/>
          </a:xfrm>
          <a:prstGeom prst="rect">
            <a:avLst/>
          </a:prstGeom>
          <a:noFill/>
          <a:ln/>
        </p:spPr>
        <p:txBody>
          <a:bodyPr wrap="square" lIns="0" tIns="0" rIns="0" bIns="0" rtlCol="0" anchor="ctr"/>
          <a:lstStyle/>
          <a:p>
            <a:pPr indent="0" marL="0">
              <a:buNone/>
            </a:pPr>
            <a:r>
              <a:rPr lang="en-US" sz="850" dirty="0">
                <a:solidFill>
                  <a:srgbClr val="E6EDF3"/>
                </a:solidFill>
                <a:latin typeface="Calibri" pitchFamily="34" charset="0"/>
                <a:ea typeface="Calibri" pitchFamily="34" charset="-122"/>
                <a:cs typeface="Calibri" pitchFamily="34" charset="-120"/>
              </a:rPr>
              <a:t>Privileged action exposed publicly</a:t>
            </a:r>
            <a:endParaRPr lang="en-US" sz="850" dirty="0"/>
          </a:p>
        </p:txBody>
      </p:sp>
      <p:sp>
        <p:nvSpPr>
          <p:cNvPr id="59" name="Shape 57"/>
          <p:cNvSpPr/>
          <p:nvPr/>
        </p:nvSpPr>
        <p:spPr>
          <a:xfrm>
            <a:off x="3931920" y="2724912"/>
            <a:ext cx="1280160" cy="365760"/>
          </a:xfrm>
          <a:prstGeom prst="rect">
            <a:avLst/>
          </a:prstGeom>
          <a:solidFill>
            <a:srgbClr val="0D1117"/>
          </a:solidFill>
          <a:ln w="12700">
            <a:solidFill>
              <a:srgbClr val="30363D"/>
            </a:solidFill>
            <a:prstDash val="solid"/>
          </a:ln>
        </p:spPr>
      </p:sp>
      <p:sp>
        <p:nvSpPr>
          <p:cNvPr id="60" name="Text 58"/>
          <p:cNvSpPr/>
          <p:nvPr/>
        </p:nvSpPr>
        <p:spPr>
          <a:xfrm>
            <a:off x="3977640" y="2724912"/>
            <a:ext cx="1188720" cy="365760"/>
          </a:xfrm>
          <a:prstGeom prst="rect">
            <a:avLst/>
          </a:prstGeom>
          <a:noFill/>
          <a:ln/>
        </p:spPr>
        <p:txBody>
          <a:bodyPr wrap="square" lIns="0" tIns="0" rIns="0" bIns="0" rtlCol="0" anchor="ctr"/>
          <a:lstStyle/>
          <a:p>
            <a:pPr indent="0" marL="0">
              <a:buNone/>
            </a:pPr>
            <a:r>
              <a:rPr lang="en-US" sz="850" dirty="0">
                <a:solidFill>
                  <a:srgbClr val="D29922"/>
                </a:solidFill>
                <a:latin typeface="Calibri" pitchFamily="34" charset="0"/>
                <a:ea typeface="Calibri" pitchFamily="34" charset="-122"/>
                <a:cs typeface="Calibri" pitchFamily="34" charset="-120"/>
              </a:rPr>
              <a:t>Misuse/Access</a:t>
            </a:r>
            <a:endParaRPr lang="en-US" sz="850" dirty="0"/>
          </a:p>
        </p:txBody>
      </p:sp>
      <p:sp>
        <p:nvSpPr>
          <p:cNvPr id="61" name="Shape 59"/>
          <p:cNvSpPr/>
          <p:nvPr/>
        </p:nvSpPr>
        <p:spPr>
          <a:xfrm>
            <a:off x="5212080" y="2724912"/>
            <a:ext cx="2011680" cy="365760"/>
          </a:xfrm>
          <a:prstGeom prst="rect">
            <a:avLst/>
          </a:prstGeom>
          <a:solidFill>
            <a:srgbClr val="0D1117"/>
          </a:solidFill>
          <a:ln w="12700">
            <a:solidFill>
              <a:srgbClr val="30363D"/>
            </a:solidFill>
            <a:prstDash val="solid"/>
          </a:ln>
        </p:spPr>
      </p:sp>
      <p:sp>
        <p:nvSpPr>
          <p:cNvPr id="62" name="Text 60"/>
          <p:cNvSpPr/>
          <p:nvPr/>
        </p:nvSpPr>
        <p:spPr>
          <a:xfrm>
            <a:off x="5257800" y="2724912"/>
            <a:ext cx="1920240" cy="365760"/>
          </a:xfrm>
          <a:prstGeom prst="rect">
            <a:avLst/>
          </a:prstGeom>
          <a:noFill/>
          <a:ln/>
        </p:spPr>
        <p:txBody>
          <a:bodyPr wrap="square" lIns="0" tIns="0" rIns="0" bIns="0" rtlCol="0" anchor="ctr"/>
          <a:lstStyle/>
          <a:p>
            <a:pPr indent="0" marL="0">
              <a:buNone/>
            </a:pPr>
            <a:r>
              <a:rPr lang="en-US" sz="850" dirty="0">
                <a:solidFill>
                  <a:srgbClr val="E6EDF3"/>
                </a:solidFill>
                <a:latin typeface="Calibri" pitchFamily="34" charset="0"/>
                <a:ea typeface="Calibri" pitchFamily="34" charset="-122"/>
                <a:cs typeface="Calibri" pitchFamily="34" charset="-120"/>
              </a:rPr>
              <a:t>isAdmin check in complete case</a:t>
            </a:r>
            <a:endParaRPr lang="en-US" sz="850" dirty="0"/>
          </a:p>
        </p:txBody>
      </p:sp>
      <p:sp>
        <p:nvSpPr>
          <p:cNvPr id="63" name="Shape 61"/>
          <p:cNvSpPr/>
          <p:nvPr/>
        </p:nvSpPr>
        <p:spPr>
          <a:xfrm>
            <a:off x="7223760" y="2724912"/>
            <a:ext cx="1920240" cy="365760"/>
          </a:xfrm>
          <a:prstGeom prst="rect">
            <a:avLst/>
          </a:prstGeom>
          <a:solidFill>
            <a:srgbClr val="0D1117"/>
          </a:solidFill>
          <a:ln w="12700">
            <a:solidFill>
              <a:srgbClr val="30363D"/>
            </a:solidFill>
            <a:prstDash val="solid"/>
          </a:ln>
        </p:spPr>
      </p:sp>
      <p:sp>
        <p:nvSpPr>
          <p:cNvPr id="64" name="Text 62"/>
          <p:cNvSpPr/>
          <p:nvPr/>
        </p:nvSpPr>
        <p:spPr>
          <a:xfrm>
            <a:off x="7269480" y="2724912"/>
            <a:ext cx="1828800" cy="365760"/>
          </a:xfrm>
          <a:prstGeom prst="rect">
            <a:avLst/>
          </a:prstGeom>
          <a:noFill/>
          <a:ln/>
        </p:spPr>
        <p:txBody>
          <a:bodyPr wrap="square" lIns="0" tIns="0" rIns="0" bIns="0" rtlCol="0" anchor="ctr"/>
          <a:lstStyle/>
          <a:p>
            <a:pPr indent="0" marL="0">
              <a:buNone/>
            </a:pPr>
            <a:r>
              <a:rPr lang="en-US" sz="850" dirty="0">
                <a:solidFill>
                  <a:srgbClr val="3FB950"/>
                </a:solidFill>
                <a:latin typeface="Calibri" pitchFamily="34" charset="0"/>
                <a:ea typeface="Calibri" pitchFamily="34" charset="-122"/>
                <a:cs typeface="Calibri" pitchFamily="34" charset="-120"/>
              </a:rPr>
              <a:t>Normal user → Unauthorized</a:t>
            </a:r>
            <a:endParaRPr lang="en-US" sz="850" dirty="0"/>
          </a:p>
        </p:txBody>
      </p:sp>
      <p:sp>
        <p:nvSpPr>
          <p:cNvPr id="65" name="Shape 63"/>
          <p:cNvSpPr/>
          <p:nvPr/>
        </p:nvSpPr>
        <p:spPr>
          <a:xfrm>
            <a:off x="91440" y="3090672"/>
            <a:ext cx="1828800" cy="365760"/>
          </a:xfrm>
          <a:prstGeom prst="rect">
            <a:avLst/>
          </a:prstGeom>
          <a:solidFill>
            <a:srgbClr val="161B22"/>
          </a:solidFill>
          <a:ln w="12700">
            <a:solidFill>
              <a:srgbClr val="30363D"/>
            </a:solidFill>
            <a:prstDash val="solid"/>
          </a:ln>
        </p:spPr>
      </p:sp>
      <p:sp>
        <p:nvSpPr>
          <p:cNvPr id="66" name="Text 64"/>
          <p:cNvSpPr/>
          <p:nvPr/>
        </p:nvSpPr>
        <p:spPr>
          <a:xfrm>
            <a:off x="137160" y="3090672"/>
            <a:ext cx="1737360" cy="365760"/>
          </a:xfrm>
          <a:prstGeom prst="rect">
            <a:avLst/>
          </a:prstGeom>
          <a:noFill/>
          <a:ln/>
        </p:spPr>
        <p:txBody>
          <a:bodyPr wrap="square" lIns="0" tIns="0" rIns="0" bIns="0" rtlCol="0" anchor="ctr"/>
          <a:lstStyle/>
          <a:p>
            <a:pPr indent="0" marL="0">
              <a:buNone/>
            </a:pPr>
            <a:r>
              <a:rPr lang="en-US" sz="850" dirty="0">
                <a:solidFill>
                  <a:srgbClr val="E6EDF3"/>
                </a:solidFill>
                <a:latin typeface="Calibri" pitchFamily="34" charset="0"/>
                <a:ea typeface="Calibri" pitchFamily="34" charset="-122"/>
                <a:cs typeface="Calibri" pitchFamily="34" charset="-120"/>
              </a:rPr>
              <a:t>V6 — DoS</a:t>
            </a:r>
            <a:endParaRPr lang="en-US" sz="850" dirty="0"/>
          </a:p>
        </p:txBody>
      </p:sp>
      <p:sp>
        <p:nvSpPr>
          <p:cNvPr id="67" name="Shape 65"/>
          <p:cNvSpPr/>
          <p:nvPr/>
        </p:nvSpPr>
        <p:spPr>
          <a:xfrm>
            <a:off x="1920240" y="3090672"/>
            <a:ext cx="2011680" cy="365760"/>
          </a:xfrm>
          <a:prstGeom prst="rect">
            <a:avLst/>
          </a:prstGeom>
          <a:solidFill>
            <a:srgbClr val="161B22"/>
          </a:solidFill>
          <a:ln w="12700">
            <a:solidFill>
              <a:srgbClr val="30363D"/>
            </a:solidFill>
            <a:prstDash val="solid"/>
          </a:ln>
        </p:spPr>
      </p:sp>
      <p:sp>
        <p:nvSpPr>
          <p:cNvPr id="68" name="Text 66"/>
          <p:cNvSpPr/>
          <p:nvPr/>
        </p:nvSpPr>
        <p:spPr>
          <a:xfrm>
            <a:off x="1965960" y="3090672"/>
            <a:ext cx="1920240" cy="365760"/>
          </a:xfrm>
          <a:prstGeom prst="rect">
            <a:avLst/>
          </a:prstGeom>
          <a:noFill/>
          <a:ln/>
        </p:spPr>
        <p:txBody>
          <a:bodyPr wrap="square" lIns="0" tIns="0" rIns="0" bIns="0" rtlCol="0" anchor="ctr"/>
          <a:lstStyle/>
          <a:p>
            <a:pPr indent="0" marL="0">
              <a:buNone/>
            </a:pPr>
            <a:r>
              <a:rPr lang="en-US" sz="850" dirty="0">
                <a:solidFill>
                  <a:srgbClr val="E6EDF3"/>
                </a:solidFill>
                <a:latin typeface="Calibri" pitchFamily="34" charset="0"/>
                <a:ea typeface="Calibri" pitchFamily="34" charset="-122"/>
                <a:cs typeface="Calibri" pitchFamily="34" charset="-120"/>
              </a:rPr>
              <a:t>No rate limiting on billing</a:t>
            </a:r>
            <a:endParaRPr lang="en-US" sz="850" dirty="0"/>
          </a:p>
        </p:txBody>
      </p:sp>
      <p:sp>
        <p:nvSpPr>
          <p:cNvPr id="69" name="Shape 67"/>
          <p:cNvSpPr/>
          <p:nvPr/>
        </p:nvSpPr>
        <p:spPr>
          <a:xfrm>
            <a:off x="3931920" y="3090672"/>
            <a:ext cx="1280160" cy="365760"/>
          </a:xfrm>
          <a:prstGeom prst="rect">
            <a:avLst/>
          </a:prstGeom>
          <a:solidFill>
            <a:srgbClr val="161B22"/>
          </a:solidFill>
          <a:ln w="12700">
            <a:solidFill>
              <a:srgbClr val="30363D"/>
            </a:solidFill>
            <a:prstDash val="solid"/>
          </a:ln>
        </p:spPr>
      </p:sp>
      <p:sp>
        <p:nvSpPr>
          <p:cNvPr id="70" name="Text 68"/>
          <p:cNvSpPr/>
          <p:nvPr/>
        </p:nvSpPr>
        <p:spPr>
          <a:xfrm>
            <a:off x="3977640" y="3090672"/>
            <a:ext cx="1188720" cy="365760"/>
          </a:xfrm>
          <a:prstGeom prst="rect">
            <a:avLst/>
          </a:prstGeom>
          <a:noFill/>
          <a:ln/>
        </p:spPr>
        <p:txBody>
          <a:bodyPr wrap="square" lIns="0" tIns="0" rIns="0" bIns="0" rtlCol="0" anchor="ctr"/>
          <a:lstStyle/>
          <a:p>
            <a:pPr indent="0" marL="0">
              <a:buNone/>
            </a:pPr>
            <a:r>
              <a:rPr lang="en-US" sz="850" dirty="0">
                <a:solidFill>
                  <a:srgbClr val="D29922"/>
                </a:solidFill>
                <a:latin typeface="Calibri" pitchFamily="34" charset="0"/>
                <a:ea typeface="Calibri" pitchFamily="34" charset="-122"/>
                <a:cs typeface="Calibri" pitchFamily="34" charset="-120"/>
              </a:rPr>
              <a:t>Misuse/Avail.</a:t>
            </a:r>
            <a:endParaRPr lang="en-US" sz="850" dirty="0"/>
          </a:p>
        </p:txBody>
      </p:sp>
      <p:sp>
        <p:nvSpPr>
          <p:cNvPr id="71" name="Shape 69"/>
          <p:cNvSpPr/>
          <p:nvPr/>
        </p:nvSpPr>
        <p:spPr>
          <a:xfrm>
            <a:off x="5212080" y="3090672"/>
            <a:ext cx="2011680" cy="365760"/>
          </a:xfrm>
          <a:prstGeom prst="rect">
            <a:avLst/>
          </a:prstGeom>
          <a:solidFill>
            <a:srgbClr val="161B22"/>
          </a:solidFill>
          <a:ln w="12700">
            <a:solidFill>
              <a:srgbClr val="30363D"/>
            </a:solidFill>
            <a:prstDash val="solid"/>
          </a:ln>
        </p:spPr>
      </p:sp>
      <p:sp>
        <p:nvSpPr>
          <p:cNvPr id="72" name="Text 70"/>
          <p:cNvSpPr/>
          <p:nvPr/>
        </p:nvSpPr>
        <p:spPr>
          <a:xfrm>
            <a:off x="5257800" y="3090672"/>
            <a:ext cx="1920240" cy="365760"/>
          </a:xfrm>
          <a:prstGeom prst="rect">
            <a:avLst/>
          </a:prstGeom>
          <a:noFill/>
          <a:ln/>
        </p:spPr>
        <p:txBody>
          <a:bodyPr wrap="square" lIns="0" tIns="0" rIns="0" bIns="0" rtlCol="0" anchor="ctr"/>
          <a:lstStyle/>
          <a:p>
            <a:pPr indent="0" marL="0">
              <a:buNone/>
            </a:pPr>
            <a:r>
              <a:rPr lang="en-US" sz="850" dirty="0">
                <a:solidFill>
                  <a:srgbClr val="E6EDF3"/>
                </a:solidFill>
                <a:latin typeface="Calibri" pitchFamily="34" charset="0"/>
                <a:ea typeface="Calibri" pitchFamily="34" charset="-122"/>
                <a:cs typeface="Calibri" pitchFamily="34" charset="-120"/>
              </a:rPr>
              <a:t>Per-user rate limiting in Lambda</a:t>
            </a:r>
            <a:endParaRPr lang="en-US" sz="850" dirty="0"/>
          </a:p>
        </p:txBody>
      </p:sp>
      <p:sp>
        <p:nvSpPr>
          <p:cNvPr id="73" name="Shape 71"/>
          <p:cNvSpPr/>
          <p:nvPr/>
        </p:nvSpPr>
        <p:spPr>
          <a:xfrm>
            <a:off x="7223760" y="3090672"/>
            <a:ext cx="1920240" cy="365760"/>
          </a:xfrm>
          <a:prstGeom prst="rect">
            <a:avLst/>
          </a:prstGeom>
          <a:solidFill>
            <a:srgbClr val="161B22"/>
          </a:solidFill>
          <a:ln w="12700">
            <a:solidFill>
              <a:srgbClr val="30363D"/>
            </a:solidFill>
            <a:prstDash val="solid"/>
          </a:ln>
        </p:spPr>
      </p:sp>
      <p:sp>
        <p:nvSpPr>
          <p:cNvPr id="74" name="Text 72"/>
          <p:cNvSpPr/>
          <p:nvPr/>
        </p:nvSpPr>
        <p:spPr>
          <a:xfrm>
            <a:off x="7269480" y="3090672"/>
            <a:ext cx="1828800" cy="365760"/>
          </a:xfrm>
          <a:prstGeom prst="rect">
            <a:avLst/>
          </a:prstGeom>
          <a:noFill/>
          <a:ln/>
        </p:spPr>
        <p:txBody>
          <a:bodyPr wrap="square" lIns="0" tIns="0" rIns="0" bIns="0" rtlCol="0" anchor="ctr"/>
          <a:lstStyle/>
          <a:p>
            <a:pPr indent="0" marL="0">
              <a:buNone/>
            </a:pPr>
            <a:r>
              <a:rPr lang="en-US" sz="850" dirty="0">
                <a:solidFill>
                  <a:srgbClr val="3FB950"/>
                </a:solidFill>
                <a:latin typeface="Calibri" pitchFamily="34" charset="0"/>
                <a:ea typeface="Calibri" pitchFamily="34" charset="-122"/>
                <a:cs typeface="Calibri" pitchFamily="34" charset="-120"/>
              </a:rPr>
              <a:t>429 returned on excess requests</a:t>
            </a:r>
            <a:endParaRPr lang="en-US" sz="850" dirty="0"/>
          </a:p>
        </p:txBody>
      </p:sp>
      <p:sp>
        <p:nvSpPr>
          <p:cNvPr id="75" name="Shape 73"/>
          <p:cNvSpPr/>
          <p:nvPr/>
        </p:nvSpPr>
        <p:spPr>
          <a:xfrm>
            <a:off x="91440" y="3456432"/>
            <a:ext cx="1828800" cy="365760"/>
          </a:xfrm>
          <a:prstGeom prst="rect">
            <a:avLst/>
          </a:prstGeom>
          <a:solidFill>
            <a:srgbClr val="0D1117"/>
          </a:solidFill>
          <a:ln w="12700">
            <a:solidFill>
              <a:srgbClr val="30363D"/>
            </a:solidFill>
            <a:prstDash val="solid"/>
          </a:ln>
        </p:spPr>
      </p:sp>
      <p:sp>
        <p:nvSpPr>
          <p:cNvPr id="76" name="Text 74"/>
          <p:cNvSpPr/>
          <p:nvPr/>
        </p:nvSpPr>
        <p:spPr>
          <a:xfrm>
            <a:off x="137160" y="3456432"/>
            <a:ext cx="1737360" cy="365760"/>
          </a:xfrm>
          <a:prstGeom prst="rect">
            <a:avLst/>
          </a:prstGeom>
          <a:noFill/>
          <a:ln/>
        </p:spPr>
        <p:txBody>
          <a:bodyPr wrap="square" lIns="0" tIns="0" rIns="0" bIns="0" rtlCol="0" anchor="ctr"/>
          <a:lstStyle/>
          <a:p>
            <a:pPr indent="0" marL="0">
              <a:buNone/>
            </a:pPr>
            <a:r>
              <a:rPr lang="en-US" sz="850" dirty="0">
                <a:solidFill>
                  <a:srgbClr val="E6EDF3"/>
                </a:solidFill>
                <a:latin typeface="Calibri" pitchFamily="34" charset="0"/>
                <a:ea typeface="Calibri" pitchFamily="34" charset="-122"/>
                <a:cs typeface="Calibri" pitchFamily="34" charset="-120"/>
              </a:rPr>
              <a:t>V7 — Over-Privilege</a:t>
            </a:r>
            <a:endParaRPr lang="en-US" sz="850" dirty="0"/>
          </a:p>
        </p:txBody>
      </p:sp>
      <p:sp>
        <p:nvSpPr>
          <p:cNvPr id="77" name="Shape 75"/>
          <p:cNvSpPr/>
          <p:nvPr/>
        </p:nvSpPr>
        <p:spPr>
          <a:xfrm>
            <a:off x="1920240" y="3456432"/>
            <a:ext cx="2011680" cy="365760"/>
          </a:xfrm>
          <a:prstGeom prst="rect">
            <a:avLst/>
          </a:prstGeom>
          <a:solidFill>
            <a:srgbClr val="0D1117"/>
          </a:solidFill>
          <a:ln w="12700">
            <a:solidFill>
              <a:srgbClr val="30363D"/>
            </a:solidFill>
            <a:prstDash val="solid"/>
          </a:ln>
        </p:spPr>
      </p:sp>
      <p:sp>
        <p:nvSpPr>
          <p:cNvPr id="78" name="Text 76"/>
          <p:cNvSpPr/>
          <p:nvPr/>
        </p:nvSpPr>
        <p:spPr>
          <a:xfrm>
            <a:off x="1965960" y="3456432"/>
            <a:ext cx="1920240" cy="365760"/>
          </a:xfrm>
          <a:prstGeom prst="rect">
            <a:avLst/>
          </a:prstGeom>
          <a:noFill/>
          <a:ln/>
        </p:spPr>
        <p:txBody>
          <a:bodyPr wrap="square" lIns="0" tIns="0" rIns="0" bIns="0" rtlCol="0" anchor="ctr"/>
          <a:lstStyle/>
          <a:p>
            <a:pPr indent="0" marL="0">
              <a:buNone/>
            </a:pPr>
            <a:r>
              <a:rPr lang="en-US" sz="850" dirty="0">
                <a:solidFill>
                  <a:srgbClr val="E6EDF3"/>
                </a:solidFill>
                <a:latin typeface="Calibri" pitchFamily="34" charset="0"/>
                <a:ea typeface="Calibri" pitchFamily="34" charset="-122"/>
                <a:cs typeface="Calibri" pitchFamily="34" charset="-120"/>
              </a:rPr>
              <a:t>IAM wildcard permissions</a:t>
            </a:r>
            <a:endParaRPr lang="en-US" sz="850" dirty="0"/>
          </a:p>
        </p:txBody>
      </p:sp>
      <p:sp>
        <p:nvSpPr>
          <p:cNvPr id="79" name="Shape 77"/>
          <p:cNvSpPr/>
          <p:nvPr/>
        </p:nvSpPr>
        <p:spPr>
          <a:xfrm>
            <a:off x="3931920" y="3456432"/>
            <a:ext cx="1280160" cy="365760"/>
          </a:xfrm>
          <a:prstGeom prst="rect">
            <a:avLst/>
          </a:prstGeom>
          <a:solidFill>
            <a:srgbClr val="0D1117"/>
          </a:solidFill>
          <a:ln w="12700">
            <a:solidFill>
              <a:srgbClr val="30363D"/>
            </a:solidFill>
            <a:prstDash val="solid"/>
          </a:ln>
        </p:spPr>
      </p:sp>
      <p:sp>
        <p:nvSpPr>
          <p:cNvPr id="80" name="Text 78"/>
          <p:cNvSpPr/>
          <p:nvPr/>
        </p:nvSpPr>
        <p:spPr>
          <a:xfrm>
            <a:off x="3977640" y="3456432"/>
            <a:ext cx="1188720" cy="365760"/>
          </a:xfrm>
          <a:prstGeom prst="rect">
            <a:avLst/>
          </a:prstGeom>
          <a:noFill/>
          <a:ln/>
        </p:spPr>
        <p:txBody>
          <a:bodyPr wrap="square" lIns="0" tIns="0" rIns="0" bIns="0" rtlCol="0" anchor="ctr"/>
          <a:lstStyle/>
          <a:p>
            <a:pPr indent="0" marL="0">
              <a:buNone/>
            </a:pPr>
            <a:r>
              <a:rPr lang="en-US" sz="850" dirty="0">
                <a:solidFill>
                  <a:srgbClr val="D29922"/>
                </a:solidFill>
                <a:latin typeface="Calibri" pitchFamily="34" charset="0"/>
                <a:ea typeface="Calibri" pitchFamily="34" charset="-122"/>
                <a:cs typeface="Calibri" pitchFamily="34" charset="-120"/>
              </a:rPr>
              <a:t>Misconfiguration</a:t>
            </a:r>
            <a:endParaRPr lang="en-US" sz="850" dirty="0"/>
          </a:p>
        </p:txBody>
      </p:sp>
      <p:sp>
        <p:nvSpPr>
          <p:cNvPr id="81" name="Shape 79"/>
          <p:cNvSpPr/>
          <p:nvPr/>
        </p:nvSpPr>
        <p:spPr>
          <a:xfrm>
            <a:off x="5212080" y="3456432"/>
            <a:ext cx="2011680" cy="365760"/>
          </a:xfrm>
          <a:prstGeom prst="rect">
            <a:avLst/>
          </a:prstGeom>
          <a:solidFill>
            <a:srgbClr val="0D1117"/>
          </a:solidFill>
          <a:ln w="12700">
            <a:solidFill>
              <a:srgbClr val="30363D"/>
            </a:solidFill>
            <a:prstDash val="solid"/>
          </a:ln>
        </p:spPr>
      </p:sp>
      <p:sp>
        <p:nvSpPr>
          <p:cNvPr id="82" name="Text 80"/>
          <p:cNvSpPr/>
          <p:nvPr/>
        </p:nvSpPr>
        <p:spPr>
          <a:xfrm>
            <a:off x="5257800" y="3456432"/>
            <a:ext cx="1920240" cy="365760"/>
          </a:xfrm>
          <a:prstGeom prst="rect">
            <a:avLst/>
          </a:prstGeom>
          <a:noFill/>
          <a:ln/>
        </p:spPr>
        <p:txBody>
          <a:bodyPr wrap="square" lIns="0" tIns="0" rIns="0" bIns="0" rtlCol="0" anchor="ctr"/>
          <a:lstStyle/>
          <a:p>
            <a:pPr indent="0" marL="0">
              <a:buNone/>
            </a:pPr>
            <a:r>
              <a:rPr lang="en-US" sz="850" dirty="0">
                <a:solidFill>
                  <a:srgbClr val="E6EDF3"/>
                </a:solidFill>
                <a:latin typeface="Calibri" pitchFamily="34" charset="0"/>
                <a:ea typeface="Calibri" pitchFamily="34" charset="-122"/>
                <a:cs typeface="Calibri" pitchFamily="34" charset="-120"/>
              </a:rPr>
              <a:t>Least-privilege IAM policy</a:t>
            </a:r>
            <a:endParaRPr lang="en-US" sz="850" dirty="0"/>
          </a:p>
        </p:txBody>
      </p:sp>
      <p:sp>
        <p:nvSpPr>
          <p:cNvPr id="83" name="Shape 81"/>
          <p:cNvSpPr/>
          <p:nvPr/>
        </p:nvSpPr>
        <p:spPr>
          <a:xfrm>
            <a:off x="7223760" y="3456432"/>
            <a:ext cx="1920240" cy="365760"/>
          </a:xfrm>
          <a:prstGeom prst="rect">
            <a:avLst/>
          </a:prstGeom>
          <a:solidFill>
            <a:srgbClr val="0D1117"/>
          </a:solidFill>
          <a:ln w="12700">
            <a:solidFill>
              <a:srgbClr val="30363D"/>
            </a:solidFill>
            <a:prstDash val="solid"/>
          </a:ln>
        </p:spPr>
      </p:sp>
      <p:sp>
        <p:nvSpPr>
          <p:cNvPr id="84" name="Text 82"/>
          <p:cNvSpPr/>
          <p:nvPr/>
        </p:nvSpPr>
        <p:spPr>
          <a:xfrm>
            <a:off x="7269480" y="3456432"/>
            <a:ext cx="1828800" cy="365760"/>
          </a:xfrm>
          <a:prstGeom prst="rect">
            <a:avLst/>
          </a:prstGeom>
          <a:noFill/>
          <a:ln/>
        </p:spPr>
        <p:txBody>
          <a:bodyPr wrap="square" lIns="0" tIns="0" rIns="0" bIns="0" rtlCol="0" anchor="ctr"/>
          <a:lstStyle/>
          <a:p>
            <a:pPr indent="0" marL="0">
              <a:buNone/>
            </a:pPr>
            <a:r>
              <a:rPr lang="en-US" sz="850" dirty="0">
                <a:solidFill>
                  <a:srgbClr val="3FB950"/>
                </a:solidFill>
                <a:latin typeface="Calibri" pitchFamily="34" charset="0"/>
                <a:ea typeface="Calibri" pitchFamily="34" charset="-122"/>
                <a:cs typeface="Calibri" pitchFamily="34" charset="-120"/>
              </a:rPr>
              <a:t>No wildcard perms remain</a:t>
            </a:r>
            <a:endParaRPr lang="en-US" sz="850" dirty="0"/>
          </a:p>
        </p:txBody>
      </p:sp>
      <p:sp>
        <p:nvSpPr>
          <p:cNvPr id="85" name="Shape 83"/>
          <p:cNvSpPr/>
          <p:nvPr/>
        </p:nvSpPr>
        <p:spPr>
          <a:xfrm>
            <a:off x="91440" y="3822192"/>
            <a:ext cx="1828800" cy="365760"/>
          </a:xfrm>
          <a:prstGeom prst="rect">
            <a:avLst/>
          </a:prstGeom>
          <a:solidFill>
            <a:srgbClr val="161B22"/>
          </a:solidFill>
          <a:ln w="12700">
            <a:solidFill>
              <a:srgbClr val="30363D"/>
            </a:solidFill>
            <a:prstDash val="solid"/>
          </a:ln>
        </p:spPr>
      </p:sp>
      <p:sp>
        <p:nvSpPr>
          <p:cNvPr id="86" name="Text 84"/>
          <p:cNvSpPr/>
          <p:nvPr/>
        </p:nvSpPr>
        <p:spPr>
          <a:xfrm>
            <a:off x="137160" y="3822192"/>
            <a:ext cx="1737360" cy="365760"/>
          </a:xfrm>
          <a:prstGeom prst="rect">
            <a:avLst/>
          </a:prstGeom>
          <a:noFill/>
          <a:ln/>
        </p:spPr>
        <p:txBody>
          <a:bodyPr wrap="square" lIns="0" tIns="0" rIns="0" bIns="0" rtlCol="0" anchor="ctr"/>
          <a:lstStyle/>
          <a:p>
            <a:pPr indent="0" marL="0">
              <a:buNone/>
            </a:pPr>
            <a:r>
              <a:rPr lang="en-US" sz="850" dirty="0">
                <a:solidFill>
                  <a:srgbClr val="E6EDF3"/>
                </a:solidFill>
                <a:latin typeface="Calibri" pitchFamily="34" charset="0"/>
                <a:ea typeface="Calibri" pitchFamily="34" charset="-122"/>
                <a:cs typeface="Calibri" pitchFamily="34" charset="-120"/>
              </a:rPr>
              <a:t>V8 — Logic Flaw</a:t>
            </a:r>
            <a:endParaRPr lang="en-US" sz="850" dirty="0"/>
          </a:p>
        </p:txBody>
      </p:sp>
      <p:sp>
        <p:nvSpPr>
          <p:cNvPr id="87" name="Shape 85"/>
          <p:cNvSpPr/>
          <p:nvPr/>
        </p:nvSpPr>
        <p:spPr>
          <a:xfrm>
            <a:off x="1920240" y="3822192"/>
            <a:ext cx="2011680" cy="365760"/>
          </a:xfrm>
          <a:prstGeom prst="rect">
            <a:avLst/>
          </a:prstGeom>
          <a:solidFill>
            <a:srgbClr val="161B22"/>
          </a:solidFill>
          <a:ln w="12700">
            <a:solidFill>
              <a:srgbClr val="30363D"/>
            </a:solidFill>
            <a:prstDash val="solid"/>
          </a:ln>
        </p:spPr>
      </p:sp>
      <p:sp>
        <p:nvSpPr>
          <p:cNvPr id="88" name="Text 86"/>
          <p:cNvSpPr/>
          <p:nvPr/>
        </p:nvSpPr>
        <p:spPr>
          <a:xfrm>
            <a:off x="1965960" y="3822192"/>
            <a:ext cx="1920240" cy="365760"/>
          </a:xfrm>
          <a:prstGeom prst="rect">
            <a:avLst/>
          </a:prstGeom>
          <a:noFill/>
          <a:ln/>
        </p:spPr>
        <p:txBody>
          <a:bodyPr wrap="square" lIns="0" tIns="0" rIns="0" bIns="0" rtlCol="0" anchor="ctr"/>
          <a:lstStyle/>
          <a:p>
            <a:pPr indent="0" marL="0">
              <a:buNone/>
            </a:pPr>
            <a:r>
              <a:rPr lang="en-US" sz="850" dirty="0">
                <a:solidFill>
                  <a:srgbClr val="E6EDF3"/>
                </a:solidFill>
                <a:latin typeface="Calibri" pitchFamily="34" charset="0"/>
                <a:ea typeface="Calibri" pitchFamily="34" charset="-122"/>
                <a:cs typeface="Calibri" pitchFamily="34" charset="-120"/>
              </a:rPr>
              <a:t>Updates allowed post-payment</a:t>
            </a:r>
            <a:endParaRPr lang="en-US" sz="850" dirty="0"/>
          </a:p>
        </p:txBody>
      </p:sp>
      <p:sp>
        <p:nvSpPr>
          <p:cNvPr id="89" name="Shape 87"/>
          <p:cNvSpPr/>
          <p:nvPr/>
        </p:nvSpPr>
        <p:spPr>
          <a:xfrm>
            <a:off x="3931920" y="3822192"/>
            <a:ext cx="1280160" cy="365760"/>
          </a:xfrm>
          <a:prstGeom prst="rect">
            <a:avLst/>
          </a:prstGeom>
          <a:solidFill>
            <a:srgbClr val="161B22"/>
          </a:solidFill>
          <a:ln w="12700">
            <a:solidFill>
              <a:srgbClr val="30363D"/>
            </a:solidFill>
            <a:prstDash val="solid"/>
          </a:ln>
        </p:spPr>
      </p:sp>
      <p:sp>
        <p:nvSpPr>
          <p:cNvPr id="90" name="Text 88"/>
          <p:cNvSpPr/>
          <p:nvPr/>
        </p:nvSpPr>
        <p:spPr>
          <a:xfrm>
            <a:off x="3977640" y="3822192"/>
            <a:ext cx="1188720" cy="365760"/>
          </a:xfrm>
          <a:prstGeom prst="rect">
            <a:avLst/>
          </a:prstGeom>
          <a:noFill/>
          <a:ln/>
        </p:spPr>
        <p:txBody>
          <a:bodyPr wrap="square" lIns="0" tIns="0" rIns="0" bIns="0" rtlCol="0" anchor="ctr"/>
          <a:lstStyle/>
          <a:p>
            <a:pPr indent="0" marL="0">
              <a:buNone/>
            </a:pPr>
            <a:r>
              <a:rPr lang="en-US" sz="850" dirty="0">
                <a:solidFill>
                  <a:srgbClr val="D29922"/>
                </a:solidFill>
                <a:latin typeface="Calibri" pitchFamily="34" charset="0"/>
                <a:ea typeface="Calibri" pitchFamily="34" charset="-122"/>
                <a:cs typeface="Calibri" pitchFamily="34" charset="-120"/>
              </a:rPr>
              <a:t>Misuse/Logic</a:t>
            </a:r>
            <a:endParaRPr lang="en-US" sz="850" dirty="0"/>
          </a:p>
        </p:txBody>
      </p:sp>
      <p:sp>
        <p:nvSpPr>
          <p:cNvPr id="91" name="Shape 89"/>
          <p:cNvSpPr/>
          <p:nvPr/>
        </p:nvSpPr>
        <p:spPr>
          <a:xfrm>
            <a:off x="5212080" y="3822192"/>
            <a:ext cx="2011680" cy="365760"/>
          </a:xfrm>
          <a:prstGeom prst="rect">
            <a:avLst/>
          </a:prstGeom>
          <a:solidFill>
            <a:srgbClr val="161B22"/>
          </a:solidFill>
          <a:ln w="12700">
            <a:solidFill>
              <a:srgbClr val="30363D"/>
            </a:solidFill>
            <a:prstDash val="solid"/>
          </a:ln>
        </p:spPr>
      </p:sp>
      <p:sp>
        <p:nvSpPr>
          <p:cNvPr id="92" name="Text 90"/>
          <p:cNvSpPr/>
          <p:nvPr/>
        </p:nvSpPr>
        <p:spPr>
          <a:xfrm>
            <a:off x="5257800" y="3822192"/>
            <a:ext cx="1920240" cy="365760"/>
          </a:xfrm>
          <a:prstGeom prst="rect">
            <a:avLst/>
          </a:prstGeom>
          <a:noFill/>
          <a:ln/>
        </p:spPr>
        <p:txBody>
          <a:bodyPr wrap="square" lIns="0" tIns="0" rIns="0" bIns="0" rtlCol="0" anchor="ctr"/>
          <a:lstStyle/>
          <a:p>
            <a:pPr indent="0" marL="0">
              <a:buNone/>
            </a:pPr>
            <a:r>
              <a:rPr lang="en-US" sz="850" dirty="0">
                <a:solidFill>
                  <a:srgbClr val="E6EDF3"/>
                </a:solidFill>
                <a:latin typeface="Calibri" pitchFamily="34" charset="0"/>
                <a:ea typeface="Calibri" pitchFamily="34" charset="-122"/>
                <a:cs typeface="Calibri" pitchFamily="34" charset="-120"/>
              </a:rPr>
              <a:t>orderStatus &gt;= 120 checks + ConditionExpr.</a:t>
            </a:r>
            <a:endParaRPr lang="en-US" sz="850" dirty="0"/>
          </a:p>
        </p:txBody>
      </p:sp>
      <p:sp>
        <p:nvSpPr>
          <p:cNvPr id="93" name="Shape 91"/>
          <p:cNvSpPr/>
          <p:nvPr/>
        </p:nvSpPr>
        <p:spPr>
          <a:xfrm>
            <a:off x="7223760" y="3822192"/>
            <a:ext cx="1920240" cy="365760"/>
          </a:xfrm>
          <a:prstGeom prst="rect">
            <a:avLst/>
          </a:prstGeom>
          <a:solidFill>
            <a:srgbClr val="161B22"/>
          </a:solidFill>
          <a:ln w="12700">
            <a:solidFill>
              <a:srgbClr val="30363D"/>
            </a:solidFill>
            <a:prstDash val="solid"/>
          </a:ln>
        </p:spPr>
      </p:sp>
      <p:sp>
        <p:nvSpPr>
          <p:cNvPr id="94" name="Text 92"/>
          <p:cNvSpPr/>
          <p:nvPr/>
        </p:nvSpPr>
        <p:spPr>
          <a:xfrm>
            <a:off x="7269480" y="3822192"/>
            <a:ext cx="1828800" cy="365760"/>
          </a:xfrm>
          <a:prstGeom prst="rect">
            <a:avLst/>
          </a:prstGeom>
          <a:noFill/>
          <a:ln/>
        </p:spPr>
        <p:txBody>
          <a:bodyPr wrap="square" lIns="0" tIns="0" rIns="0" bIns="0" rtlCol="0" anchor="ctr"/>
          <a:lstStyle/>
          <a:p>
            <a:pPr indent="0" marL="0">
              <a:buNone/>
            </a:pPr>
            <a:r>
              <a:rPr lang="en-US" sz="850" dirty="0">
                <a:solidFill>
                  <a:srgbClr val="3FB950"/>
                </a:solidFill>
                <a:latin typeface="Calibri" pitchFamily="34" charset="0"/>
                <a:ea typeface="Calibri" pitchFamily="34" charset="-122"/>
                <a:cs typeface="Calibri" pitchFamily="34" charset="-120"/>
              </a:rPr>
              <a:t>Order already made error</a:t>
            </a:r>
            <a:endParaRPr lang="en-US" sz="850" dirty="0"/>
          </a:p>
        </p:txBody>
      </p:sp>
      <p:sp>
        <p:nvSpPr>
          <p:cNvPr id="95" name="Shape 93"/>
          <p:cNvSpPr/>
          <p:nvPr/>
        </p:nvSpPr>
        <p:spPr>
          <a:xfrm>
            <a:off x="91440" y="4187952"/>
            <a:ext cx="1828800" cy="365760"/>
          </a:xfrm>
          <a:prstGeom prst="rect">
            <a:avLst/>
          </a:prstGeom>
          <a:solidFill>
            <a:srgbClr val="0D1117"/>
          </a:solidFill>
          <a:ln w="12700">
            <a:solidFill>
              <a:srgbClr val="30363D"/>
            </a:solidFill>
            <a:prstDash val="solid"/>
          </a:ln>
        </p:spPr>
      </p:sp>
      <p:sp>
        <p:nvSpPr>
          <p:cNvPr id="96" name="Text 94"/>
          <p:cNvSpPr/>
          <p:nvPr/>
        </p:nvSpPr>
        <p:spPr>
          <a:xfrm>
            <a:off x="137160" y="4187952"/>
            <a:ext cx="1737360" cy="365760"/>
          </a:xfrm>
          <a:prstGeom prst="rect">
            <a:avLst/>
          </a:prstGeom>
          <a:noFill/>
          <a:ln/>
        </p:spPr>
        <p:txBody>
          <a:bodyPr wrap="square" lIns="0" tIns="0" rIns="0" bIns="0" rtlCol="0" anchor="ctr"/>
          <a:lstStyle/>
          <a:p>
            <a:pPr indent="0" marL="0">
              <a:buNone/>
            </a:pPr>
            <a:r>
              <a:rPr lang="en-US" sz="850" dirty="0">
                <a:solidFill>
                  <a:srgbClr val="E6EDF3"/>
                </a:solidFill>
                <a:latin typeface="Calibri" pitchFamily="34" charset="0"/>
                <a:ea typeface="Calibri" pitchFamily="34" charset="-122"/>
                <a:cs typeface="Calibri" pitchFamily="34" charset="-120"/>
              </a:rPr>
              <a:t>V9 — Vulnerable Dep.</a:t>
            </a:r>
            <a:endParaRPr lang="en-US" sz="850" dirty="0"/>
          </a:p>
        </p:txBody>
      </p:sp>
      <p:sp>
        <p:nvSpPr>
          <p:cNvPr id="97" name="Shape 95"/>
          <p:cNvSpPr/>
          <p:nvPr/>
        </p:nvSpPr>
        <p:spPr>
          <a:xfrm>
            <a:off x="1920240" y="4187952"/>
            <a:ext cx="2011680" cy="365760"/>
          </a:xfrm>
          <a:prstGeom prst="rect">
            <a:avLst/>
          </a:prstGeom>
          <a:solidFill>
            <a:srgbClr val="0D1117"/>
          </a:solidFill>
          <a:ln w="12700">
            <a:solidFill>
              <a:srgbClr val="30363D"/>
            </a:solidFill>
            <a:prstDash val="solid"/>
          </a:ln>
        </p:spPr>
      </p:sp>
      <p:sp>
        <p:nvSpPr>
          <p:cNvPr id="98" name="Text 96"/>
          <p:cNvSpPr/>
          <p:nvPr/>
        </p:nvSpPr>
        <p:spPr>
          <a:xfrm>
            <a:off x="1965960" y="4187952"/>
            <a:ext cx="1920240" cy="365760"/>
          </a:xfrm>
          <a:prstGeom prst="rect">
            <a:avLst/>
          </a:prstGeom>
          <a:noFill/>
          <a:ln/>
        </p:spPr>
        <p:txBody>
          <a:bodyPr wrap="square" lIns="0" tIns="0" rIns="0" bIns="0" rtlCol="0" anchor="ctr"/>
          <a:lstStyle/>
          <a:p>
            <a:pPr indent="0" marL="0">
              <a:buNone/>
            </a:pPr>
            <a:r>
              <a:rPr lang="en-US" sz="850" dirty="0">
                <a:solidFill>
                  <a:srgbClr val="E6EDF3"/>
                </a:solidFill>
                <a:latin typeface="Calibri" pitchFamily="34" charset="0"/>
                <a:ea typeface="Calibri" pitchFamily="34" charset="-122"/>
                <a:cs typeface="Calibri" pitchFamily="34" charset="-120"/>
              </a:rPr>
              <a:t>Unsafe deserialization library</a:t>
            </a:r>
            <a:endParaRPr lang="en-US" sz="850" dirty="0"/>
          </a:p>
        </p:txBody>
      </p:sp>
      <p:sp>
        <p:nvSpPr>
          <p:cNvPr id="99" name="Shape 97"/>
          <p:cNvSpPr/>
          <p:nvPr/>
        </p:nvSpPr>
        <p:spPr>
          <a:xfrm>
            <a:off x="3931920" y="4187952"/>
            <a:ext cx="1280160" cy="365760"/>
          </a:xfrm>
          <a:prstGeom prst="rect">
            <a:avLst/>
          </a:prstGeom>
          <a:solidFill>
            <a:srgbClr val="0D1117"/>
          </a:solidFill>
          <a:ln w="12700">
            <a:solidFill>
              <a:srgbClr val="30363D"/>
            </a:solidFill>
            <a:prstDash val="solid"/>
          </a:ln>
        </p:spPr>
      </p:sp>
      <p:sp>
        <p:nvSpPr>
          <p:cNvPr id="100" name="Text 98"/>
          <p:cNvSpPr/>
          <p:nvPr/>
        </p:nvSpPr>
        <p:spPr>
          <a:xfrm>
            <a:off x="3977640" y="4187952"/>
            <a:ext cx="1188720" cy="365760"/>
          </a:xfrm>
          <a:prstGeom prst="rect">
            <a:avLst/>
          </a:prstGeom>
          <a:noFill/>
          <a:ln/>
        </p:spPr>
        <p:txBody>
          <a:bodyPr wrap="square" lIns="0" tIns="0" rIns="0" bIns="0" rtlCol="0" anchor="ctr"/>
          <a:lstStyle/>
          <a:p>
            <a:pPr indent="0" marL="0">
              <a:buNone/>
            </a:pPr>
            <a:r>
              <a:rPr lang="en-US" sz="850" dirty="0">
                <a:solidFill>
                  <a:srgbClr val="D29922"/>
                </a:solidFill>
                <a:latin typeface="Calibri" pitchFamily="34" charset="0"/>
                <a:ea typeface="Calibri" pitchFamily="34" charset="-122"/>
                <a:cs typeface="Calibri" pitchFamily="34" charset="-120"/>
              </a:rPr>
              <a:t>Supply chain/RCE</a:t>
            </a:r>
            <a:endParaRPr lang="en-US" sz="850" dirty="0"/>
          </a:p>
        </p:txBody>
      </p:sp>
      <p:sp>
        <p:nvSpPr>
          <p:cNvPr id="101" name="Shape 99"/>
          <p:cNvSpPr/>
          <p:nvPr/>
        </p:nvSpPr>
        <p:spPr>
          <a:xfrm>
            <a:off x="5212080" y="4187952"/>
            <a:ext cx="2011680" cy="365760"/>
          </a:xfrm>
          <a:prstGeom prst="rect">
            <a:avLst/>
          </a:prstGeom>
          <a:solidFill>
            <a:srgbClr val="0D1117"/>
          </a:solidFill>
          <a:ln w="12700">
            <a:solidFill>
              <a:srgbClr val="30363D"/>
            </a:solidFill>
            <a:prstDash val="solid"/>
          </a:ln>
        </p:spPr>
      </p:sp>
      <p:sp>
        <p:nvSpPr>
          <p:cNvPr id="102" name="Text 100"/>
          <p:cNvSpPr/>
          <p:nvPr/>
        </p:nvSpPr>
        <p:spPr>
          <a:xfrm>
            <a:off x="5257800" y="4187952"/>
            <a:ext cx="1920240" cy="365760"/>
          </a:xfrm>
          <a:prstGeom prst="rect">
            <a:avLst/>
          </a:prstGeom>
          <a:noFill/>
          <a:ln/>
        </p:spPr>
        <p:txBody>
          <a:bodyPr wrap="square" lIns="0" tIns="0" rIns="0" bIns="0" rtlCol="0" anchor="ctr"/>
          <a:lstStyle/>
          <a:p>
            <a:pPr indent="0" marL="0">
              <a:buNone/>
            </a:pPr>
            <a:r>
              <a:rPr lang="en-US" sz="850" dirty="0">
                <a:solidFill>
                  <a:srgbClr val="E6EDF3"/>
                </a:solidFill>
                <a:latin typeface="Calibri" pitchFamily="34" charset="0"/>
                <a:ea typeface="Calibri" pitchFamily="34" charset="-122"/>
                <a:cs typeface="Calibri" pitchFamily="34" charset="-120"/>
              </a:rPr>
              <a:t>Removed node-serialize</a:t>
            </a:r>
            <a:endParaRPr lang="en-US" sz="850" dirty="0"/>
          </a:p>
        </p:txBody>
      </p:sp>
      <p:sp>
        <p:nvSpPr>
          <p:cNvPr id="103" name="Shape 101"/>
          <p:cNvSpPr/>
          <p:nvPr/>
        </p:nvSpPr>
        <p:spPr>
          <a:xfrm>
            <a:off x="7223760" y="4187952"/>
            <a:ext cx="1920240" cy="365760"/>
          </a:xfrm>
          <a:prstGeom prst="rect">
            <a:avLst/>
          </a:prstGeom>
          <a:solidFill>
            <a:srgbClr val="0D1117"/>
          </a:solidFill>
          <a:ln w="12700">
            <a:solidFill>
              <a:srgbClr val="30363D"/>
            </a:solidFill>
            <a:prstDash val="solid"/>
          </a:ln>
        </p:spPr>
      </p:sp>
      <p:sp>
        <p:nvSpPr>
          <p:cNvPr id="104" name="Text 102"/>
          <p:cNvSpPr/>
          <p:nvPr/>
        </p:nvSpPr>
        <p:spPr>
          <a:xfrm>
            <a:off x="7269480" y="4187952"/>
            <a:ext cx="1828800" cy="365760"/>
          </a:xfrm>
          <a:prstGeom prst="rect">
            <a:avLst/>
          </a:prstGeom>
          <a:noFill/>
          <a:ln/>
        </p:spPr>
        <p:txBody>
          <a:bodyPr wrap="square" lIns="0" tIns="0" rIns="0" bIns="0" rtlCol="0" anchor="ctr"/>
          <a:lstStyle/>
          <a:p>
            <a:pPr indent="0" marL="0">
              <a:buNone/>
            </a:pPr>
            <a:r>
              <a:rPr lang="en-US" sz="850" dirty="0">
                <a:solidFill>
                  <a:srgbClr val="3FB950"/>
                </a:solidFill>
                <a:latin typeface="Calibri" pitchFamily="34" charset="0"/>
                <a:ea typeface="Calibri" pitchFamily="34" charset="-122"/>
                <a:cs typeface="Calibri" pitchFamily="34" charset="-120"/>
              </a:rPr>
              <a:t>No code execution in CloudWatch</a:t>
            </a:r>
            <a:endParaRPr lang="en-US" sz="850" dirty="0"/>
          </a:p>
        </p:txBody>
      </p:sp>
      <p:sp>
        <p:nvSpPr>
          <p:cNvPr id="105" name="Shape 103"/>
          <p:cNvSpPr/>
          <p:nvPr/>
        </p:nvSpPr>
        <p:spPr>
          <a:xfrm>
            <a:off x="91440" y="4553712"/>
            <a:ext cx="1828800" cy="365760"/>
          </a:xfrm>
          <a:prstGeom prst="rect">
            <a:avLst/>
          </a:prstGeom>
          <a:solidFill>
            <a:srgbClr val="161B22"/>
          </a:solidFill>
          <a:ln w="12700">
            <a:solidFill>
              <a:srgbClr val="30363D"/>
            </a:solidFill>
            <a:prstDash val="solid"/>
          </a:ln>
        </p:spPr>
      </p:sp>
      <p:sp>
        <p:nvSpPr>
          <p:cNvPr id="106" name="Text 104"/>
          <p:cNvSpPr/>
          <p:nvPr/>
        </p:nvSpPr>
        <p:spPr>
          <a:xfrm>
            <a:off x="137160" y="4553712"/>
            <a:ext cx="1737360" cy="365760"/>
          </a:xfrm>
          <a:prstGeom prst="rect">
            <a:avLst/>
          </a:prstGeom>
          <a:noFill/>
          <a:ln/>
        </p:spPr>
        <p:txBody>
          <a:bodyPr wrap="square" lIns="0" tIns="0" rIns="0" bIns="0" rtlCol="0" anchor="ctr"/>
          <a:lstStyle/>
          <a:p>
            <a:pPr indent="0" marL="0">
              <a:buNone/>
            </a:pPr>
            <a:r>
              <a:rPr lang="en-US" sz="850" dirty="0">
                <a:solidFill>
                  <a:srgbClr val="E6EDF3"/>
                </a:solidFill>
                <a:latin typeface="Calibri" pitchFamily="34" charset="0"/>
                <a:ea typeface="Calibri" pitchFamily="34" charset="-122"/>
                <a:cs typeface="Calibri" pitchFamily="34" charset="-120"/>
              </a:rPr>
              <a:t>V10 — Unhandled Exc.</a:t>
            </a:r>
            <a:endParaRPr lang="en-US" sz="850" dirty="0"/>
          </a:p>
        </p:txBody>
      </p:sp>
      <p:sp>
        <p:nvSpPr>
          <p:cNvPr id="107" name="Shape 105"/>
          <p:cNvSpPr/>
          <p:nvPr/>
        </p:nvSpPr>
        <p:spPr>
          <a:xfrm>
            <a:off x="1920240" y="4553712"/>
            <a:ext cx="2011680" cy="365760"/>
          </a:xfrm>
          <a:prstGeom prst="rect">
            <a:avLst/>
          </a:prstGeom>
          <a:solidFill>
            <a:srgbClr val="161B22"/>
          </a:solidFill>
          <a:ln w="12700">
            <a:solidFill>
              <a:srgbClr val="30363D"/>
            </a:solidFill>
            <a:prstDash val="solid"/>
          </a:ln>
        </p:spPr>
      </p:sp>
      <p:sp>
        <p:nvSpPr>
          <p:cNvPr id="108" name="Text 106"/>
          <p:cNvSpPr/>
          <p:nvPr/>
        </p:nvSpPr>
        <p:spPr>
          <a:xfrm>
            <a:off x="1965960" y="4553712"/>
            <a:ext cx="1920240" cy="365760"/>
          </a:xfrm>
          <a:prstGeom prst="rect">
            <a:avLst/>
          </a:prstGeom>
          <a:noFill/>
          <a:ln/>
        </p:spPr>
        <p:txBody>
          <a:bodyPr wrap="square" lIns="0" tIns="0" rIns="0" bIns="0" rtlCol="0" anchor="ctr"/>
          <a:lstStyle/>
          <a:p>
            <a:pPr indent="0" marL="0">
              <a:buNone/>
            </a:pPr>
            <a:r>
              <a:rPr lang="en-US" sz="850" dirty="0">
                <a:solidFill>
                  <a:srgbClr val="E6EDF3"/>
                </a:solidFill>
                <a:latin typeface="Calibri" pitchFamily="34" charset="0"/>
                <a:ea typeface="Calibri" pitchFamily="34" charset="-122"/>
                <a:cs typeface="Calibri" pitchFamily="34" charset="-120"/>
              </a:rPr>
              <a:t>Raw stack trace returned to user</a:t>
            </a:r>
            <a:endParaRPr lang="en-US" sz="850" dirty="0"/>
          </a:p>
        </p:txBody>
      </p:sp>
      <p:sp>
        <p:nvSpPr>
          <p:cNvPr id="109" name="Shape 107"/>
          <p:cNvSpPr/>
          <p:nvPr/>
        </p:nvSpPr>
        <p:spPr>
          <a:xfrm>
            <a:off x="3931920" y="4553712"/>
            <a:ext cx="1280160" cy="365760"/>
          </a:xfrm>
          <a:prstGeom prst="rect">
            <a:avLst/>
          </a:prstGeom>
          <a:solidFill>
            <a:srgbClr val="161B22"/>
          </a:solidFill>
          <a:ln w="12700">
            <a:solidFill>
              <a:srgbClr val="30363D"/>
            </a:solidFill>
            <a:prstDash val="solid"/>
          </a:ln>
        </p:spPr>
      </p:sp>
      <p:sp>
        <p:nvSpPr>
          <p:cNvPr id="110" name="Text 108"/>
          <p:cNvSpPr/>
          <p:nvPr/>
        </p:nvSpPr>
        <p:spPr>
          <a:xfrm>
            <a:off x="3977640" y="4553712"/>
            <a:ext cx="1188720" cy="365760"/>
          </a:xfrm>
          <a:prstGeom prst="rect">
            <a:avLst/>
          </a:prstGeom>
          <a:noFill/>
          <a:ln/>
        </p:spPr>
        <p:txBody>
          <a:bodyPr wrap="square" lIns="0" tIns="0" rIns="0" bIns="0" rtlCol="0" anchor="ctr"/>
          <a:lstStyle/>
          <a:p>
            <a:pPr indent="0" marL="0">
              <a:buNone/>
            </a:pPr>
            <a:r>
              <a:rPr lang="en-US" sz="850" dirty="0">
                <a:solidFill>
                  <a:srgbClr val="D29922"/>
                </a:solidFill>
                <a:latin typeface="Calibri" pitchFamily="34" charset="0"/>
                <a:ea typeface="Calibri" pitchFamily="34" charset="-122"/>
                <a:cs typeface="Calibri" pitchFamily="34" charset="-120"/>
              </a:rPr>
              <a:t>Info Disclosure</a:t>
            </a:r>
            <a:endParaRPr lang="en-US" sz="850" dirty="0"/>
          </a:p>
        </p:txBody>
      </p:sp>
      <p:sp>
        <p:nvSpPr>
          <p:cNvPr id="111" name="Shape 109"/>
          <p:cNvSpPr/>
          <p:nvPr/>
        </p:nvSpPr>
        <p:spPr>
          <a:xfrm>
            <a:off x="5212080" y="4553712"/>
            <a:ext cx="2011680" cy="365760"/>
          </a:xfrm>
          <a:prstGeom prst="rect">
            <a:avLst/>
          </a:prstGeom>
          <a:solidFill>
            <a:srgbClr val="161B22"/>
          </a:solidFill>
          <a:ln w="12700">
            <a:solidFill>
              <a:srgbClr val="30363D"/>
            </a:solidFill>
            <a:prstDash val="solid"/>
          </a:ln>
        </p:spPr>
      </p:sp>
      <p:sp>
        <p:nvSpPr>
          <p:cNvPr id="112" name="Text 110"/>
          <p:cNvSpPr/>
          <p:nvPr/>
        </p:nvSpPr>
        <p:spPr>
          <a:xfrm>
            <a:off x="5257800" y="4553712"/>
            <a:ext cx="1920240" cy="365760"/>
          </a:xfrm>
          <a:prstGeom prst="rect">
            <a:avLst/>
          </a:prstGeom>
          <a:noFill/>
          <a:ln/>
        </p:spPr>
        <p:txBody>
          <a:bodyPr wrap="square" lIns="0" tIns="0" rIns="0" bIns="0" rtlCol="0" anchor="ctr"/>
          <a:lstStyle/>
          <a:p>
            <a:pPr indent="0" marL="0">
              <a:buNone/>
            </a:pPr>
            <a:r>
              <a:rPr lang="en-US" sz="850" dirty="0">
                <a:solidFill>
                  <a:srgbClr val="E6EDF3"/>
                </a:solidFill>
                <a:latin typeface="Calibri" pitchFamily="34" charset="0"/>
                <a:ea typeface="Calibri" pitchFamily="34" charset="-122"/>
                <a:cs typeface="Calibri" pitchFamily="34" charset="-120"/>
              </a:rPr>
              <a:t>try/except + event.get()</a:t>
            </a:r>
            <a:endParaRPr lang="en-US" sz="850" dirty="0"/>
          </a:p>
        </p:txBody>
      </p:sp>
      <p:sp>
        <p:nvSpPr>
          <p:cNvPr id="113" name="Shape 111"/>
          <p:cNvSpPr/>
          <p:nvPr/>
        </p:nvSpPr>
        <p:spPr>
          <a:xfrm>
            <a:off x="7223760" y="4553712"/>
            <a:ext cx="1920240" cy="365760"/>
          </a:xfrm>
          <a:prstGeom prst="rect">
            <a:avLst/>
          </a:prstGeom>
          <a:solidFill>
            <a:srgbClr val="161B22"/>
          </a:solidFill>
          <a:ln w="12700">
            <a:solidFill>
              <a:srgbClr val="30363D"/>
            </a:solidFill>
            <a:prstDash val="solid"/>
          </a:ln>
        </p:spPr>
      </p:sp>
      <p:sp>
        <p:nvSpPr>
          <p:cNvPr id="114" name="Text 112"/>
          <p:cNvSpPr/>
          <p:nvPr/>
        </p:nvSpPr>
        <p:spPr>
          <a:xfrm>
            <a:off x="7269480" y="4553712"/>
            <a:ext cx="1828800" cy="365760"/>
          </a:xfrm>
          <a:prstGeom prst="rect">
            <a:avLst/>
          </a:prstGeom>
          <a:noFill/>
          <a:ln/>
        </p:spPr>
        <p:txBody>
          <a:bodyPr wrap="square" lIns="0" tIns="0" rIns="0" bIns="0" rtlCol="0" anchor="ctr"/>
          <a:lstStyle/>
          <a:p>
            <a:pPr indent="0" marL="0">
              <a:buNone/>
            </a:pPr>
            <a:r>
              <a:rPr lang="en-US" sz="850" dirty="0">
                <a:solidFill>
                  <a:srgbClr val="3FB950"/>
                </a:solidFill>
                <a:latin typeface="Calibri" pitchFamily="34" charset="0"/>
                <a:ea typeface="Calibri" pitchFamily="34" charset="-122"/>
                <a:cs typeface="Calibri" pitchFamily="34" charset="-120"/>
              </a:rPr>
              <a:t>Safe error message only</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78166"/>
          </a:solidFill>
          <a:ln w="12700">
            <a:solidFill>
              <a:srgbClr val="F78166"/>
            </a:solidFill>
            <a:prstDash val="solid"/>
          </a:ln>
        </p:spPr>
      </p:sp>
      <p:sp>
        <p:nvSpPr>
          <p:cNvPr id="3" name="Text 1"/>
          <p:cNvSpPr/>
          <p:nvPr/>
        </p:nvSpPr>
        <p:spPr>
          <a:xfrm>
            <a:off x="457200" y="137160"/>
            <a:ext cx="8229600" cy="502920"/>
          </a:xfrm>
          <a:prstGeom prst="rect">
            <a:avLst/>
          </a:prstGeom>
          <a:noFill/>
          <a:ln/>
        </p:spPr>
        <p:txBody>
          <a:bodyPr wrap="square" lIns="0" tIns="0" rIns="0" bIns="0" rtlCol="0" anchor="ctr"/>
          <a:lstStyle/>
          <a:p>
            <a:pPr indent="0" marL="0">
              <a:buNone/>
            </a:pPr>
            <a:r>
              <a:rPr lang="en-US" sz="2600" b="1" dirty="0">
                <a:solidFill>
                  <a:srgbClr val="E6EDF3"/>
                </a:solidFill>
                <a:latin typeface="Calibri" pitchFamily="34" charset="0"/>
                <a:ea typeface="Calibri" pitchFamily="34" charset="-122"/>
                <a:cs typeface="Calibri" pitchFamily="34" charset="-120"/>
              </a:rPr>
              <a:t>Key Security Takeaways</a:t>
            </a:r>
            <a:endParaRPr lang="en-US" sz="2600" dirty="0"/>
          </a:p>
        </p:txBody>
      </p:sp>
      <p:sp>
        <p:nvSpPr>
          <p:cNvPr id="4" name="Shape 2"/>
          <p:cNvSpPr/>
          <p:nvPr/>
        </p:nvSpPr>
        <p:spPr>
          <a:xfrm>
            <a:off x="365760" y="804672"/>
            <a:ext cx="4114800" cy="1234440"/>
          </a:xfrm>
          <a:prstGeom prst="rect">
            <a:avLst/>
          </a:prstGeom>
          <a:solidFill>
            <a:srgbClr val="161B22"/>
          </a:solidFill>
          <a:ln w="12700">
            <a:solidFill>
              <a:srgbClr val="F78166"/>
            </a:solidFill>
            <a:prstDash val="solid"/>
          </a:ln>
        </p:spPr>
      </p:sp>
      <p:sp>
        <p:nvSpPr>
          <p:cNvPr id="5" name="Shape 3"/>
          <p:cNvSpPr/>
          <p:nvPr/>
        </p:nvSpPr>
        <p:spPr>
          <a:xfrm>
            <a:off x="475488" y="914400"/>
            <a:ext cx="384048" cy="384048"/>
          </a:xfrm>
          <a:prstGeom prst="rect">
            <a:avLst/>
          </a:prstGeom>
          <a:solidFill>
            <a:srgbClr val="F78166"/>
          </a:solidFill>
          <a:ln w="12700">
            <a:solidFill>
              <a:srgbClr val="F78166"/>
            </a:solidFill>
            <a:prstDash val="solid"/>
          </a:ln>
        </p:spPr>
      </p:sp>
      <p:sp>
        <p:nvSpPr>
          <p:cNvPr id="6" name="Text 4"/>
          <p:cNvSpPr/>
          <p:nvPr/>
        </p:nvSpPr>
        <p:spPr>
          <a:xfrm>
            <a:off x="475488" y="9144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7" name="Text 5"/>
          <p:cNvSpPr/>
          <p:nvPr/>
        </p:nvSpPr>
        <p:spPr>
          <a:xfrm>
            <a:off x="950976" y="914400"/>
            <a:ext cx="3401568" cy="384048"/>
          </a:xfrm>
          <a:prstGeom prst="rect">
            <a:avLst/>
          </a:prstGeom>
          <a:noFill/>
          <a:ln/>
        </p:spPr>
        <p:txBody>
          <a:bodyPr wrap="square" lIns="0" tIns="0" rIns="0" bIns="0" rtlCol="0" anchor="ctr"/>
          <a:lstStyle/>
          <a:p>
            <a:pPr indent="0" marL="0">
              <a:buNone/>
            </a:pPr>
            <a:r>
              <a:rPr lang="en-US" sz="1300" b="1" dirty="0">
                <a:solidFill>
                  <a:srgbClr val="F78166"/>
                </a:solidFill>
                <a:latin typeface="Calibri" pitchFamily="34" charset="0"/>
                <a:ea typeface="Calibri" pitchFamily="34" charset="-122"/>
                <a:cs typeface="Calibri" pitchFamily="34" charset="-120"/>
              </a:rPr>
              <a:t>Never Trust Unverified Input</a:t>
            </a:r>
            <a:endParaRPr lang="en-US" sz="1300" dirty="0"/>
          </a:p>
        </p:txBody>
      </p:sp>
      <p:sp>
        <p:nvSpPr>
          <p:cNvPr id="8" name="Text 6"/>
          <p:cNvSpPr/>
          <p:nvPr/>
        </p:nvSpPr>
        <p:spPr>
          <a:xfrm>
            <a:off x="475488" y="1371600"/>
            <a:ext cx="3877056" cy="594360"/>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Deserializing untrusted input can turn a simple API call into remote code execution. Always parse with JSON.parse and validate with allowlists.</a:t>
            </a:r>
            <a:endParaRPr lang="en-US" sz="1100" dirty="0"/>
          </a:p>
        </p:txBody>
      </p:sp>
      <p:sp>
        <p:nvSpPr>
          <p:cNvPr id="9" name="Shape 7"/>
          <p:cNvSpPr/>
          <p:nvPr/>
        </p:nvSpPr>
        <p:spPr>
          <a:xfrm>
            <a:off x="4846320" y="804672"/>
            <a:ext cx="4114800" cy="1234440"/>
          </a:xfrm>
          <a:prstGeom prst="rect">
            <a:avLst/>
          </a:prstGeom>
          <a:solidFill>
            <a:srgbClr val="161B22"/>
          </a:solidFill>
          <a:ln w="12700">
            <a:solidFill>
              <a:srgbClr val="F78166"/>
            </a:solidFill>
            <a:prstDash val="solid"/>
          </a:ln>
        </p:spPr>
      </p:sp>
      <p:sp>
        <p:nvSpPr>
          <p:cNvPr id="10" name="Shape 8"/>
          <p:cNvSpPr/>
          <p:nvPr/>
        </p:nvSpPr>
        <p:spPr>
          <a:xfrm>
            <a:off x="4956048" y="914400"/>
            <a:ext cx="384048" cy="384048"/>
          </a:xfrm>
          <a:prstGeom prst="rect">
            <a:avLst/>
          </a:prstGeom>
          <a:solidFill>
            <a:srgbClr val="F78166"/>
          </a:solidFill>
          <a:ln w="12700">
            <a:solidFill>
              <a:srgbClr val="F78166"/>
            </a:solidFill>
            <a:prstDash val="solid"/>
          </a:ln>
        </p:spPr>
      </p:sp>
      <p:sp>
        <p:nvSpPr>
          <p:cNvPr id="11" name="Text 9"/>
          <p:cNvSpPr/>
          <p:nvPr/>
        </p:nvSpPr>
        <p:spPr>
          <a:xfrm>
            <a:off x="4956048" y="9144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2" name="Text 10"/>
          <p:cNvSpPr/>
          <p:nvPr/>
        </p:nvSpPr>
        <p:spPr>
          <a:xfrm>
            <a:off x="5431536" y="914400"/>
            <a:ext cx="3401568" cy="384048"/>
          </a:xfrm>
          <a:prstGeom prst="rect">
            <a:avLst/>
          </a:prstGeom>
          <a:noFill/>
          <a:ln/>
        </p:spPr>
        <p:txBody>
          <a:bodyPr wrap="square" lIns="0" tIns="0" rIns="0" bIns="0" rtlCol="0" anchor="ctr"/>
          <a:lstStyle/>
          <a:p>
            <a:pPr indent="0" marL="0">
              <a:buNone/>
            </a:pPr>
            <a:r>
              <a:rPr lang="en-US" sz="1300" b="1" dirty="0">
                <a:solidFill>
                  <a:srgbClr val="F78166"/>
                </a:solidFill>
                <a:latin typeface="Calibri" pitchFamily="34" charset="0"/>
                <a:ea typeface="Calibri" pitchFamily="34" charset="-122"/>
                <a:cs typeface="Calibri" pitchFamily="34" charset="-120"/>
              </a:rPr>
              <a:t>JWT Decoding ≠ JWT Verification</a:t>
            </a:r>
            <a:endParaRPr lang="en-US" sz="1300" dirty="0"/>
          </a:p>
        </p:txBody>
      </p:sp>
      <p:sp>
        <p:nvSpPr>
          <p:cNvPr id="13" name="Text 11"/>
          <p:cNvSpPr/>
          <p:nvPr/>
        </p:nvSpPr>
        <p:spPr>
          <a:xfrm>
            <a:off x="4956048" y="1371600"/>
            <a:ext cx="3877056" cy="594360"/>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Decoding a token reads its claims. Verifying checks the cryptographic signature. Only verified tokens should determine user identity.</a:t>
            </a:r>
            <a:endParaRPr lang="en-US" sz="1100" dirty="0"/>
          </a:p>
        </p:txBody>
      </p:sp>
      <p:sp>
        <p:nvSpPr>
          <p:cNvPr id="14" name="Shape 12"/>
          <p:cNvSpPr/>
          <p:nvPr/>
        </p:nvSpPr>
        <p:spPr>
          <a:xfrm>
            <a:off x="365760" y="2194560"/>
            <a:ext cx="4114800" cy="1234440"/>
          </a:xfrm>
          <a:prstGeom prst="rect">
            <a:avLst/>
          </a:prstGeom>
          <a:solidFill>
            <a:srgbClr val="161B22"/>
          </a:solidFill>
          <a:ln w="12700">
            <a:solidFill>
              <a:srgbClr val="D29922"/>
            </a:solidFill>
            <a:prstDash val="solid"/>
          </a:ln>
        </p:spPr>
      </p:sp>
      <p:sp>
        <p:nvSpPr>
          <p:cNvPr id="15" name="Shape 13"/>
          <p:cNvSpPr/>
          <p:nvPr/>
        </p:nvSpPr>
        <p:spPr>
          <a:xfrm>
            <a:off x="475488" y="2304288"/>
            <a:ext cx="384048" cy="384048"/>
          </a:xfrm>
          <a:prstGeom prst="rect">
            <a:avLst/>
          </a:prstGeom>
          <a:solidFill>
            <a:srgbClr val="D29922"/>
          </a:solidFill>
          <a:ln w="12700">
            <a:solidFill>
              <a:srgbClr val="D29922"/>
            </a:solidFill>
            <a:prstDash val="solid"/>
          </a:ln>
        </p:spPr>
      </p:sp>
      <p:sp>
        <p:nvSpPr>
          <p:cNvPr id="16" name="Text 14"/>
          <p:cNvSpPr/>
          <p:nvPr/>
        </p:nvSpPr>
        <p:spPr>
          <a:xfrm>
            <a:off x="475488" y="23042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7" name="Text 15"/>
          <p:cNvSpPr/>
          <p:nvPr/>
        </p:nvSpPr>
        <p:spPr>
          <a:xfrm>
            <a:off x="950976" y="2304288"/>
            <a:ext cx="3401568" cy="384048"/>
          </a:xfrm>
          <a:prstGeom prst="rect">
            <a:avLst/>
          </a:prstGeom>
          <a:noFill/>
          <a:ln/>
        </p:spPr>
        <p:txBody>
          <a:bodyPr wrap="square" lIns="0" tIns="0" rIns="0" bIns="0" rtlCol="0" anchor="ctr"/>
          <a:lstStyle/>
          <a:p>
            <a:pPr indent="0" marL="0">
              <a:buNone/>
            </a:pPr>
            <a:r>
              <a:rPr lang="en-US" sz="1300" b="1" dirty="0">
                <a:solidFill>
                  <a:srgbClr val="D29922"/>
                </a:solidFill>
                <a:latin typeface="Calibri" pitchFamily="34" charset="0"/>
                <a:ea typeface="Calibri" pitchFamily="34" charset="-122"/>
                <a:cs typeface="Calibri" pitchFamily="34" charset="-120"/>
              </a:rPr>
              <a:t>Least Privilege for IAM Roles</a:t>
            </a:r>
            <a:endParaRPr lang="en-US" sz="1300" dirty="0"/>
          </a:p>
        </p:txBody>
      </p:sp>
      <p:sp>
        <p:nvSpPr>
          <p:cNvPr id="18" name="Text 16"/>
          <p:cNvSpPr/>
          <p:nvPr/>
        </p:nvSpPr>
        <p:spPr>
          <a:xfrm>
            <a:off x="475488" y="2761488"/>
            <a:ext cx="3877056" cy="594360"/>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Wildcard permissions (Action:* Resource:*) turn every Lambda vulnerability into full AWS account compromise. Scope roles to exact ARNs needed.</a:t>
            </a:r>
            <a:endParaRPr lang="en-US" sz="1100" dirty="0"/>
          </a:p>
        </p:txBody>
      </p:sp>
      <p:sp>
        <p:nvSpPr>
          <p:cNvPr id="19" name="Shape 17"/>
          <p:cNvSpPr/>
          <p:nvPr/>
        </p:nvSpPr>
        <p:spPr>
          <a:xfrm>
            <a:off x="4846320" y="2194560"/>
            <a:ext cx="4114800" cy="1234440"/>
          </a:xfrm>
          <a:prstGeom prst="rect">
            <a:avLst/>
          </a:prstGeom>
          <a:solidFill>
            <a:srgbClr val="161B22"/>
          </a:solidFill>
          <a:ln w="12700">
            <a:solidFill>
              <a:srgbClr val="58A6FF"/>
            </a:solidFill>
            <a:prstDash val="solid"/>
          </a:ln>
        </p:spPr>
      </p:sp>
      <p:sp>
        <p:nvSpPr>
          <p:cNvPr id="20" name="Shape 18"/>
          <p:cNvSpPr/>
          <p:nvPr/>
        </p:nvSpPr>
        <p:spPr>
          <a:xfrm>
            <a:off x="4956048" y="2304288"/>
            <a:ext cx="384048" cy="384048"/>
          </a:xfrm>
          <a:prstGeom prst="rect">
            <a:avLst/>
          </a:prstGeom>
          <a:solidFill>
            <a:srgbClr val="58A6FF"/>
          </a:solidFill>
          <a:ln w="12700">
            <a:solidFill>
              <a:srgbClr val="58A6FF"/>
            </a:solidFill>
            <a:prstDash val="solid"/>
          </a:ln>
        </p:spPr>
      </p:sp>
      <p:sp>
        <p:nvSpPr>
          <p:cNvPr id="21" name="Text 19"/>
          <p:cNvSpPr/>
          <p:nvPr/>
        </p:nvSpPr>
        <p:spPr>
          <a:xfrm>
            <a:off x="4956048" y="23042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2" name="Text 20"/>
          <p:cNvSpPr/>
          <p:nvPr/>
        </p:nvSpPr>
        <p:spPr>
          <a:xfrm>
            <a:off x="5431536" y="2304288"/>
            <a:ext cx="3401568" cy="384048"/>
          </a:xfrm>
          <a:prstGeom prst="rect">
            <a:avLst/>
          </a:prstGeom>
          <a:noFill/>
          <a:ln/>
        </p:spPr>
        <p:txBody>
          <a:bodyPr wrap="square" lIns="0" tIns="0" rIns="0" bIns="0" rtlCol="0" anchor="ctr"/>
          <a:lstStyle/>
          <a:p>
            <a:pPr indent="0" marL="0">
              <a:buNone/>
            </a:pPr>
            <a:r>
              <a:rPr lang="en-US" sz="1300" b="1" dirty="0">
                <a:solidFill>
                  <a:srgbClr val="58A6FF"/>
                </a:solidFill>
                <a:latin typeface="Calibri" pitchFamily="34" charset="0"/>
                <a:ea typeface="Calibri" pitchFamily="34" charset="-122"/>
                <a:cs typeface="Calibri" pitchFamily="34" charset="-120"/>
              </a:rPr>
              <a:t>Business Logic Must Live in Backend</a:t>
            </a:r>
            <a:endParaRPr lang="en-US" sz="1300" dirty="0"/>
          </a:p>
        </p:txBody>
      </p:sp>
      <p:sp>
        <p:nvSpPr>
          <p:cNvPr id="23" name="Text 21"/>
          <p:cNvSpPr/>
          <p:nvPr/>
        </p:nvSpPr>
        <p:spPr>
          <a:xfrm>
            <a:off x="4956048" y="2761488"/>
            <a:ext cx="3877056" cy="594360"/>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Frontend checks are trivially bypassed. Order workflow state transitions must be enforced server-side using conditional database updates.</a:t>
            </a:r>
            <a:endParaRPr lang="en-US" sz="1100" dirty="0"/>
          </a:p>
        </p:txBody>
      </p:sp>
      <p:sp>
        <p:nvSpPr>
          <p:cNvPr id="24" name="Shape 22"/>
          <p:cNvSpPr/>
          <p:nvPr/>
        </p:nvSpPr>
        <p:spPr>
          <a:xfrm>
            <a:off x="365760" y="3584448"/>
            <a:ext cx="4114800" cy="1234440"/>
          </a:xfrm>
          <a:prstGeom prst="rect">
            <a:avLst/>
          </a:prstGeom>
          <a:solidFill>
            <a:srgbClr val="161B22"/>
          </a:solidFill>
          <a:ln w="12700">
            <a:solidFill>
              <a:srgbClr val="9B59B6"/>
            </a:solidFill>
            <a:prstDash val="solid"/>
          </a:ln>
        </p:spPr>
      </p:sp>
      <p:sp>
        <p:nvSpPr>
          <p:cNvPr id="25" name="Shape 23"/>
          <p:cNvSpPr/>
          <p:nvPr/>
        </p:nvSpPr>
        <p:spPr>
          <a:xfrm>
            <a:off x="475488" y="3694176"/>
            <a:ext cx="384048" cy="384048"/>
          </a:xfrm>
          <a:prstGeom prst="rect">
            <a:avLst/>
          </a:prstGeom>
          <a:solidFill>
            <a:srgbClr val="9B59B6"/>
          </a:solidFill>
          <a:ln w="12700">
            <a:solidFill>
              <a:srgbClr val="9B59B6"/>
            </a:solidFill>
            <a:prstDash val="solid"/>
          </a:ln>
        </p:spPr>
      </p:sp>
      <p:sp>
        <p:nvSpPr>
          <p:cNvPr id="26" name="Text 24"/>
          <p:cNvSpPr/>
          <p:nvPr/>
        </p:nvSpPr>
        <p:spPr>
          <a:xfrm>
            <a:off x="475488" y="3694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27" name="Text 25"/>
          <p:cNvSpPr/>
          <p:nvPr/>
        </p:nvSpPr>
        <p:spPr>
          <a:xfrm>
            <a:off x="950976" y="3694176"/>
            <a:ext cx="3401568" cy="384048"/>
          </a:xfrm>
          <a:prstGeom prst="rect">
            <a:avLst/>
          </a:prstGeom>
          <a:noFill/>
          <a:ln/>
        </p:spPr>
        <p:txBody>
          <a:bodyPr wrap="square" lIns="0" tIns="0" rIns="0" bIns="0" rtlCol="0" anchor="ctr"/>
          <a:lstStyle/>
          <a:p>
            <a:pPr indent="0" marL="0">
              <a:buNone/>
            </a:pPr>
            <a:r>
              <a:rPr lang="en-US" sz="1300" b="1" dirty="0">
                <a:solidFill>
                  <a:srgbClr val="9B59B6"/>
                </a:solidFill>
                <a:latin typeface="Calibri" pitchFamily="34" charset="0"/>
                <a:ea typeface="Calibri" pitchFamily="34" charset="-122"/>
                <a:cs typeface="Calibri" pitchFamily="34" charset="-120"/>
              </a:rPr>
              <a:t>Rate Limiting Protects Availability</a:t>
            </a:r>
            <a:endParaRPr lang="en-US" sz="1300" dirty="0"/>
          </a:p>
        </p:txBody>
      </p:sp>
      <p:sp>
        <p:nvSpPr>
          <p:cNvPr id="28" name="Text 26"/>
          <p:cNvSpPr/>
          <p:nvPr/>
        </p:nvSpPr>
        <p:spPr>
          <a:xfrm>
            <a:off x="475488" y="4151376"/>
            <a:ext cx="3877056" cy="594360"/>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Serverless ≠ unlimited. Without rate limiting, a single attacker can exhaust concurrency and deny service to all users.</a:t>
            </a:r>
            <a:endParaRPr lang="en-US" sz="1100" dirty="0"/>
          </a:p>
        </p:txBody>
      </p:sp>
      <p:sp>
        <p:nvSpPr>
          <p:cNvPr id="29" name="Shape 27"/>
          <p:cNvSpPr/>
          <p:nvPr/>
        </p:nvSpPr>
        <p:spPr>
          <a:xfrm>
            <a:off x="4846320" y="3584448"/>
            <a:ext cx="4114800" cy="1234440"/>
          </a:xfrm>
          <a:prstGeom prst="rect">
            <a:avLst/>
          </a:prstGeom>
          <a:solidFill>
            <a:srgbClr val="161B22"/>
          </a:solidFill>
          <a:ln w="12700">
            <a:solidFill>
              <a:srgbClr val="3FB950"/>
            </a:solidFill>
            <a:prstDash val="solid"/>
          </a:ln>
        </p:spPr>
      </p:sp>
      <p:sp>
        <p:nvSpPr>
          <p:cNvPr id="30" name="Shape 28"/>
          <p:cNvSpPr/>
          <p:nvPr/>
        </p:nvSpPr>
        <p:spPr>
          <a:xfrm>
            <a:off x="4956048" y="3694176"/>
            <a:ext cx="384048" cy="384048"/>
          </a:xfrm>
          <a:prstGeom prst="rect">
            <a:avLst/>
          </a:prstGeom>
          <a:solidFill>
            <a:srgbClr val="3FB950"/>
          </a:solidFill>
          <a:ln w="12700">
            <a:solidFill>
              <a:srgbClr val="3FB950"/>
            </a:solidFill>
            <a:prstDash val="solid"/>
          </a:ln>
        </p:spPr>
      </p:sp>
      <p:sp>
        <p:nvSpPr>
          <p:cNvPr id="31" name="Text 29"/>
          <p:cNvSpPr/>
          <p:nvPr/>
        </p:nvSpPr>
        <p:spPr>
          <a:xfrm>
            <a:off x="4956048" y="3694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32" name="Text 30"/>
          <p:cNvSpPr/>
          <p:nvPr/>
        </p:nvSpPr>
        <p:spPr>
          <a:xfrm>
            <a:off x="5431536" y="3694176"/>
            <a:ext cx="3401568" cy="384048"/>
          </a:xfrm>
          <a:prstGeom prst="rect">
            <a:avLst/>
          </a:prstGeom>
          <a:noFill/>
          <a:ln/>
        </p:spPr>
        <p:txBody>
          <a:bodyPr wrap="square" lIns="0" tIns="0" rIns="0" bIns="0" rtlCol="0" anchor="ctr"/>
          <a:lstStyle/>
          <a:p>
            <a:pPr indent="0" marL="0">
              <a:buNone/>
            </a:pPr>
            <a:r>
              <a:rPr lang="en-US" sz="1300" b="1" dirty="0">
                <a:solidFill>
                  <a:srgbClr val="3FB950"/>
                </a:solidFill>
                <a:latin typeface="Calibri" pitchFamily="34" charset="0"/>
                <a:ea typeface="Calibri" pitchFamily="34" charset="-122"/>
                <a:cs typeface="Calibri" pitchFamily="34" charset="-120"/>
              </a:rPr>
              <a:t>Never Expose Raw Exceptions</a:t>
            </a:r>
            <a:endParaRPr lang="en-US" sz="1300" dirty="0"/>
          </a:p>
        </p:txBody>
      </p:sp>
      <p:sp>
        <p:nvSpPr>
          <p:cNvPr id="33" name="Text 31"/>
          <p:cNvSpPr/>
          <p:nvPr/>
        </p:nvSpPr>
        <p:spPr>
          <a:xfrm>
            <a:off x="4956048" y="4151376"/>
            <a:ext cx="3877056" cy="594360"/>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Stack traces, file paths, and code lines are a roadmap for attackers. Always catch exceptions and return only safe, generic error messages.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78166"/>
          </a:solidFill>
          <a:ln w="12700">
            <a:solidFill>
              <a:srgbClr val="F78166"/>
            </a:solidFill>
            <a:prstDash val="solid"/>
          </a:ln>
        </p:spPr>
      </p:sp>
      <p:sp>
        <p:nvSpPr>
          <p:cNvPr id="3" name="Text 1"/>
          <p:cNvSpPr/>
          <p:nvPr/>
        </p:nvSpPr>
        <p:spPr>
          <a:xfrm>
            <a:off x="914400" y="1188720"/>
            <a:ext cx="7315200" cy="731520"/>
          </a:xfrm>
          <a:prstGeom prst="rect">
            <a:avLst/>
          </a:prstGeom>
          <a:noFill/>
          <a:ln/>
        </p:spPr>
        <p:txBody>
          <a:bodyPr wrap="square" lIns="0" tIns="0" rIns="0" bIns="0" rtlCol="0" anchor="ctr"/>
          <a:lstStyle/>
          <a:p>
            <a:pPr algn="ctr" indent="0" marL="0">
              <a:buNone/>
            </a:pPr>
            <a:r>
              <a:rPr lang="en-US" sz="5200" b="1" dirty="0">
                <a:solidFill>
                  <a:srgbClr val="F78166"/>
                </a:solidFill>
                <a:latin typeface="Calibri" pitchFamily="34" charset="0"/>
                <a:ea typeface="Calibri" pitchFamily="34" charset="-122"/>
                <a:cs typeface="Calibri" pitchFamily="34" charset="-120"/>
              </a:rPr>
              <a:t>ICS-344</a:t>
            </a:r>
            <a:endParaRPr lang="en-US" sz="5200" dirty="0"/>
          </a:p>
        </p:txBody>
      </p:sp>
      <p:sp>
        <p:nvSpPr>
          <p:cNvPr id="4" name="Text 2"/>
          <p:cNvSpPr/>
          <p:nvPr/>
        </p:nvSpPr>
        <p:spPr>
          <a:xfrm>
            <a:off x="914400" y="1920240"/>
            <a:ext cx="7315200" cy="457200"/>
          </a:xfrm>
          <a:prstGeom prst="rect">
            <a:avLst/>
          </a:prstGeom>
          <a:noFill/>
          <a:ln/>
        </p:spPr>
        <p:txBody>
          <a:bodyPr wrap="square" lIns="0" tIns="0" rIns="0" bIns="0" rtlCol="0" anchor="ctr"/>
          <a:lstStyle/>
          <a:p>
            <a:pPr algn="ctr" indent="0" marL="0">
              <a:buNone/>
            </a:pPr>
            <a:r>
              <a:rPr lang="en-US" sz="2000" dirty="0">
                <a:solidFill>
                  <a:srgbClr val="E6EDF3"/>
                </a:solidFill>
                <a:latin typeface="Calibri" pitchFamily="34" charset="0"/>
                <a:ea typeface="Calibri" pitchFamily="34" charset="-122"/>
                <a:cs typeface="Calibri" pitchFamily="34" charset="-120"/>
              </a:rPr>
              <a:t>DVSA Vulnerability Discovery &amp; Remediation</a:t>
            </a:r>
            <a:endParaRPr lang="en-US" sz="2000" dirty="0"/>
          </a:p>
        </p:txBody>
      </p:sp>
      <p:sp>
        <p:nvSpPr>
          <p:cNvPr id="5" name="Shape 3"/>
          <p:cNvSpPr/>
          <p:nvPr/>
        </p:nvSpPr>
        <p:spPr>
          <a:xfrm>
            <a:off x="3200400" y="2542032"/>
            <a:ext cx="2743200" cy="36576"/>
          </a:xfrm>
          <a:prstGeom prst="rect">
            <a:avLst/>
          </a:prstGeom>
          <a:solidFill>
            <a:srgbClr val="58A6FF"/>
          </a:solidFill>
          <a:ln w="12700">
            <a:solidFill>
              <a:srgbClr val="58A6FF"/>
            </a:solidFill>
            <a:prstDash val="solid"/>
          </a:ln>
        </p:spPr>
      </p:sp>
      <p:sp>
        <p:nvSpPr>
          <p:cNvPr id="6" name="Text 4"/>
          <p:cNvSpPr/>
          <p:nvPr/>
        </p:nvSpPr>
        <p:spPr>
          <a:xfrm>
            <a:off x="914400" y="2697480"/>
            <a:ext cx="7315200" cy="365760"/>
          </a:xfrm>
          <a:prstGeom prst="rect">
            <a:avLst/>
          </a:prstGeom>
          <a:noFill/>
          <a:ln/>
        </p:spPr>
        <p:txBody>
          <a:bodyPr wrap="square" lIns="0" tIns="0" rIns="0" bIns="0" rtlCol="0" anchor="ctr"/>
          <a:lstStyle/>
          <a:p>
            <a:pPr algn="ctr" indent="0" marL="0">
              <a:buNone/>
            </a:pPr>
            <a:r>
              <a:rPr lang="en-US" sz="1300" dirty="0">
                <a:solidFill>
                  <a:srgbClr val="8B949E"/>
                </a:solidFill>
                <a:latin typeface="Calibri" pitchFamily="34" charset="0"/>
                <a:ea typeface="Calibri" pitchFamily="34" charset="-122"/>
                <a:cs typeface="Calibri" pitchFamily="34" charset="-120"/>
              </a:rPr>
              <a:t>10 Vulnerabilities  ·  Fully Exploited  ·  Fixed  ·  Verified</a:t>
            </a:r>
            <a:endParaRPr lang="en-US" sz="1300" dirty="0"/>
          </a:p>
        </p:txBody>
      </p:sp>
      <p:sp>
        <p:nvSpPr>
          <p:cNvPr id="7" name="Text 5"/>
          <p:cNvSpPr/>
          <p:nvPr/>
        </p:nvSpPr>
        <p:spPr>
          <a:xfrm>
            <a:off x="914400" y="3291840"/>
            <a:ext cx="7315200" cy="640080"/>
          </a:xfrm>
          <a:prstGeom prst="rect">
            <a:avLst/>
          </a:prstGeom>
          <a:noFill/>
          <a:ln/>
        </p:spPr>
        <p:txBody>
          <a:bodyPr wrap="square" lIns="0" tIns="0" rIns="0" bIns="0" rtlCol="0" anchor="ctr"/>
          <a:lstStyle/>
          <a:p>
            <a:pPr algn="ctr" indent="0" marL="0">
              <a:buNone/>
            </a:pPr>
            <a:r>
              <a:rPr lang="en-US" sz="3200" b="1" dirty="0">
                <a:solidFill>
                  <a:srgbClr val="58A6FF"/>
                </a:solidFill>
                <a:latin typeface="Calibri" pitchFamily="34" charset="0"/>
                <a:ea typeface="Calibri" pitchFamily="34" charset="-122"/>
                <a:cs typeface="Calibri" pitchFamily="34" charset="-120"/>
              </a:rPr>
              <a:t>Thank You</a:t>
            </a:r>
            <a:endParaRPr lang="en-US" sz="3200" dirty="0"/>
          </a:p>
        </p:txBody>
      </p:sp>
      <p:sp>
        <p:nvSpPr>
          <p:cNvPr id="8" name="Text 6"/>
          <p:cNvSpPr/>
          <p:nvPr/>
        </p:nvSpPr>
        <p:spPr>
          <a:xfrm>
            <a:off x="914400" y="4114800"/>
            <a:ext cx="7315200" cy="320040"/>
          </a:xfrm>
          <a:prstGeom prst="rect">
            <a:avLst/>
          </a:prstGeom>
          <a:noFill/>
          <a:ln/>
        </p:spPr>
        <p:txBody>
          <a:bodyPr wrap="square" lIns="0" tIns="0" rIns="0" bIns="0" rtlCol="0" anchor="ctr"/>
          <a:lstStyle/>
          <a:p>
            <a:pPr algn="ctr" indent="0" marL="0">
              <a:buNone/>
            </a:pPr>
            <a:r>
              <a:rPr lang="en-US" sz="1300" dirty="0">
                <a:solidFill>
                  <a:srgbClr val="8B949E"/>
                </a:solidFill>
                <a:latin typeface="Calibri" pitchFamily="34" charset="0"/>
                <a:ea typeface="Calibri" pitchFamily="34" charset="-122"/>
                <a:cs typeface="Calibri" pitchFamily="34" charset="-120"/>
              </a:rPr>
              <a:t>KFUPM — ICS-344 Term 252</a:t>
            </a:r>
            <a:endParaRPr lang="en-US" sz="1300" dirty="0"/>
          </a:p>
        </p:txBody>
      </p:sp>
      <p:sp>
        <p:nvSpPr>
          <p:cNvPr id="9" name="Shape 7"/>
          <p:cNvSpPr/>
          <p:nvPr/>
        </p:nvSpPr>
        <p:spPr>
          <a:xfrm>
            <a:off x="0" y="5097780"/>
            <a:ext cx="9144000" cy="45720"/>
          </a:xfrm>
          <a:prstGeom prst="rect">
            <a:avLst/>
          </a:prstGeom>
          <a:solidFill>
            <a:srgbClr val="F78166"/>
          </a:solidFill>
          <a:ln w="12700">
            <a:solidFill>
              <a:srgbClr val="F78166"/>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ICS-344 DVSA Vulnerability Discovery and Remediation</dc:title>
  <dc:subject>PptxGenJS Presentation</dc:subject>
  <dc:creator>PptxGenJS</dc:creator>
  <cp:lastModifiedBy>PptxGenJS</cp:lastModifiedBy>
  <cp:revision>1</cp:revision>
  <dcterms:created xsi:type="dcterms:W3CDTF">2026-05-03T20:29:10Z</dcterms:created>
  <dcterms:modified xsi:type="dcterms:W3CDTF">2026-05-03T20:29:10Z</dcterms:modified>
</cp:coreProperties>
</file>